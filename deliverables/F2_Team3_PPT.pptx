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42fec4817840d9" /><Relationship Type="http://schemas.openxmlformats.org/officeDocument/2006/relationships/extended-properties" Target="/docProps/app.xml" Id="Rf7392930187746e5" /><Relationship Type="http://schemas.openxmlformats.org/officeDocument/2006/relationships/officeDocument" Target="/ppt/presentation.xml" Id="R43253e11c6ee400c" /></Relationships>
</file>

<file path=ppt/presentation.xml><?xml version="1.0" encoding="utf-8"?>
<p:presentation xmlns:p="http://schemas.openxmlformats.org/presentationml/2006/main">
  <p:sldMasterIdLst>
    <p:sldMasterId xmlns:r="http://schemas.openxmlformats.org/officeDocument/2006/relationships" id="2147483648" r:id="R09c7a7bcdfc9414d"/>
  </p:sldMasterIdLst>
  <p:notesMasterIdLst>
    <p:notesMasterId xmlns:r="http://schemas.openxmlformats.org/officeDocument/2006/relationships" r:id="R4fdbc587356c4b0b"/>
  </p:notesMasterIdLst>
  <p:sldIdLst>
    <p:sldId xmlns:r="http://schemas.openxmlformats.org/officeDocument/2006/relationships" id="256" r:id="Rfdb9886733ee4393"/>
    <p:sldId xmlns:r="http://schemas.openxmlformats.org/officeDocument/2006/relationships" id="257" r:id="R46395b5e6fa1450a"/>
    <p:sldId xmlns:r="http://schemas.openxmlformats.org/officeDocument/2006/relationships" id="258" r:id="R2b7e646f61bd46c9"/>
    <p:sldId xmlns:r="http://schemas.openxmlformats.org/officeDocument/2006/relationships" id="259" r:id="Rd8a8c783b9bf42ef"/>
    <p:sldId xmlns:r="http://schemas.openxmlformats.org/officeDocument/2006/relationships" id="260" r:id="Rdf84babf94c34507"/>
    <p:sldId xmlns:r="http://schemas.openxmlformats.org/officeDocument/2006/relationships" id="261" r:id="Re820001e6ee44159"/>
    <p:sldId xmlns:r="http://schemas.openxmlformats.org/officeDocument/2006/relationships" id="262" r:id="Rca8fc6b166a14bb3"/>
    <p:sldId xmlns:r="http://schemas.openxmlformats.org/officeDocument/2006/relationships" id="263" r:id="R8d4940dafcdf48b5"/>
    <p:sldId xmlns:r="http://schemas.openxmlformats.org/officeDocument/2006/relationships" id="264" r:id="R0e92499bacba4802"/>
    <p:sldId xmlns:r="http://schemas.openxmlformats.org/officeDocument/2006/relationships" id="265" r:id="R093b79eebbcd417a"/>
    <p:sldId xmlns:r="http://schemas.openxmlformats.org/officeDocument/2006/relationships" id="266" r:id="Rd560849aebb94020"/>
    <p:sldId xmlns:r="http://schemas.openxmlformats.org/officeDocument/2006/relationships" id="267" r:id="R10063a0d847444ae"/>
    <p:sldId xmlns:r="http://schemas.openxmlformats.org/officeDocument/2006/relationships" id="268" r:id="R44914ecc50de4e16"/>
    <p:sldId xmlns:r="http://schemas.openxmlformats.org/officeDocument/2006/relationships" id="269" r:id="Rbf2f83c452fe421e"/>
    <p:sldId xmlns:r="http://schemas.openxmlformats.org/officeDocument/2006/relationships" id="270" r:id="R50ab00cf9fd84c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61655af5904da0" /><Relationship Type="http://schemas.openxmlformats.org/officeDocument/2006/relationships/slideMaster" Target="/ppt/slideMasters/slideMaster1.xml" Id="R09c7a7bcdfc9414d" /><Relationship Type="http://schemas.openxmlformats.org/officeDocument/2006/relationships/notesMaster" Target="/ppt/notesMasters/notesMaster1.xml" Id="R4fdbc587356c4b0b" /><Relationship Type="http://schemas.openxmlformats.org/officeDocument/2006/relationships/presProps" Target="/ppt/presProps.xml" Id="R09a60251d9974ca1" /><Relationship Type="http://schemas.openxmlformats.org/officeDocument/2006/relationships/tableStyles" Target="/ppt/tableStyles.xml" Id="Rf14cd6e26d03443a" /><Relationship Type="http://schemas.openxmlformats.org/officeDocument/2006/relationships/slide" Target="/ppt/slides/slide1.xml" Id="Rfdb9886733ee4393" /><Relationship Type="http://schemas.openxmlformats.org/officeDocument/2006/relationships/slide" Target="/ppt/slides/slide2.xml" Id="R46395b5e6fa1450a" /><Relationship Type="http://schemas.openxmlformats.org/officeDocument/2006/relationships/slide" Target="/ppt/slides/slide3.xml" Id="R2b7e646f61bd46c9" /><Relationship Type="http://schemas.openxmlformats.org/officeDocument/2006/relationships/slide" Target="/ppt/slides/slide4.xml" Id="Rd8a8c783b9bf42ef" /><Relationship Type="http://schemas.openxmlformats.org/officeDocument/2006/relationships/slide" Target="/ppt/slides/slide5.xml" Id="Rdf84babf94c34507" /><Relationship Type="http://schemas.openxmlformats.org/officeDocument/2006/relationships/slide" Target="/ppt/slides/slide6.xml" Id="Re820001e6ee44159" /><Relationship Type="http://schemas.openxmlformats.org/officeDocument/2006/relationships/slide" Target="/ppt/slides/slide7.xml" Id="Rca8fc6b166a14bb3" /><Relationship Type="http://schemas.openxmlformats.org/officeDocument/2006/relationships/slide" Target="/ppt/slides/slide8.xml" Id="R8d4940dafcdf48b5" /><Relationship Type="http://schemas.openxmlformats.org/officeDocument/2006/relationships/slide" Target="/ppt/slides/slide9.xml" Id="R0e92499bacba4802" /><Relationship Type="http://schemas.openxmlformats.org/officeDocument/2006/relationships/slide" Target="/ppt/slides/slide10.xml" Id="R093b79eebbcd417a" /><Relationship Type="http://schemas.openxmlformats.org/officeDocument/2006/relationships/slide" Target="/ppt/slides/slide11.xml" Id="Rd560849aebb94020" /><Relationship Type="http://schemas.openxmlformats.org/officeDocument/2006/relationships/slide" Target="/ppt/slides/slide12.xml" Id="R10063a0d847444ae" /><Relationship Type="http://schemas.openxmlformats.org/officeDocument/2006/relationships/slide" Target="/ppt/slides/slide13.xml" Id="R44914ecc50de4e16" /><Relationship Type="http://schemas.openxmlformats.org/officeDocument/2006/relationships/slide" Target="/ppt/slides/slide14.xml" Id="Rbf2f83c452fe421e" /><Relationship Type="http://schemas.openxmlformats.org/officeDocument/2006/relationships/slide" Target="/ppt/slides/slide15.xml" Id="R50ab00cf9fd84c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0373ffb7ae4a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3ccc1c3955432f" /><Relationship Type="http://schemas.openxmlformats.org/officeDocument/2006/relationships/notesMaster" Target="/ppt/notesMasters/notesMaster1.xml" Id="R54000e2e214248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17aeaedcf84b31" /><Relationship Type="http://schemas.openxmlformats.org/officeDocument/2006/relationships/notesMaster" Target="/ppt/notesMasters/notesMaster1.xml" Id="R5a7ef8c7a59741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28bac7817e4aea" /><Relationship Type="http://schemas.openxmlformats.org/officeDocument/2006/relationships/notesMaster" Target="/ppt/notesMasters/notesMaster1.xml" Id="R897d4e7f96a442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0fdf2dd76049ca" /><Relationship Type="http://schemas.openxmlformats.org/officeDocument/2006/relationships/notesMaster" Target="/ppt/notesMasters/notesMaster1.xml" Id="Re61e8ba1e63b41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cc39740b8c4599" /><Relationship Type="http://schemas.openxmlformats.org/officeDocument/2006/relationships/notesMaster" Target="/ppt/notesMasters/notesMaster1.xml" Id="Rdcdd3af2840b45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1c60225ab243d8" /><Relationship Type="http://schemas.openxmlformats.org/officeDocument/2006/relationships/notesMaster" Target="/ppt/notesMasters/notesMaster1.xml" Id="Rbd3ac4c82bf343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01301f5d834ace" /><Relationship Type="http://schemas.openxmlformats.org/officeDocument/2006/relationships/notesMaster" Target="/ppt/notesMasters/notesMaster1.xml" Id="R1fb28d74e12f4d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6fc220b0564149" /><Relationship Type="http://schemas.openxmlformats.org/officeDocument/2006/relationships/notesMaster" Target="/ppt/notesMasters/notesMaster1.xml" Id="Rcb90e2f075a844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a002e0925e4c8f" /><Relationship Type="http://schemas.openxmlformats.org/officeDocument/2006/relationships/notesMaster" Target="/ppt/notesMasters/notesMaster1.xml" Id="R6c48072aa3b043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445de1383547dc" /><Relationship Type="http://schemas.openxmlformats.org/officeDocument/2006/relationships/notesMaster" Target="/ppt/notesMasters/notesMaster1.xml" Id="R4b5d316531354a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a8bb5a65394975" /><Relationship Type="http://schemas.openxmlformats.org/officeDocument/2006/relationships/notesMaster" Target="/ppt/notesMasters/notesMaster1.xml" Id="R35a2804de30a48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b70df36a2b4177" /><Relationship Type="http://schemas.openxmlformats.org/officeDocument/2006/relationships/notesMaster" Target="/ppt/notesMasters/notesMaster1.xml" Id="R9a368bf8355948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78cd3288d84bd7" /><Relationship Type="http://schemas.openxmlformats.org/officeDocument/2006/relationships/notesMaster" Target="/ppt/notesMasters/notesMaster1.xml" Id="Ra7aec91b3d9847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e8e8aef808432f" /><Relationship Type="http://schemas.openxmlformats.org/officeDocument/2006/relationships/notesMaster" Target="/ppt/notesMasters/notesMaster1.xml" Id="Rceabdc8493f5458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82b45cd2b94d9c" /><Relationship Type="http://schemas.openxmlformats.org/officeDocument/2006/relationships/notesMaster" Target="/ppt/notesMasters/notesMaster1.xml" Id="Recf84dafe28b43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 about 20 seconds</a:t>
            </a:r>
          </a:p>
          <a:p xmlns:a="http://schemas.openxmlformats.org/drawingml/2006/main">
            <a:r>
              <a:t>Our project is an application-level HTTP load balancer built in Python using asyncio. It accepts client requests, chooses a healthy server from the appropriate pool, and forwards the response. We built a browser classroom that lets us demonstrate the real networking behavior.</a:t>
            </a:r>
          </a:p>
          <a:p xmlns:a="http://schemas.openxmlformats.org/drawingml/2006/main">
            <a:r>
              <a:t/>
            </a:r>
          </a:p>
          <a:p xmlns:a="http://schemas.openxmlformats.org/drawingml/2006/main">
            <a:r>
              <a:t>Suggested team handoff: Dhruv can explain slides 1–7; Ayush can explain slides 8–13 and operate the live demo. This is a rehearsal suggestion, not a claim about who implemented each component.</a:t>
            </a:r>
          </a:p>
          <a:p xmlns:a="http://schemas.openxmlformats.org/drawingml/2006/main">
            <a:r>
              <a:t>There are 13 main slides plus two hidden backup slides for questions. Allow about 10 minutes for the main explanation and about five minutes for the demo.</a:t>
            </a:r>
          </a:p>
          <a:p xmlns:a="http://schemas.openxmlformats.org/drawingml/2006/main">
            <a:r>
              <a:t/>
            </a:r>
          </a:p>
          <a:p xmlns:a="http://schemas.openxmlformats.org/drawingml/2006/main">
            <a:r>
              <a:t>Sources and evidence:</a:t>
            </a:r>
          </a:p>
          <a:p xmlns:a="http://schemas.openxmlformats.org/drawingml/2006/main">
            <a:r>
              <a:t>- https://github.com/DhruvD0202/smart-load-balancer/blob/main/README.md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35 seconds</a:t>
            </a:r>
          </a:p>
          <a:p xmlns:a="http://schemas.openxmlformats.org/drawingml/2006/main">
            <a:r>
              <a:t>If every request depends on one server, that server can become a bottleneck or a point of failure. Our objective is to distribute requests across three test backends and make the selection and failure behavior visible.</a:t>
            </a:r>
          </a:p>
          <a:p xmlns:a="http://schemas.openxmlformats.org/drawingml/2006/main">
            <a:r>
              <a:t>We compare algorithms under controlled conditions; we have not measured production throughput or availability. Adding a load balancer also creates another component that could fail. This project runs one balancer and does not implement redundant balancers.</a:t>
            </a:r>
          </a:p>
          <a:p xmlns:a="http://schemas.openxmlformats.org/drawingml/2006/main">
            <a:r>
              <a:t>The word “smart” refers to health-aware and algorithm-based selection. This project does not use machine learning.</a:t>
            </a:r>
          </a:p>
          <a:p xmlns:a="http://schemas.openxmlformats.org/drawingml/2006/main">
            <a:r>
              <a:t/>
            </a:r>
          </a:p>
          <a:p xmlns:a="http://schemas.openxmlformats.org/drawingml/2006/main">
            <a:r>
              <a:t>Sources and evidence:</a:t>
            </a:r>
          </a:p>
          <a:p xmlns:a="http://schemas.openxmlformats.org/drawingml/2006/main">
            <a:r>
              <a:t>- https://github.com/DhruvD0202/smart-load-balancer/blob/main/README.md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50 seconds</a:t>
            </a:r>
          </a:p>
          <a:p xmlns:a="http://schemas.openxmlformats.org/drawingml/2006/main">
            <a:r>
              <a:t>Trace one request from the client to the balancer and then to exactly one backend. The backend response returns through the balancer. The balancer terminates the client TCP connection and opens a separate TCP connection to the chosen backend.</a:t>
            </a:r>
          </a:p>
          <a:p xmlns:a="http://schemas.openxmlformats.org/drawingml/2006/main">
            <a:r>
              <a:t>The core is load_balancer.py. HTTP framing is in http_protocol.py; pool selection and counters are in scheduler.py; health_checks.py runs probes in the background.</a:t>
            </a:r>
          </a:p>
          <a:p xmlns:a="http://schemas.openxmlformats.org/drawingml/2006/main">
            <a:r>
              <a:t>This is Layer 7 because the selection depends on the HTTP path. TCP supplies reliable ordered bytes, but it does not tell us where an HTTP message ends. IP addresses and ports identify endpoints. The local demo uses 127.0.0.1, so it does not need DNS resolution or represent traffic between separate physical machines.</a:t>
            </a:r>
          </a:p>
          <a:p xmlns:a="http://schemas.openxmlformats.org/drawingml/2006/main">
            <a:r>
              <a:t>Health checks use their own HTTP exchanges. The /stats endpoint is served by the balancer itself.</a:t>
            </a:r>
          </a:p>
          <a:p xmlns:a="http://schemas.openxmlformats.org/drawingml/2006/main">
            <a:r>
              <a:t>The browser classroom is a separate controller that starts these same processes and sends actual HTTP requests. It has not replaced the asyncio core.</a:t>
            </a:r>
          </a:p>
          <a:p xmlns:a="http://schemas.openxmlformats.org/drawingml/2006/main">
            <a:r>
              <a:t>The diagram is an explanatory schematic, not a traffic capture.</a:t>
            </a:r>
          </a:p>
          <a:p xmlns:a="http://schemas.openxmlformats.org/drawingml/2006/main">
            <a:r>
              <a:t/>
            </a:r>
          </a:p>
          <a:p xmlns:a="http://schemas.openxmlformats.org/drawingml/2006/main">
            <a:r>
              <a:t>Sources and evidence:</a:t>
            </a:r>
          </a:p>
          <a:p xmlns:a="http://schemas.openxmlformats.org/drawingml/2006/main">
            <a:r>
              <a:t>- https://github.com/DhruvD0202/smart-load-balancer/blob/main/load_balancer.py</a:t>
            </a:r>
          </a:p>
          <a:p xmlns:a="http://schemas.openxmlformats.org/drawingml/2006/main">
            <a:r>
              <a:t>- https://github.com/DhruvD0202/smart-load-balancer/blob/main/health_checks.py</a:t>
            </a:r>
          </a:p>
          <a:p xmlns:a="http://schemas.openxmlformats.org/drawingml/2006/main">
            <a:r>
              <a:t>- https://github.com/DhruvD0202/smart-load-balancer/blob/main/docs/browser-demo.md</a:t>
            </a:r>
          </a:p>
          <a:p xmlns:a="http://schemas.openxmlformats.org/drawingml/2006/main">
            <a:r>
              <a:t>- https://www.rfc-editor.org/rfc/rfc9112.html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50 seconds</a:t>
            </a:r>
          </a:p>
          <a:p xmlns:a="http://schemas.openxmlformats.org/drawingml/2006/main">
            <a:r>
              <a:t>The parser reads until the blank line that ends the headers, then reads the exact declared request body length. For POST, this implementation requires Content-Length. It buffers a bounded request body before choosing the backend.</a:t>
            </a:r>
          </a:p>
          <a:p xmlns:a="http://schemas.openxmlformats.org/drawingml/2006/main">
            <a:r>
              <a:t>Routing first selects the pool. The algorithm then selects a healthy member of that pool and reserves its active slot before awaiting the backend connection.</a:t>
            </a:r>
          </a:p>
          <a:p xmlns:a="http://schemas.openxmlformats.org/drawingml/2006/main">
            <a:r>
              <a:t>The response headers are validated; the declared response body streams back in chunks. The client and backend writers are closed during cleanup, and the reservation is released.</a:t>
            </a:r>
          </a:p>
          <a:p xmlns:a="http://schemas.openxmlformats.org/drawingml/2006/main">
            <a:r>
              <a:t>We limit headers to 16 KiB and request bodies to 1 MiB by default. Timeouts prevent a request from waiting forever. GET, HEAD and POST are supported. This is an intentionally limited HTTP/1.1 implementation.</a:t>
            </a:r>
          </a:p>
          <a:p xmlns:a="http://schemas.openxmlformats.org/drawingml/2006/main">
            <a:r>
              <a:t>If asked why we cannot call read once and assume it is the whole request: TCP is a byte stream. A read can contain only part of a message, so HTTP framing must be handled explicitly.</a:t>
            </a:r>
          </a:p>
          <a:p xmlns:a="http://schemas.openxmlformats.org/drawingml/2006/main">
            <a:r>
              <a:t/>
            </a:r>
          </a:p>
          <a:p xmlns:a="http://schemas.openxmlformats.org/drawingml/2006/main">
            <a:r>
              <a:t>Sources and evidence:</a:t>
            </a:r>
          </a:p>
          <a:p xmlns:a="http://schemas.openxmlformats.org/drawingml/2006/main">
            <a:r>
              <a:t>- https://github.com/DhruvD0202/smart-load-balancer/blob/main/http_protocol.py</a:t>
            </a:r>
          </a:p>
          <a:p xmlns:a="http://schemas.openxmlformats.org/drawingml/2006/main">
            <a:r>
              <a:t>- https://github.com/DhruvD0202/smart-load-balancer/blob/main/load_balancer.py</a:t>
            </a:r>
          </a:p>
          <a:p xmlns:a="http://schemas.openxmlformats.org/drawingml/2006/main">
            <a:r>
              <a:t>- https://github.com/DhruvD0202/smart-load-balancer/blob/main/config.json</a:t>
            </a:r>
          </a:p>
          <a:p xmlns:a="http://schemas.openxmlformats.org/drawingml/2006/main">
            <a:r>
              <a:t>- https://www.rfc-editor.org/rfc/rfc9112.html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60 seconds</a:t>
            </a:r>
          </a:p>
          <a:p xmlns:a="http://schemas.openxmlformats.org/drawingml/2006/main">
            <a:r>
              <a:t>An event loop schedules tasks that can make progress. An async function creates a coroutine. Await lets the current task suspend when the awaited operation is not ready; the loop can then run other ready tasks. Not every await necessarily suspends.</a:t>
            </a:r>
          </a:p>
          <a:p xmlns:a="http://schemas.openxmlformats.org/drawingml/2006/main">
            <a:r>
              <a:t>In the busy-server experiment, one request takes about three seconds on backend 1. While that response is pending, the balancer can forward fast requests to other servers and continue health checks.</a:t>
            </a:r>
          </a:p>
          <a:p xmlns:a="http://schemas.openxmlformats.org/drawingml/2006/main">
            <a:r>
              <a:t>Concurrency means overlapping progress. It does not mean that Python code in this one loop runs on several CPU cores at once. The demo controller and dummy backends use threads; the load balancer core uses asyncio.</a:t>
            </a:r>
          </a:p>
          <a:p xmlns:a="http://schemas.openxmlformats.org/drawingml/2006/main">
            <a:r>
              <a:t>Beginner mistakes: calling a coroutine without awaiting or scheduling it, and using time.sleep inside an asyncio handler. A blocking sleep freezes the loop; asyncio.sleep suspends cooperatively.</a:t>
            </a:r>
          </a:p>
          <a:p xmlns:a="http://schemas.openxmlformats.org/drawingml/2006/main">
            <a:r>
              <a:t>The sequence shown is conceptual; it is not a measured timeline.</a:t>
            </a:r>
          </a:p>
          <a:p xmlns:a="http://schemas.openxmlformats.org/drawingml/2006/main">
            <a:r>
              <a:t/>
            </a:r>
          </a:p>
          <a:p xmlns:a="http://schemas.openxmlformats.org/drawingml/2006/main">
            <a:r>
              <a:t>Sources and evidence:</a:t>
            </a:r>
          </a:p>
          <a:p xmlns:a="http://schemas.openxmlformats.org/drawingml/2006/main">
            <a:r>
              <a:t>- https://github.com/DhruvD0202/smart-load-balancer/blob/main/load_balancer.py</a:t>
            </a:r>
          </a:p>
          <a:p xmlns:a="http://schemas.openxmlformats.org/drawingml/2006/main">
            <a:r>
              <a:t>- https://github.com/DhruvD0202/smart-load-balancer/blob/main/health_checks.py</a:t>
            </a:r>
          </a:p>
          <a:p xmlns:a="http://schemas.openxmlformats.org/drawingml/2006/main">
            <a:r>
              <a:t>- https://github.com/DhruvD0202/smart-load-balancer/blob/main/docs/browser-demo.md</a:t>
            </a:r>
          </a:p>
          <a:p xmlns:a="http://schemas.openxmlformats.org/drawingml/2006/main">
            <a:r>
              <a:t>- https://docs.python.org/3.13/library/asyncio-task.html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65 seconds</a:t>
            </a:r>
          </a:p>
          <a:p xmlns:a="http://schemas.openxmlformats.org/drawingml/2006/main">
            <a:r>
              <a:t>Round-robin advances a cursor for each pool, skipping unhealthy servers.</a:t>
            </a:r>
          </a:p>
          <a:p xmlns:a="http://schemas.openxmlformats.org/drawingml/2006/main">
            <a:r>
              <a:t>Least-connections selects the lowest active assignment count. In this implementation active includes connecting to the backend and forwarding its response. Counts are global per backend, even when that backend belongs to multiple pools. Ties rotate fairly within the selected pool.</a:t>
            </a:r>
          </a:p>
          <a:p xmlns:a="http://schemas.openxmlformats.org/drawingml/2006/main">
            <a:r>
              <a:t>Smooth weighted round-robin adds each eligible backend's configured weight to its score, picks the highest score, then subtracts the total eligible weight from the winner. This distributes selections through a cycle rather than sending one long block to each backend. Scores reset when eligible membership changes.</a:t>
            </a:r>
          </a:p>
          <a:p xmlns:a="http://schemas.openxmlformats.org/drawingml/2006/main">
            <a:r>
              <a:t>Weights do not measure CPU or capacity automatically. We set 3, 2 and 1 for the demonstration, giving 6, 4 and 2 requests in the controlled 12-request run.</a:t>
            </a:r>
          </a:p>
          <a:p xmlns:a="http://schemas.openxmlformats.org/drawingml/2006/main">
            <a:r>
              <a:t>No algorithm is universally best: the useful choice depends on request duration and backend capacity. Health filtering applies to all three.</a:t>
            </a:r>
          </a:p>
          <a:p xmlns:a="http://schemas.openxmlformats.org/drawingml/2006/main">
            <a:r>
              <a:t/>
            </a:r>
          </a:p>
          <a:p xmlns:a="http://schemas.openxmlformats.org/drawingml/2006/main">
            <a:r>
              <a:t>Sources and evidence:</a:t>
            </a:r>
          </a:p>
          <a:p xmlns:a="http://schemas.openxmlformats.org/drawingml/2006/main">
            <a:r>
              <a:t>- https://github.com/DhruvD0202/smart-load-balancer/blob/main/scheduler.py</a:t>
            </a:r>
          </a:p>
          <a:p xmlns:a="http://schemas.openxmlformats.org/drawingml/2006/main">
            <a:r>
              <a:t>- https://github.com/DhruvD0202/smart-load-balancer/blob/main/docs/evidence/week3/demo.txt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45 seconds</a:t>
            </a:r>
          </a:p>
          <a:p xmlns:a="http://schemas.openxmlformats.org/drawingml/2006/main">
            <a:r>
              <a:t>Routing and load balancing are separate decisions. The path first identifies the pool; the algorithm chooses a healthy backend within that pool.</a:t>
            </a:r>
          </a:p>
          <a:p xmlns:a="http://schemas.openxmlformats.org/drawingml/2006/main">
            <a:r>
              <a:t>The longest matching path prefix wins at a segment boundary. /api and /api/items match the API pool. /apiculture does not match /api because the next character is not a slash.</a:t>
            </a:r>
          </a:p>
          <a:p xmlns:a="http://schemas.openxmlformats.org/drawingml/2006/main">
            <a:r>
              <a:t>Query strings do not determine the pool. The HTTP request, including its query, is still forwarded. Paths are literal and case-sensitive; this project does not normalize dot segments or percent escapes.</a:t>
            </a:r>
          </a:p>
          <a:p xmlns:a="http://schemas.openxmlformats.org/drawingml/2006/main">
            <a:r>
              <a:t>We store the topology and options in JSON so changes do not require editing Python source. The command-line algorithm option can override the configured algorithm. Normal configuration changes take effect after restarting the balancer.</a:t>
            </a:r>
          </a:p>
          <a:p xmlns:a="http://schemas.openxmlformats.org/drawingml/2006/main">
            <a:r>
              <a:t>/stats is local and health probes bypass client request selection. Neither changes application request counts or the round-robin cursor.</a:t>
            </a:r>
          </a:p>
          <a:p xmlns:a="http://schemas.openxmlformats.org/drawingml/2006/main">
            <a:r>
              <a:t>The /static fixture returns identifying JSON for demonstration; it is not a real static-file server.</a:t>
            </a:r>
          </a:p>
          <a:p xmlns:a="http://schemas.openxmlformats.org/drawingml/2006/main">
            <a:r>
              <a:t/>
            </a:r>
          </a:p>
          <a:p xmlns:a="http://schemas.openxmlformats.org/drawingml/2006/main">
            <a:r>
              <a:t>Sources and evidence:</a:t>
            </a:r>
          </a:p>
          <a:p xmlns:a="http://schemas.openxmlformats.org/drawingml/2006/main">
            <a:r>
              <a:t>- https://github.com/DhruvD0202/smart-load-balancer/blob/main/config.json</a:t>
            </a:r>
          </a:p>
          <a:p xmlns:a="http://schemas.openxmlformats.org/drawingml/2006/main">
            <a:r>
              <a:t>- https://github.com/DhruvD0202/smart-load-balancer/blob/main/lb_config.py</a:t>
            </a:r>
          </a:p>
          <a:p xmlns:a="http://schemas.openxmlformats.org/drawingml/2006/main">
            <a:r>
              <a:t>- https://github.com/DhruvD0202/smart-load-balancer/blob/main/scheduler.py</a:t>
            </a:r>
          </a:p>
          <a:p xmlns:a="http://schemas.openxmlformats.org/drawingml/2006/main">
            <a:r>
              <a:t>- https://github.com/DhruvD0202/smart-load-balancer/blob/main/docs/evidence/week3/demo.txt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50 seconds, then demonstrate later</a:t>
            </a:r>
          </a:p>
          <a:p xmlns:a="http://schemas.openxmlformats.org/drawingml/2006/main">
            <a:r>
              <a:t>The checker sends GET /health directly to every backend. A probe passes only when the server returns HTTP 200 and a complete bounded Content-Length body within the timeout.</a:t>
            </a:r>
          </a:p>
          <a:p xmlns:a="http://schemas.openxmlformats.org/drawingml/2006/main">
            <a:r>
              <a:t>Two consecutive failures mark a backend unhealthy. Two consecutive successes restore a backend that was unhealthy. At startup, a backend begins unknown and its first successful probe admits it.</a:t>
            </a:r>
          </a:p>
          <a:p xmlns:a="http://schemas.openxmlformats.org/drawingml/2006/main">
            <a:r>
              <a:t>Why do the servers usually look healthy? The dummy backends are running and /health responds successfully. A slow /slow request does not imply the health endpoint is failing.</a:t>
            </a:r>
          </a:p>
          <a:p xmlns:a="http://schemas.openxmlformats.org/drawingml/2006/main">
            <a:r>
              <a:t>The standard config waits two seconds after each probe round, with a one-second timeout. Traffic Lab speeds this up to 0.75 seconds and a 0.5-second timeout; both use thresholds of two. Detection is therefore delayed, not instantaneous.</a:t>
            </a:r>
          </a:p>
          <a:p xmlns:a="http://schemas.openxmlformats.org/drawingml/2006/main">
            <a:r>
              <a:t>To show failure: select round-robin before stopping anything, Stop backend-2, wait for unhealthy, send six /hello requests using manual Send traffic, then Start backend-2 and wait for healthy. Only backends 1 and 3 should answer while 2 is unhealthy.</a:t>
            </a:r>
          </a:p>
          <a:p xmlns:a="http://schemas.openxmlformats.org/drawingml/2006/main">
            <a:r>
              <a:t>Do not click a guided experiment or Start fresh during the stopped-server experiment: both restore all servers. A request before the health threshold is reached can still fail with 502 or 504.</a:t>
            </a:r>
          </a:p>
          <a:p xmlns:a="http://schemas.openxmlformats.org/drawingml/2006/main">
            <a:r>
              <a:t/>
            </a:r>
          </a:p>
          <a:p xmlns:a="http://schemas.openxmlformats.org/drawingml/2006/main">
            <a:r>
              <a:t>Sources and evidence:</a:t>
            </a:r>
          </a:p>
          <a:p xmlns:a="http://schemas.openxmlformats.org/drawingml/2006/main">
            <a:r>
              <a:t>- https://github.com/DhruvD0202/smart-load-balancer/blob/main/health_checks.py</a:t>
            </a:r>
          </a:p>
          <a:p xmlns:a="http://schemas.openxmlformats.org/drawingml/2006/main">
            <a:r>
              <a:t>- https://github.com/DhruvD0202/smart-load-balancer/blob/main/scheduler.py</a:t>
            </a:r>
          </a:p>
          <a:p xmlns:a="http://schemas.openxmlformats.org/drawingml/2006/main">
            <a:r>
              <a:t>- https://github.com/DhruvD0202/smart-load-balancer/blob/main/config.json</a:t>
            </a:r>
          </a:p>
          <a:p xmlns:a="http://schemas.openxmlformats.org/drawingml/2006/main">
            <a:r>
              <a:t>- https://github.com/DhruvD0202/smart-load-balancer/blob/main/docs/browser-demo.md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55 seconds</a:t>
            </a:r>
          </a:p>
          <a:p xmlns:a="http://schemas.openxmlformats.org/drawingml/2006/main">
            <a:r>
              <a:t>Before sending a response to the client, the balancer can return a meaningful error: 502 for an upstream connection or invalid-response failure; 504 for a backend timeout; 503 when the matched pool has no healthy member.</a:t>
            </a:r>
          </a:p>
          <a:p xmlns:a="http://schemas.openxmlformats.org/drawingml/2006/main">
            <a:r>
              <a:t>Once a status line and headers have already gone out, replacing them with another status would corrupt the HTTP stream. The balancer closes the incomplete response and records an incomplete outcome, counted as a failed transfer.</a:t>
            </a:r>
          </a:p>
          <a:p xmlns:a="http://schemas.openxmlformats.org/drawingml/2006/main">
            <a:r>
              <a:t>The /truncate fixture declares 64 bytes, sends 16, and closes. The client may already have read HTTP 200, but Content-Length lets it detect that the transfer did not finish. This demonstrates that the status code alone does not establish completion.</a:t>
            </a:r>
          </a:p>
          <a:p xmlns:a="http://schemas.openxmlformats.org/drawingml/2006/main">
            <a:r>
              <a:t>We do not automatically retry requests. Replaying a POST can repeat an action if the first backend already processed it. There is no guarantee that a failed request will succeed on another backend.</a:t>
            </a:r>
          </a:p>
          <a:p xmlns:a="http://schemas.openxmlformats.org/drawingml/2006/main">
            <a:r>
              <a:t>With all application backends unavailable, /stats remains available because it is served locally by the balancer.</a:t>
            </a:r>
          </a:p>
          <a:p xmlns:a="http://schemas.openxmlformats.org/drawingml/2006/main">
            <a:r>
              <a:t/>
            </a:r>
          </a:p>
          <a:p xmlns:a="http://schemas.openxmlformats.org/drawingml/2006/main">
            <a:r>
              <a:t>Sources and evidence:</a:t>
            </a:r>
          </a:p>
          <a:p xmlns:a="http://schemas.openxmlformats.org/drawingml/2006/main">
            <a:r>
              <a:t>- https://github.com/DhruvD0202/smart-load-balancer/blob/main/load_balancer.py</a:t>
            </a:r>
          </a:p>
          <a:p xmlns:a="http://schemas.openxmlformats.org/drawingml/2006/main">
            <a:r>
              <a:t>- https://github.com/DhruvD0202/smart-load-balancer/blob/main/demo_backend.py</a:t>
            </a:r>
          </a:p>
          <a:p xmlns:a="http://schemas.openxmlformats.org/drawingml/2006/main">
            <a:r>
              <a:t>- https://github.com/DhruvD0202/smart-load-balancer/blob/main/docs/evidence/week3/demo.txt</a:t>
            </a:r>
          </a:p>
          <a:p xmlns:a="http://schemas.openxmlformats.org/drawingml/2006/main">
            <a:r>
              <a:t>- https://www.rfc-editor.org/rfc/rfc9112.html</a:t>
            </a:r>
          </a:p>
          <a:p xmlns:a="http://schemas.openxmlformats.org/drawingml/2006/main">
            <a:r>
              <a:t>- https://www.rfc-editor.org/rfc/rfc9110.html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 allow about five minutes</a:t>
            </a:r>
          </a:p>
          <a:p xmlns:a="http://schemas.openxmlformats.org/drawingml/2006/main">
            <a:r>
              <a:t>Before the review: open a terminal in the project folder, run python demo_app.py, and leave it running. Open http://127.0.0.1:8090. The controller starts its own real balancer and three backend processes on temporary loopback ports. It needs no internet connection. If port 8090 is occupied, use python demo_app.py --port 8091 and open the printed URL.</a:t>
            </a:r>
          </a:p>
          <a:p xmlns:a="http://schemas.openxmlformats.org/drawingml/2006/main">
            <a:r>
              <a:t/>
            </a:r>
          </a:p>
          <a:p xmlns:a="http://schemas.openxmlformats.org/drawingml/2006/main">
            <a:r>
              <a:t>1. Click Take turns. Show PASS and two completed requests per backend.</a:t>
            </a:r>
          </a:p>
          <a:p xmlns:a="http://schemas.openxmlformats.org/drawingml/2006/main">
            <a:r>
              <a:t>2. Click Give capacity a weight. Show PASS and counts 6, 4, 2 for weights 3, 2, 1.</a:t>
            </a:r>
          </a:p>
          <a:p xmlns:a="http://schemas.openxmlformats.org/drawingml/2006/main">
            <a:r>
              <a:t>3. Click Keep a busy server free. Point to backend-1 active=1 during its slow request. Explain why the six fast requests go to backends 2 and 3. A healthy but busy server is still operational.</a:t>
            </a:r>
          </a:p>
          <a:p xmlns:a="http://schemas.openxmlformats.org/drawingml/2006/main">
            <a:r>
              <a:t>4. Choose Round-robin for a fresh run. Send /api/items to show backends 1 and 2; /static/style.css to show backend 3. /apiculture goes to the default pool.</a:t>
            </a:r>
          </a:p>
          <a:p xmlns:a="http://schemas.openxmlformats.org/drawingml/2006/main">
            <a:r>
              <a:t>5. With round-robin already selected, Stop backend-2. Wait for unhealthy. Choose /hello and six requests; click manual Send traffic. Show only 1 and 3 in new responses. Start backend-2, wait for healthy, and send again. Avoid guided experiment buttons, algorithm changes and Start fresh during this step because they reset the run and restore servers.</a:t>
            </a:r>
          </a:p>
          <a:p xmlns:a="http://schemas.openxmlformats.org/drawingml/2006/main">
            <a:r>
              <a:t>6. Send one /truncate request. Show 200 · incomplete, a failure counter, and the JSON log event.</a:t>
            </a:r>
          </a:p>
          <a:p xmlns:a="http://schemas.openxmlformats.org/drawingml/2006/main">
            <a:r>
              <a:t/>
            </a:r>
          </a:p>
          <a:p xmlns:a="http://schemas.openxmlformats.org/drawingml/2006/main">
            <a:r>
              <a:t>If time permits, stop backend-3 and show /static → 503 while /api works. Restore it afterward. Save evidence if you want a record of the live review.</a:t>
            </a:r>
          </a:p>
          <a:p xmlns:a="http://schemas.openxmlformats.org/drawingml/2006/main">
            <a:r>
              <a:t>If the live demo fails, use the saved screenshot and slide 11 results, and describe them as recorded evidence rather than a fresh run. Finish by stopping the app with Ctrl+C in its own terminal.</a:t>
            </a:r>
          </a:p>
          <a:p xmlns:a="http://schemas.openxmlformats.org/drawingml/2006/main">
            <a:r>
              <a:t>The screenshot is authentic project evidence from the saved weighted run.</a:t>
            </a:r>
          </a:p>
          <a:p xmlns:a="http://schemas.openxmlformats.org/drawingml/2006/main">
            <a:r>
              <a:t/>
            </a:r>
          </a:p>
          <a:p xmlns:a="http://schemas.openxmlformats.org/drawingml/2006/main">
            <a:r>
              <a:t>Sources and evidence:</a:t>
            </a:r>
          </a:p>
          <a:p xmlns:a="http://schemas.openxmlformats.org/drawingml/2006/main">
            <a:r>
              <a:t>- https://github.com/DhruvD0202/smart-load-balancer/blob/main/docs/browser-demo.md</a:t>
            </a:r>
          </a:p>
          <a:p xmlns:a="http://schemas.openxmlformats.org/drawingml/2006/main">
            <a:r>
              <a:t>- https://github.com/DhruvD0202/smart-load-balancer/blob/main/docs/evidence/browser-demo/classroom.png</a:t>
            </a:r>
          </a:p>
          <a:p xmlns:a="http://schemas.openxmlformats.org/drawingml/2006/main">
            <a:r>
              <a:t>- https://github.com/DhruvD0202/smart-load-balancer/blob/main/docs/evidence/browser-demo/weighted-snapshot.json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45 seconds</a:t>
            </a:r>
          </a:p>
          <a:p xmlns:a="http://schemas.openxmlformats.org/drawingml/2006/main">
            <a:r>
              <a:t>These are saved functional results, not a new run made during this presentation.</a:t>
            </a:r>
          </a:p>
          <a:p xmlns:a="http://schemas.openxmlformats.org/drawingml/2006/main">
            <a:r>
              <a:t>The round-robin experiment sent six requests and produced two per backend. The weighted experiment sent twelve requests with weights 3, 2 and 1, giving six, four and two. The two series have different total request counts; comparing their heights is not a speed or capacity comparison.</a:t>
            </a:r>
          </a:p>
          <a:p xmlns:a="http://schemas.openxmlformats.org/drawingml/2006/main">
            <a:r>
              <a:t>The recorded complete test suite passed 60 tests in 50.014 seconds. After two final adjustments, the relevant focused tests passed again, and the JavaScript syntax check passed.</a:t>
            </a:r>
          </a:p>
          <a:p xmlns:a="http://schemas.openxmlformats.org/drawingml/2006/main">
            <a:r>
              <a:t>The least-connections workload used one three-second request on backend 1 plus six fast requests; the fast requests went to backends 2 and 3. Additional checks stopped and restarted a backend, detected an incomplete body, isolated an empty static pool, and verified 503 with /stats still available when all backends were down.</a:t>
            </a:r>
          </a:p>
          <a:p xmlns:a="http://schemas.openxmlformats.org/drawingml/2006/main">
            <a:r>
              <a:t>Health probes and /stats reads are excluded from application request counts. Average response duration is measured over completed transfers, including upload and backend waits; it is not backend CPU time.</a:t>
            </a:r>
          </a:p>
          <a:p xmlns:a="http://schemas.openxmlformats.org/drawingml/2006/main">
            <a:r>
              <a:t/>
            </a:r>
          </a:p>
          <a:p xmlns:a="http://schemas.openxmlformats.org/drawingml/2006/main">
            <a:r>
              <a:t>Sources and evidence:</a:t>
            </a:r>
          </a:p>
          <a:p xmlns:a="http://schemas.openxmlformats.org/drawingml/2006/main">
            <a:r>
              <a:t>- https://github.com/DhruvD0202/smart-load-balancer/blob/main/docs/evidence/browser-demo/verification.txt</a:t>
            </a:r>
          </a:p>
          <a:p xmlns:a="http://schemas.openxmlformats.org/drawingml/2006/main">
            <a:r>
              <a:t>- https://github.com/DhruvD0202/smart-load-balancer/blob/main/docs/evidence/browser-demo/weighted-snapshot.json</a:t>
            </a:r>
          </a:p>
          <a:p xmlns:a="http://schemas.openxmlformats.org/drawingml/2006/main">
            <a:r>
              <a:t>- https://github.com/DhruvD0202/smart-load-balancer/blob/main/docs/evidence/week3/demo.txt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 about 45 seconds</a:t>
            </a:r>
          </a:p>
          <a:p xmlns:a="http://schemas.openxmlformats.org/drawingml/2006/main">
            <a:r>
              <a:t>These are concrete engineering concerns addressed by the implementation; do not describe an unobserved bug or incident as personal experience.</a:t>
            </a:r>
          </a:p>
          <a:p xmlns:a="http://schemas.openxmlformats.org/drawingml/2006/main">
            <a:r>
              <a:t>TCP framing requires explicit parsing because reads can split or combine application messages. Strict limits and supported-message rules keep the student implementation understandable.</a:t>
            </a:r>
          </a:p>
          <a:p xmlns:a="http://schemas.openxmlformats.org/drawingml/2006/main">
            <a:r>
              <a:t>Selection and reservation run without await, so another coroutine in the same event loop cannot interleave halfway through that update. The finally block restores counters even if a request fails or is cancelled.</a:t>
            </a:r>
          </a:p>
          <a:p xmlns:a="http://schemas.openxmlformats.org/drawingml/2006/main">
            <a:r>
              <a:t>The accounting invariant is requests = active + completed + failed + cancelled. A completed 4xx or 5xx backend response still counts as a completed transfer and is also tracked as an HTTP error response.</a:t>
            </a:r>
          </a:p>
          <a:p xmlns:a="http://schemas.openxmlformats.org/drawingml/2006/main">
            <a:r>
              <a:t>Thresholds reduce rapid health-state switching after a single failure, at the cost of delayed detection.</a:t>
            </a:r>
          </a:p>
          <a:p xmlns:a="http://schemas.openxmlformats.org/drawingml/2006/main">
            <a:r>
              <a:t>JSON logs record UTC timestamp, client address, method, path, pool, backend, status, outcome and response duration. Status tells us the HTTP code; outcome tells us whether the transfer completed.</a:t>
            </a:r>
          </a:p>
          <a:p xmlns:a="http://schemas.openxmlformats.org/drawingml/2006/main">
            <a:r>
              <a:t/>
            </a:r>
          </a:p>
          <a:p xmlns:a="http://schemas.openxmlformats.org/drawingml/2006/main">
            <a:r>
              <a:t>Sources and evidence:</a:t>
            </a:r>
          </a:p>
          <a:p xmlns:a="http://schemas.openxmlformats.org/drawingml/2006/main">
            <a:r>
              <a:t>- https://github.com/DhruvD0202/smart-load-balancer/blob/main/http_protocol.py</a:t>
            </a:r>
          </a:p>
          <a:p xmlns:a="http://schemas.openxmlformats.org/drawingml/2006/main">
            <a:r>
              <a:t>- https://github.com/DhruvD0202/smart-load-balancer/blob/main/scheduler.py</a:t>
            </a:r>
          </a:p>
          <a:p xmlns:a="http://schemas.openxmlformats.org/drawingml/2006/main">
            <a:r>
              <a:t>- https://github.com/DhruvD0202/smart-load-balancer/blob/main/load_balancer.py</a:t>
            </a:r>
          </a:p>
          <a:p xmlns:a="http://schemas.openxmlformats.org/drawingml/2006/main">
            <a:r>
              <a:t>- https://github.com/DhruvD0202/smart-load-balancer/blob/main/event_log.py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 about 35 seconds</a:t>
            </a:r>
          </a:p>
          <a:p xmlns:a="http://schemas.openxmlformats.org/drawingml/2006/main">
            <a:r>
              <a:t>We connected transport and application-layer concepts to a working program: separate TCP streams, explicit HTTP framing, routing by path, asynchronous I/O and active failure detection.</a:t>
            </a:r>
          </a:p>
          <a:p xmlns:a="http://schemas.openxmlformats.org/drawingml/2006/main">
            <a:r>
              <a:t>The implementation deliberately supports a limited HTTP/1.1 subset: GET, HEAD and POST, Content-Length framing and one request per connection. Chunked transfer, HTTP/2, WebSockets and TLS termination are not implemented.</a:t>
            </a:r>
          </a:p>
          <a:p xmlns:a="http://schemas.openxmlformats.org/drawingml/2006/main">
            <a:r>
              <a:t>Future work can add TLS termination, connection reuse, broader HTTP support and proper throughput and latency benchmarking. There is no automatic retry, global connection cap or redundant balancer.</a:t>
            </a:r>
          </a:p>
          <a:p xmlns:a="http://schemas.openxmlformats.org/drawingml/2006/main">
            <a:r>
              <a:t>All core features can be demonstrated locally. The project is an educational implementation with documented limits, not a production replacement for nginx or a managed load balancer.</a:t>
            </a:r>
          </a:p>
          <a:p xmlns:a="http://schemas.openxmlformats.org/drawingml/2006/main">
            <a:r>
              <a:t>If the reviewer asks for code, use hidden slide 14. For verbal questions use hidden slide 15.</a:t>
            </a:r>
          </a:p>
          <a:p xmlns:a="http://schemas.openxmlformats.org/drawingml/2006/main">
            <a:r>
              <a:t/>
            </a:r>
          </a:p>
          <a:p xmlns:a="http://schemas.openxmlformats.org/drawingml/2006/main">
            <a:r>
              <a:t>Sources and evidence:</a:t>
            </a:r>
          </a:p>
          <a:p xmlns:a="http://schemas.openxmlformats.org/drawingml/2006/main">
            <a:r>
              <a:t>- https://github.com/DhruvD0202/smart-load-balancer/blob/main/README.md</a:t>
            </a:r>
          </a:p>
          <a:p xmlns:a="http://schemas.openxmlformats.org/drawingml/2006/main">
            <a:r>
              <a:t>- https://github.com/DhruvD0202/smart-load-balancer/blob/main/docs/roadmap.md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use only if asked to explain the code</a:t>
            </a:r>
          </a:p>
          <a:p xmlns:a="http://schemas.openxmlformats.org/drawingml/2006/main">
            <a:r>
              <a:t>This excerpt is from load_balancer.py, lines 87–92 in the reviewed source. The surrounding HTTP parsing, error handling and finally block are omitted here.</a:t>
            </a:r>
          </a:p>
          <a:p xmlns:a="http://schemas.openxmlformats.org/drawingml/2006/main">
            <a:r>
              <a:t>select is synchronous. Inside scheduler.py it finds eligible members, chooses one, increments active and assigned, and returns the backend. There is no await in that state mutation.</a:t>
            </a:r>
          </a:p>
          <a:p xmlns:a="http://schemas.openxmlformats.org/drawingml/2006/main">
            <a:r>
              <a:t>asyncio.open_connection returns the backend reader and writer. Await can suspend this handler while the connection is being established. asyncio.timeout bounds the connect phase; it does not create a separate thread.</a:t>
            </a:r>
          </a:p>
          <a:p xmlns:a="http://schemas.openxmlformats.org/drawingml/2006/main">
            <a:r>
              <a:t>Later, writer.write queues bytes and await writer.drain applies backpressure when necessary. The finally block closes streams and releases the reservation.</a:t>
            </a:r>
          </a:p>
          <a:p xmlns:a="http://schemas.openxmlformats.org/drawingml/2006/main">
            <a:r>
              <a:t>To answer “why reserve before await?”: otherwise several pending handlers could all see the same stale active counts before any one of them reserves a slot.</a:t>
            </a:r>
          </a:p>
          <a:p xmlns:a="http://schemas.openxmlformats.org/drawingml/2006/main">
            <a:r>
              <a:t/>
            </a:r>
          </a:p>
          <a:p xmlns:a="http://schemas.openxmlformats.org/drawingml/2006/main">
            <a:r>
              <a:t>Sources and evidence:</a:t>
            </a:r>
          </a:p>
          <a:p xmlns:a="http://schemas.openxmlformats.org/drawingml/2006/main">
            <a:r>
              <a:t>- https://github.com/DhruvD0202/smart-load-balancer/blob/main/load_balancer.py#L87</a:t>
            </a:r>
          </a:p>
          <a:p xmlns:a="http://schemas.openxmlformats.org/drawingml/2006/main">
            <a:r>
              <a:t>- https://github.com/DhruvD0202/smart-load-balancer/blob/main/scheduler.py#L83</a:t>
            </a:r>
          </a:p>
          <a:p xmlns:a="http://schemas.openxmlformats.org/drawingml/2006/main">
            <a:r>
              <a:t>- https://docs.python.org/3.13/library/asyncio-stream.html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practice without reading the slide</a:t>
            </a:r>
          </a:p>
          <a:p xmlns:a="http://schemas.openxmlformats.org/drawingml/2006/main">
            <a:r>
              <a:t>Why not only forward bytes? Path routing, framing validation, request logs and local stats require understanding HTTP.</a:t>
            </a:r>
          </a:p>
          <a:p xmlns:a="http://schemas.openxmlformats.org/drawingml/2006/main">
            <a:r>
              <a:t>Does asyncio mean parallel CPU execution? No. The event loop interleaves tasks as they wait for I/O. Blocking CPU work would delay other tasks.</a:t>
            </a:r>
          </a:p>
          <a:p xmlns:a="http://schemas.openxmlformats.org/drawingml/2006/main">
            <a:r>
              <a:t>Why are weights 3:2:1? They are a chosen relative-share example. They are not discovered from CPU utilization.</a:t>
            </a:r>
          </a:p>
          <a:p xmlns:a="http://schemas.openxmlformats.org/drawingml/2006/main">
            <a:r>
              <a:t>Why can HTTP 200 still fail? Headers can arrive before the backend closes an incomplete body. The transfer outcome must be checked too.</a:t>
            </a:r>
          </a:p>
          <a:p xmlns:a="http://schemas.openxmlformats.org/drawingml/2006/main">
            <a:r>
              <a:t>Why does backend 2 become healthy again during some demos? Guided experiments, Start fresh and algorithm changes restore all backends and start a new run. Use manual Send traffic after stopping a server.</a:t>
            </a:r>
          </a:p>
          <a:p xmlns:a="http://schemas.openxmlformats.org/drawingml/2006/main">
            <a:r>
              <a:t>Why does the static pool fail while the API works? The static pool contains only backend 3, whereas the API pool has backends 1 and 2. There is no fallback across pools.</a:t>
            </a:r>
          </a:p>
          <a:p xmlns:a="http://schemas.openxmlformats.org/drawingml/2006/main">
            <a:r>
              <a:t>What does the test count prove? The recorded automated checks passed for the tested cases. It does not prove full HTTP conformance, security, throughput or production availability.</a:t>
            </a:r>
          </a:p>
          <a:p xmlns:a="http://schemas.openxmlformats.org/drawingml/2006/main">
            <a:r>
              <a:t>How is the UI related to the project? It starts the real backend and balancer processes, sends real HTTP requests, and reads /stats and JSON logs. The on-screen response highlights are not a packet capture.</a:t>
            </a:r>
          </a:p>
          <a:p xmlns:a="http://schemas.openxmlformats.org/drawingml/2006/main">
            <a:r>
              <a:t/>
            </a:r>
          </a:p>
          <a:p xmlns:a="http://schemas.openxmlformats.org/drawingml/2006/main">
            <a:r>
              <a:t>Sources and evidence:</a:t>
            </a:r>
          </a:p>
          <a:p xmlns:a="http://schemas.openxmlformats.org/drawingml/2006/main">
            <a:r>
              <a:t>- https://github.com/DhruvD0202/smart-load-balancer/blob/main/README.md</a:t>
            </a:r>
          </a:p>
          <a:p xmlns:a="http://schemas.openxmlformats.org/drawingml/2006/main">
            <a:r>
              <a:t>- https://github.com/DhruvD0202/smart-load-balancer/blob/main/docs/browser-demo.md</a:t>
            </a:r>
          </a:p>
          <a:p xmlns:a="http://schemas.openxmlformats.org/drawingml/2006/main">
            <a:r>
              <a:t>- https://github.com/DhruvD0202/smart-load-balancer/blob/main/docs/evidence/browser-demo/verification.txt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5d41b7417948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928e25c4ec49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743e65d7a649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e45293233646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41940b152848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48ec6b766d4e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B71594-B94B-4FB1-A114-2884F3A624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3F493D-A9DB-471A-BF23-E652EBF2F2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6197E9-3A7A-4E29-946A-464E7DF322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C8E-1410-4523-9E1A-6934214E0E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6A1C76-F78D-424F-80A8-46B28E542B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276E5B-D774-4A05-9C9C-783943AF30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8C88D9-3A1B-4A5C-8F24-3073FCCD14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FA0280-D3B4-4AA5-8164-F6FA1C621C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E62C2E-E850-4918-976D-1381AE5A0E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233417-50FC-4DBD-8896-87C9C9974A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561e3c5f7c426f" /><Relationship Type="http://schemas.openxmlformats.org/officeDocument/2006/relationships/slideLayout" Target="/ppt/slideLayouts/slideLayout1.xml" Id="R649d468459a84a32" /><Relationship Type="http://schemas.openxmlformats.org/officeDocument/2006/relationships/slideLayout" Target="/ppt/slideLayouts/slideLayout2.xml" Id="R61d76371333b4246" /><Relationship Type="http://schemas.openxmlformats.org/officeDocument/2006/relationships/slideLayout" Target="/ppt/slideLayouts/slideLayout3.xml" Id="Rfeb07bfc4d89478f" /><Relationship Type="http://schemas.openxmlformats.org/officeDocument/2006/relationships/slideLayout" Target="/ppt/slideLayouts/slideLayout4.xml" Id="Reef12a91882e4067" /><Relationship Type="http://schemas.openxmlformats.org/officeDocument/2006/relationships/slideLayout" Target="/ppt/slideLayouts/slideLayout5.xml" Id="R0c500cd5f5454eef" /><Relationship Type="http://schemas.openxmlformats.org/officeDocument/2006/relationships/slideLayout" Target="/ppt/slideLayouts/slideLayout6.xml" Id="R87eab4638c4144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9d468459a84a32"/>
    <p:sldLayoutId xmlns:r="http://schemas.openxmlformats.org/officeDocument/2006/relationships" id="2147483650" r:id="R61d76371333b4246"/>
    <p:sldLayoutId xmlns:r="http://schemas.openxmlformats.org/officeDocument/2006/relationships" id="2147483651" r:id="Rfeb07bfc4d89478f"/>
    <p:sldLayoutId xmlns:r="http://schemas.openxmlformats.org/officeDocument/2006/relationships" id="2147483652" r:id="Reef12a91882e4067"/>
    <p:sldLayoutId xmlns:r="http://schemas.openxmlformats.org/officeDocument/2006/relationships" id="2147483653" r:id="R0c500cd5f5454eef"/>
    <p:sldLayoutId xmlns:r="http://schemas.openxmlformats.org/officeDocument/2006/relationships" id="2147483654" r:id="R87eab4638c4144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a83af8ef4441c2" /><Relationship Type="http://schemas.openxmlformats.org/officeDocument/2006/relationships/notesSlide" Target="/ppt/notesSlides/notesSlide1.xml" Id="R811330b22a434c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ecf6083cd941dc" /><Relationship Type="http://schemas.openxmlformats.org/officeDocument/2006/relationships/notesSlide" Target="/ppt/notesSlides/notesSlide2.xml" Id="R67e579da561742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92925ce437424f" /><Relationship Type="http://schemas.openxmlformats.org/officeDocument/2006/relationships/image" Target="/ppt/media/image.png" Id="R93ada50cde86487a" /><Relationship Type="http://schemas.openxmlformats.org/officeDocument/2006/relationships/notesSlide" Target="/ppt/notesSlides/notesSlide3.xml" Id="R300eef1624bb4d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80a94a40144434" /><Relationship Type="http://schemas.openxmlformats.org/officeDocument/2006/relationships/notesSlide" Target="/ppt/notesSlides/notesSlide4.xml" Id="Ra8799f7ba0e241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44cb320fe84b6e" /><Relationship Type="http://schemas.openxmlformats.org/officeDocument/2006/relationships/notesSlide" Target="/ppt/notesSlides/notesSlide5.xml" Id="Rca0e69008a3045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465bf7ffc642cb" /><Relationship Type="http://schemas.openxmlformats.org/officeDocument/2006/relationships/notesSlide" Target="/ppt/notesSlides/notesSlide6.xml" Id="R8eed2467e15a47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323fbcb8ca489b" /><Relationship Type="http://schemas.openxmlformats.org/officeDocument/2006/relationships/notesSlide" Target="/ppt/notesSlides/notesSlide7.xml" Id="R052de388fbab45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e97acc1216426c" /><Relationship Type="http://schemas.openxmlformats.org/officeDocument/2006/relationships/notesSlide" Target="/ppt/notesSlides/notesSlide8.xml" Id="Rb05a33ec74d34e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488df775c242f9" /><Relationship Type="http://schemas.openxmlformats.org/officeDocument/2006/relationships/notesSlide" Target="/ppt/notesSlides/notesSlide9.xml" Id="R9e637d3911ba4f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3ffa7c2bbe4942" /><Relationship Type="http://schemas.openxmlformats.org/officeDocument/2006/relationships/image" Target="/ppt/media/image.jpeg" Id="R72473716d4ca4885" /><Relationship Type="http://schemas.openxmlformats.org/officeDocument/2006/relationships/notesSlide" Target="/ppt/notesSlides/notesSlide10.xml" Id="Rd1ad1e477ff84f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3bb4eae24f4231" /><Relationship Type="http://schemas.openxmlformats.org/officeDocument/2006/relationships/chart" Target="/ppt/slides/charts/chart1.xml" Id="R4920ece87ec54876" /><Relationship Type="http://schemas.openxmlformats.org/officeDocument/2006/relationships/notesSlide" Target="/ppt/notesSlides/notesSlide11.xml" Id="R0fd9ce2f2c234b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ae542694b584954" /><Relationship Type="http://schemas.openxmlformats.org/officeDocument/2006/relationships/notesSlide" Target="/ppt/notesSlides/notesSlide12.xml" Id="Re2b3fcaa8eb24b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382449dd0364f29" /><Relationship Type="http://schemas.openxmlformats.org/officeDocument/2006/relationships/notesSlide" Target="/ppt/notesSlides/notesSlide13.xml" Id="Rfe89dd01b16d4b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1968376b614f5f" /><Relationship Type="http://schemas.openxmlformats.org/officeDocument/2006/relationships/notesSlide" Target="/ppt/notesSlides/notesSlide14.xml" Id="Rd0fa9ea715ee45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7c8a88f37064901" /><Relationship Type="http://schemas.openxmlformats.org/officeDocument/2006/relationships/notesSlide" Target="/ppt/notesSlides/notesSlide15.xml" Id="R184607d2debe4ee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Round-robin · 6 requests</c:v>
          </c:tx>
          <c:spPr>
            <a:solidFill xmlns:a="http://schemas.openxmlformats.org/drawingml/2006/main">
              <a:srgbClr val="356FAD"/>
            </a:solidFill>
          </c:spPr>
          <c:invertIfNegative val="0"/>
          <c:cat>
            <c:strRef>
              <c:f>'Chart Data'!$A$2:$A$4</c:f>
              <c:strCache>
                <c:ptCount val="3"/>
                <c:pt idx="0">
                  <c:v>Backend 1</c:v>
                </c:pt>
                <c:pt idx="1">
                  <c:v>Backend 2</c:v>
                </c:pt>
                <c:pt idx="2">
                  <c:v>Backend 3</c:v>
                </c:pt>
              </c:strCache>
            </c:strRef>
          </c:cat>
          <c:val>
            <c:numRef>
              <c:f>'Chart Data'!$B$2:$B$4</c:f>
              <c:numCache>
                <c:formatCode>0</c:formatCode>
                <c:ptCount val="3"/>
                <c:pt idx="0">
                  <c:v>2</c:v>
                </c:pt>
                <c:pt idx="1">
                  <c:v>2</c:v>
                </c:pt>
                <c:pt idx="2">
                  <c:v>2</c:v>
                </c:pt>
              </c:numCache>
            </c:numRef>
          </c:val>
        </c:ser>
        <c:ser>
          <c:idx val="1"/>
          <c:order val="1"/>
          <c:tx>
            <c:v>Weighted · 12 requests</c:v>
          </c:tx>
          <c:spPr>
            <a:solidFill xmlns:a="http://schemas.openxmlformats.org/drawingml/2006/main">
              <a:srgbClr val="137B75"/>
            </a:solidFill>
          </c:spPr>
          <c:invertIfNegative val="0"/>
          <c:cat>
            <c:strRef>
              <c:f>'Chart Data'!$C$2:$C$4</c:f>
              <c:strCache>
                <c:ptCount val="3"/>
                <c:pt idx="0">
                  <c:v>Backend 1</c:v>
                </c:pt>
                <c:pt idx="1">
                  <c:v>Backend 2</c:v>
                </c:pt>
                <c:pt idx="2">
                  <c:v>Backend 3</c:v>
                </c:pt>
              </c:strCache>
            </c:strRef>
          </c:cat>
          <c:val>
            <c:numRef>
              <c:f>'Chart Data'!$D$2:$D$4</c:f>
              <c:numCache>
                <c:formatCode>0</c:formatCode>
                <c:ptCount val="3"/>
                <c:pt idx="0">
                  <c:v>6</c:v>
                </c:pt>
                <c:pt idx="1">
                  <c:v>4</c:v>
                </c:pt>
                <c:pt idx="2">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142F4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6"/>
            </a:solidFill>
          </a:ln>
        </c:spPr>
        <c:txPr>
          <a:bodyPr xmlns:a="http://schemas.openxmlformats.org/drawingml/2006/main" anchorCtr="1"/>
          <a:lstStyle xmlns:a="http://schemas.openxmlformats.org/drawingml/2006/main"/>
          <a:p xmlns:a="http://schemas.openxmlformats.org/drawingml/2006/main">
            <a:pPr>
              <a:defRPr sz="1650">
                <a:solidFill>
                  <a:srgbClr val="142F40"/>
                </a:solidFill>
                <a:latin typeface="Arial"/>
                <a:ea typeface="Arial"/>
                <a:cs typeface="Arial"/>
              </a:defRPr>
            </a:pPr>
          </a:p>
        </c:txPr>
        <c:crossAx val="48672768"/>
      </c:catAx>
      <c:valAx>
        <c:axId val="48672768"/>
        <c:scaling>
          <c:orientation val="minMax"/>
          <c:max val="7"/>
          <c:min val="0"/>
        </c:scaling>
        <c:delete val="0"/>
        <c:axPos val="l"/>
        <c:majorGridlines>
          <c:spPr>
            <a:ln xmlns:a="http://schemas.openxmlformats.org/drawingml/2006/main" w="9525">
              <a:solidFill>
                <a:srgbClr val="D7E2E6"/>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46673"/>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42F4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89545EE-F394-4A0E-8164-0E6291FCEE90}"/>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142F40"/>
                </a:solidFill>
                <a:latin typeface="Arial"/>
                <a:ea typeface="Arial"/>
                <a:cs typeface="Arial"/>
              </a:defRPr>
            </a:defPPr>
            <a:lvl1pPr algn="r">
              <a:buNone/>
              <a:defRPr sz="1200" b="0">
                <a:solidFill>
                  <a:srgbClr val="B5CFD7"/>
                </a:solidFill>
                <a:latin typeface="Arial"/>
                <a:ea typeface="Arial"/>
                <a:cs typeface="Arial"/>
              </a:defRPr>
            </a:lvl1pPr>
            <a:lvl2pPr algn="r">
              <a:buNone/>
              <a:defRPr sz="1200" b="0">
                <a:solidFill>
                  <a:srgbClr val="B5CFD7"/>
                </a:solidFill>
                <a:latin typeface="Arial"/>
                <a:ea typeface="Arial"/>
                <a:cs typeface="Arial"/>
              </a:defRPr>
            </a:lvl2pPr>
            <a:lvl3pPr algn="r">
              <a:buNone/>
              <a:defRPr sz="1200" b="0">
                <a:solidFill>
                  <a:srgbClr val="B5CFD7"/>
                </a:solidFill>
                <a:latin typeface="Arial"/>
                <a:ea typeface="Arial"/>
                <a:cs typeface="Arial"/>
              </a:defRPr>
            </a:lvl3pPr>
            <a:lvl4pPr algn="r">
              <a:buNone/>
              <a:defRPr sz="1200" b="0">
                <a:solidFill>
                  <a:srgbClr val="B5CFD7"/>
                </a:solidFill>
                <a:latin typeface="Arial"/>
                <a:ea typeface="Arial"/>
                <a:cs typeface="Arial"/>
              </a:defRPr>
            </a:lvl4pPr>
            <a:lvl5pPr algn="r">
              <a:buNone/>
              <a:defRPr sz="1200" b="0">
                <a:solidFill>
                  <a:srgbClr val="B5CFD7"/>
                </a:solidFill>
                <a:latin typeface="Arial"/>
                <a:ea typeface="Arial"/>
                <a:cs typeface="Arial"/>
              </a:defRPr>
            </a:lvl5pPr>
            <a:lvl6pPr algn="r">
              <a:buNone/>
              <a:defRPr sz="1200" b="0">
                <a:solidFill>
                  <a:srgbClr val="B5CFD7"/>
                </a:solidFill>
                <a:latin typeface="Arial"/>
                <a:ea typeface="Arial"/>
                <a:cs typeface="Arial"/>
              </a:defRPr>
            </a:lvl6pPr>
            <a:lvl7pPr algn="r">
              <a:buNone/>
              <a:defRPr sz="1200" b="0">
                <a:solidFill>
                  <a:srgbClr val="B5CFD7"/>
                </a:solidFill>
                <a:latin typeface="Arial"/>
                <a:ea typeface="Arial"/>
                <a:cs typeface="Arial"/>
              </a:defRPr>
            </a:lvl7pPr>
            <a:lvl8pPr algn="r">
              <a:buNone/>
              <a:defRPr sz="1200" b="0">
                <a:solidFill>
                  <a:srgbClr val="B5CFD7"/>
                </a:solidFill>
                <a:latin typeface="Arial"/>
                <a:ea typeface="Arial"/>
                <a:cs typeface="Arial"/>
              </a:defRPr>
            </a:lvl8pPr>
            <a:lvl9pPr algn="r">
              <a:buNone/>
              <a:defRPr sz="1200" b="0">
                <a:solidFill>
                  <a:srgbClr val="B5CFD7"/>
                </a:solidFill>
                <a:latin typeface="Arial"/>
                <a:ea typeface="Arial"/>
                <a:cs typeface="Arial"/>
              </a:defRPr>
            </a:lvl9pPr>
          </a:lstStyle>
          <a:p xmlns:a="http://schemas.openxmlformats.org/drawingml/2006/main">
            <a:pPr algn="r">
              <a:buNone/>
              <a:defRPr sz="1200" b="0">
                <a:solidFill>
                  <a:srgbClr val="142F40"/>
                </a:solidFill>
                <a:latin typeface="Arial"/>
                <a:ea typeface="Arial"/>
                <a:cs typeface="Arial"/>
              </a:defRPr>
            </a:pPr>
            <a:r>
              <a:rPr sz="1200" b="0">
                <a:solidFill>
                  <a:srgbClr val="142F40"/>
                </a:solidFill>
                <a:latin typeface="Arial"/>
                <a:ea typeface="Arial"/>
                <a:cs typeface="Arial"/>
              </a:rPr>
              <a:t>01</a:t>
            </a:r>
          </a:p>
        </p:txBody>
      </p:sp>
      <p:sp>
        <p:nvSpPr>
          <p:cNvPr id="2" name="text-1">
            <a:extLst xmlns:a="http://schemas.openxmlformats.org/drawingml/2006/main">
              <a:ext uri="{FF2B5EF4-FFF2-40B4-BE49-F238E27FC236}">
                <a16:creationId xmlns:a16="http://schemas.microsoft.com/office/drawing/2014/main" id="{BC97BD9E-297A-4766-9AF8-8699EA134955}"/>
              </a:ext>
            </a:extLst>
          </p:cNvPr>
          <p:cNvSpPr>
            <a:spLocks xmlns:a="http://schemas.openxmlformats.org/drawingml/2006/main" noGrp="1"/>
          </p:cNvSpPr>
          <p:nvPr/>
        </p:nvSpPr>
        <p:spPr>
          <a:xfrm xmlns:a="http://schemas.openxmlformats.org/drawingml/2006/main">
            <a:off x="647700" y="6191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F40"/>
                </a:solidFill>
                <a:latin typeface="Arial"/>
                <a:ea typeface="Arial"/>
                <a:cs typeface="Arial"/>
              </a:defRPr>
            </a:defPPr>
            <a:lvl1pPr algn="l">
              <a:buNone/>
              <a:defRPr sz="1650" b="1">
                <a:solidFill>
                  <a:srgbClr val="87D5CA"/>
                </a:solidFill>
                <a:latin typeface="Arial"/>
                <a:ea typeface="Arial"/>
                <a:cs typeface="Arial"/>
              </a:defRPr>
            </a:lvl1pPr>
            <a:lvl2pPr algn="l">
              <a:buNone/>
              <a:defRPr sz="1650" b="1">
                <a:solidFill>
                  <a:srgbClr val="87D5CA"/>
                </a:solidFill>
                <a:latin typeface="Arial"/>
                <a:ea typeface="Arial"/>
                <a:cs typeface="Arial"/>
              </a:defRPr>
            </a:lvl2pPr>
            <a:lvl3pPr algn="l">
              <a:buNone/>
              <a:defRPr sz="1650" b="1">
                <a:solidFill>
                  <a:srgbClr val="87D5CA"/>
                </a:solidFill>
                <a:latin typeface="Arial"/>
                <a:ea typeface="Arial"/>
                <a:cs typeface="Arial"/>
              </a:defRPr>
            </a:lvl3pPr>
            <a:lvl4pPr algn="l">
              <a:buNone/>
              <a:defRPr sz="1650" b="1">
                <a:solidFill>
                  <a:srgbClr val="87D5CA"/>
                </a:solidFill>
                <a:latin typeface="Arial"/>
                <a:ea typeface="Arial"/>
                <a:cs typeface="Arial"/>
              </a:defRPr>
            </a:lvl4pPr>
            <a:lvl5pPr algn="l">
              <a:buNone/>
              <a:defRPr sz="1650" b="1">
                <a:solidFill>
                  <a:srgbClr val="87D5CA"/>
                </a:solidFill>
                <a:latin typeface="Arial"/>
                <a:ea typeface="Arial"/>
                <a:cs typeface="Arial"/>
              </a:defRPr>
            </a:lvl5pPr>
            <a:lvl6pPr algn="l">
              <a:buNone/>
              <a:defRPr sz="1650" b="1">
                <a:solidFill>
                  <a:srgbClr val="87D5CA"/>
                </a:solidFill>
                <a:latin typeface="Arial"/>
                <a:ea typeface="Arial"/>
                <a:cs typeface="Arial"/>
              </a:defRPr>
            </a:lvl6pPr>
            <a:lvl7pPr algn="l">
              <a:buNone/>
              <a:defRPr sz="1650" b="1">
                <a:solidFill>
                  <a:srgbClr val="87D5CA"/>
                </a:solidFill>
                <a:latin typeface="Arial"/>
                <a:ea typeface="Arial"/>
                <a:cs typeface="Arial"/>
              </a:defRPr>
            </a:lvl7pPr>
            <a:lvl8pPr algn="l">
              <a:buNone/>
              <a:defRPr sz="1650" b="1">
                <a:solidFill>
                  <a:srgbClr val="87D5CA"/>
                </a:solidFill>
                <a:latin typeface="Arial"/>
                <a:ea typeface="Arial"/>
                <a:cs typeface="Arial"/>
              </a:defRPr>
            </a:lvl8pPr>
            <a:lvl9pPr algn="l">
              <a:buNone/>
              <a:defRPr sz="1650" b="1">
                <a:solidFill>
                  <a:srgbClr val="87D5CA"/>
                </a:solidFill>
                <a:latin typeface="Arial"/>
                <a:ea typeface="Arial"/>
                <a:cs typeface="Arial"/>
              </a:defRPr>
            </a:lvl9pPr>
          </a:lstStyle>
          <a:p xmlns:a="http://schemas.openxmlformats.org/drawingml/2006/main">
            <a:pPr algn="l">
              <a:buNone/>
              <a:defRPr sz="1650" b="1">
                <a:solidFill>
                  <a:srgbClr val="142F40"/>
                </a:solidFill>
                <a:latin typeface="Arial"/>
                <a:ea typeface="Arial"/>
                <a:cs typeface="Arial"/>
              </a:defRPr>
            </a:pPr>
            <a:r>
              <a:rPr sz="1650" b="1">
                <a:solidFill>
                  <a:srgbClr val="142F40"/>
                </a:solidFill>
                <a:latin typeface="Arial"/>
                <a:ea typeface="Arial"/>
                <a:cs typeface="Arial"/>
              </a:rPr>
              <a:t>COMPUTER NETWORKS · FINAL REVIEW</a:t>
            </a:r>
          </a:p>
        </p:txBody>
      </p:sp>
      <p:sp>
        <p:nvSpPr>
          <p:cNvPr id="3" name="cover-title">
            <a:extLst xmlns:a="http://schemas.openxmlformats.org/drawingml/2006/main">
              <a:ext uri="{FF2B5EF4-FFF2-40B4-BE49-F238E27FC236}">
                <a16:creationId xmlns:a16="http://schemas.microsoft.com/office/drawing/2014/main" id="{BE2C0125-4679-45E4-A231-4840DC86D030}"/>
              </a:ext>
            </a:extLst>
          </p:cNvPr>
          <p:cNvSpPr>
            <a:spLocks xmlns:a="http://schemas.openxmlformats.org/drawingml/2006/main" noGrp="1"/>
          </p:cNvSpPr>
          <p:nvPr/>
        </p:nvSpPr>
        <p:spPr>
          <a:xfrm xmlns:a="http://schemas.openxmlformats.org/drawingml/2006/main">
            <a:off x="609600" y="1562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F40"/>
                </a:solidFill>
                <a:latin typeface="Arial"/>
                <a:ea typeface="Arial"/>
                <a:cs typeface="Arial"/>
              </a:defRPr>
            </a:defPPr>
            <a:lvl1pPr algn="l">
              <a:buNone/>
              <a:defRPr sz="5100" b="1">
                <a:solidFill>
                  <a:srgbClr val="FFFFFF"/>
                </a:solidFill>
                <a:latin typeface="Arial"/>
                <a:ea typeface="Arial"/>
                <a:cs typeface="Arial"/>
              </a:defRPr>
            </a:lvl1pPr>
            <a:lvl2pPr algn="l">
              <a:buNone/>
              <a:defRPr sz="5100" b="1">
                <a:solidFill>
                  <a:srgbClr val="FFFFFF"/>
                </a:solidFill>
                <a:latin typeface="Arial"/>
                <a:ea typeface="Arial"/>
                <a:cs typeface="Arial"/>
              </a:defRPr>
            </a:lvl2pPr>
            <a:lvl3pPr algn="l">
              <a:buNone/>
              <a:defRPr sz="5100" b="1">
                <a:solidFill>
                  <a:srgbClr val="FFFFFF"/>
                </a:solidFill>
                <a:latin typeface="Arial"/>
                <a:ea typeface="Arial"/>
                <a:cs typeface="Arial"/>
              </a:defRPr>
            </a:lvl3pPr>
            <a:lvl4pPr algn="l">
              <a:buNone/>
              <a:defRPr sz="5100" b="1">
                <a:solidFill>
                  <a:srgbClr val="FFFFFF"/>
                </a:solidFill>
                <a:latin typeface="Arial"/>
                <a:ea typeface="Arial"/>
                <a:cs typeface="Arial"/>
              </a:defRPr>
            </a:lvl4pPr>
            <a:lvl5pPr algn="l">
              <a:buNone/>
              <a:defRPr sz="5100" b="1">
                <a:solidFill>
                  <a:srgbClr val="FFFFFF"/>
                </a:solidFill>
                <a:latin typeface="Arial"/>
                <a:ea typeface="Arial"/>
                <a:cs typeface="Arial"/>
              </a:defRPr>
            </a:lvl5pPr>
            <a:lvl6pPr algn="l">
              <a:buNone/>
              <a:defRPr sz="5100" b="1">
                <a:solidFill>
                  <a:srgbClr val="FFFFFF"/>
                </a:solidFill>
                <a:latin typeface="Arial"/>
                <a:ea typeface="Arial"/>
                <a:cs typeface="Arial"/>
              </a:defRPr>
            </a:lvl6pPr>
            <a:lvl7pPr algn="l">
              <a:buNone/>
              <a:defRPr sz="5100" b="1">
                <a:solidFill>
                  <a:srgbClr val="FFFFFF"/>
                </a:solidFill>
                <a:latin typeface="Arial"/>
                <a:ea typeface="Arial"/>
                <a:cs typeface="Arial"/>
              </a:defRPr>
            </a:lvl7pPr>
            <a:lvl8pPr algn="l">
              <a:buNone/>
              <a:defRPr sz="5100" b="1">
                <a:solidFill>
                  <a:srgbClr val="FFFFFF"/>
                </a:solidFill>
                <a:latin typeface="Arial"/>
                <a:ea typeface="Arial"/>
                <a:cs typeface="Arial"/>
              </a:defRPr>
            </a:lvl8pPr>
            <a:lvl9pPr algn="l">
              <a:buNone/>
              <a:defRPr sz="5100" b="1">
                <a:solidFill>
                  <a:srgbClr val="FFFFFF"/>
                </a:solidFill>
                <a:latin typeface="Arial"/>
                <a:ea typeface="Arial"/>
                <a:cs typeface="Arial"/>
              </a:defRPr>
            </a:lvl9pPr>
          </a:lstStyle>
          <a:p xmlns:a="http://schemas.openxmlformats.org/drawingml/2006/main">
            <a:pPr algn="l">
              <a:buNone/>
              <a:defRPr sz="5100" b="1">
                <a:solidFill>
                  <a:srgbClr val="142F40"/>
                </a:solidFill>
                <a:latin typeface="Arial"/>
                <a:ea typeface="Arial"/>
                <a:cs typeface="Arial"/>
              </a:defRPr>
            </a:pPr>
            <a:r>
              <a:rPr sz="5100" b="1">
                <a:solidFill>
                  <a:srgbClr val="142F40"/>
                </a:solidFill>
                <a:latin typeface="Arial"/>
                <a:ea typeface="Arial"/>
                <a:cs typeface="Arial"/>
              </a:rPr>
              <a:t>Smart Load Balancer</a:t>
            </a:r>
          </a:p>
        </p:txBody>
      </p:sp>
      <p:sp>
        <p:nvSpPr>
          <p:cNvPr id="4" name="text-3">
            <a:extLst xmlns:a="http://schemas.openxmlformats.org/drawingml/2006/main">
              <a:ext uri="{FF2B5EF4-FFF2-40B4-BE49-F238E27FC236}">
                <a16:creationId xmlns:a16="http://schemas.microsoft.com/office/drawing/2014/main" id="{929E1A66-8ED0-4324-8145-745C1C8CC7C1}"/>
              </a:ext>
            </a:extLst>
          </p:cNvPr>
          <p:cNvSpPr>
            <a:spLocks xmlns:a="http://schemas.openxmlformats.org/drawingml/2006/main" noGrp="1"/>
          </p:cNvSpPr>
          <p:nvPr/>
        </p:nvSpPr>
        <p:spPr>
          <a:xfrm xmlns:a="http://schemas.openxmlformats.org/drawingml/2006/main">
            <a:off x="647700" y="2638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42F40"/>
                </a:solidFill>
                <a:latin typeface="Arial"/>
                <a:ea typeface="Arial"/>
                <a:cs typeface="Arial"/>
              </a:defRPr>
            </a:defPPr>
            <a:lvl1pPr algn="l">
              <a:buNone/>
              <a:defRPr sz="3225" b="0">
                <a:solidFill>
                  <a:srgbClr val="FFFFFF"/>
                </a:solidFill>
                <a:latin typeface="Arial"/>
                <a:ea typeface="Arial"/>
                <a:cs typeface="Arial"/>
              </a:defRPr>
            </a:lvl1pPr>
            <a:lvl2pPr algn="l">
              <a:buNone/>
              <a:defRPr sz="3225" b="0">
                <a:solidFill>
                  <a:srgbClr val="FFFFFF"/>
                </a:solidFill>
                <a:latin typeface="Arial"/>
                <a:ea typeface="Arial"/>
                <a:cs typeface="Arial"/>
              </a:defRPr>
            </a:lvl2pPr>
            <a:lvl3pPr algn="l">
              <a:buNone/>
              <a:defRPr sz="3225" b="0">
                <a:solidFill>
                  <a:srgbClr val="FFFFFF"/>
                </a:solidFill>
                <a:latin typeface="Arial"/>
                <a:ea typeface="Arial"/>
                <a:cs typeface="Arial"/>
              </a:defRPr>
            </a:lvl3pPr>
            <a:lvl4pPr algn="l">
              <a:buNone/>
              <a:defRPr sz="3225" b="0">
                <a:solidFill>
                  <a:srgbClr val="FFFFFF"/>
                </a:solidFill>
                <a:latin typeface="Arial"/>
                <a:ea typeface="Arial"/>
                <a:cs typeface="Arial"/>
              </a:defRPr>
            </a:lvl4pPr>
            <a:lvl5pPr algn="l">
              <a:buNone/>
              <a:defRPr sz="3225" b="0">
                <a:solidFill>
                  <a:srgbClr val="FFFFFF"/>
                </a:solidFill>
                <a:latin typeface="Arial"/>
                <a:ea typeface="Arial"/>
                <a:cs typeface="Arial"/>
              </a:defRPr>
            </a:lvl5pPr>
            <a:lvl6pPr algn="l">
              <a:buNone/>
              <a:defRPr sz="3225" b="0">
                <a:solidFill>
                  <a:srgbClr val="FFFFFF"/>
                </a:solidFill>
                <a:latin typeface="Arial"/>
                <a:ea typeface="Arial"/>
                <a:cs typeface="Arial"/>
              </a:defRPr>
            </a:lvl6pPr>
            <a:lvl7pPr algn="l">
              <a:buNone/>
              <a:defRPr sz="3225" b="0">
                <a:solidFill>
                  <a:srgbClr val="FFFFFF"/>
                </a:solidFill>
                <a:latin typeface="Arial"/>
                <a:ea typeface="Arial"/>
                <a:cs typeface="Arial"/>
              </a:defRPr>
            </a:lvl7pPr>
            <a:lvl8pPr algn="l">
              <a:buNone/>
              <a:defRPr sz="3225" b="0">
                <a:solidFill>
                  <a:srgbClr val="FFFFFF"/>
                </a:solidFill>
                <a:latin typeface="Arial"/>
                <a:ea typeface="Arial"/>
                <a:cs typeface="Arial"/>
              </a:defRPr>
            </a:lvl8pPr>
            <a:lvl9pPr algn="l">
              <a:buNone/>
              <a:defRPr sz="3225" b="0">
                <a:solidFill>
                  <a:srgbClr val="FFFFFF"/>
                </a:solidFill>
                <a:latin typeface="Arial"/>
                <a:ea typeface="Arial"/>
                <a:cs typeface="Arial"/>
              </a:defRPr>
            </a:lvl9pPr>
          </a:lstStyle>
          <a:p xmlns:a="http://schemas.openxmlformats.org/drawingml/2006/main">
            <a:pPr algn="l">
              <a:buNone/>
              <a:defRPr sz="3225" b="0">
                <a:solidFill>
                  <a:srgbClr val="142F40"/>
                </a:solidFill>
                <a:latin typeface="Arial"/>
                <a:ea typeface="Arial"/>
                <a:cs typeface="Arial"/>
              </a:defRPr>
            </a:pPr>
            <a:r>
              <a:rPr sz="3225" b="0">
                <a:solidFill>
                  <a:srgbClr val="142F40"/>
                </a:solidFill>
                <a:latin typeface="Arial"/>
                <a:ea typeface="Arial"/>
                <a:cs typeface="Arial"/>
              </a:rPr>
              <a:t>for Distributing Web Traffic</a:t>
            </a:r>
          </a:p>
        </p:txBody>
      </p:sp>
      <p:sp>
        <p:nvSpPr>
          <p:cNvPr id="5" name="text-4">
            <a:extLst xmlns:a="http://schemas.openxmlformats.org/drawingml/2006/main">
              <a:ext uri="{FF2B5EF4-FFF2-40B4-BE49-F238E27FC236}">
                <a16:creationId xmlns:a16="http://schemas.microsoft.com/office/drawing/2014/main" id="{EA434FF7-5AF3-4EF9-AA5B-86054DC62C6D}"/>
              </a:ext>
            </a:extLst>
          </p:cNvPr>
          <p:cNvSpPr>
            <a:spLocks xmlns:a="http://schemas.openxmlformats.org/drawingml/2006/main" noGrp="1"/>
          </p:cNvSpPr>
          <p:nvPr/>
        </p:nvSpPr>
        <p:spPr>
          <a:xfrm xmlns:a="http://schemas.openxmlformats.org/drawingml/2006/main">
            <a:off x="647700" y="34766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F40"/>
                </a:solidFill>
                <a:latin typeface="Arial"/>
                <a:ea typeface="Arial"/>
                <a:cs typeface="Arial"/>
              </a:defRPr>
            </a:defPPr>
            <a:lvl1pPr algn="l">
              <a:buNone/>
              <a:defRPr sz="2100" b="0">
                <a:solidFill>
                  <a:srgbClr val="BBD5DD"/>
                </a:solidFill>
                <a:latin typeface="Arial"/>
                <a:ea typeface="Arial"/>
                <a:cs typeface="Arial"/>
              </a:defRPr>
            </a:lvl1pPr>
            <a:lvl2pPr algn="l">
              <a:buNone/>
              <a:defRPr sz="2100" b="0">
                <a:solidFill>
                  <a:srgbClr val="BBD5DD"/>
                </a:solidFill>
                <a:latin typeface="Arial"/>
                <a:ea typeface="Arial"/>
                <a:cs typeface="Arial"/>
              </a:defRPr>
            </a:lvl2pPr>
            <a:lvl3pPr algn="l">
              <a:buNone/>
              <a:defRPr sz="2100" b="0">
                <a:solidFill>
                  <a:srgbClr val="BBD5DD"/>
                </a:solidFill>
                <a:latin typeface="Arial"/>
                <a:ea typeface="Arial"/>
                <a:cs typeface="Arial"/>
              </a:defRPr>
            </a:lvl3pPr>
            <a:lvl4pPr algn="l">
              <a:buNone/>
              <a:defRPr sz="2100" b="0">
                <a:solidFill>
                  <a:srgbClr val="BBD5DD"/>
                </a:solidFill>
                <a:latin typeface="Arial"/>
                <a:ea typeface="Arial"/>
                <a:cs typeface="Arial"/>
              </a:defRPr>
            </a:lvl4pPr>
            <a:lvl5pPr algn="l">
              <a:buNone/>
              <a:defRPr sz="2100" b="0">
                <a:solidFill>
                  <a:srgbClr val="BBD5DD"/>
                </a:solidFill>
                <a:latin typeface="Arial"/>
                <a:ea typeface="Arial"/>
                <a:cs typeface="Arial"/>
              </a:defRPr>
            </a:lvl5pPr>
            <a:lvl6pPr algn="l">
              <a:buNone/>
              <a:defRPr sz="2100" b="0">
                <a:solidFill>
                  <a:srgbClr val="BBD5DD"/>
                </a:solidFill>
                <a:latin typeface="Arial"/>
                <a:ea typeface="Arial"/>
                <a:cs typeface="Arial"/>
              </a:defRPr>
            </a:lvl6pPr>
            <a:lvl7pPr algn="l">
              <a:buNone/>
              <a:defRPr sz="2100" b="0">
                <a:solidFill>
                  <a:srgbClr val="BBD5DD"/>
                </a:solidFill>
                <a:latin typeface="Arial"/>
                <a:ea typeface="Arial"/>
                <a:cs typeface="Arial"/>
              </a:defRPr>
            </a:lvl7pPr>
            <a:lvl8pPr algn="l">
              <a:buNone/>
              <a:defRPr sz="2100" b="0">
                <a:solidFill>
                  <a:srgbClr val="BBD5DD"/>
                </a:solidFill>
                <a:latin typeface="Arial"/>
                <a:ea typeface="Arial"/>
                <a:cs typeface="Arial"/>
              </a:defRPr>
            </a:lvl8pPr>
            <a:lvl9pPr algn="l">
              <a:buNone/>
              <a:defRPr sz="2100" b="0">
                <a:solidFill>
                  <a:srgbClr val="BBD5DD"/>
                </a:solidFill>
                <a:latin typeface="Arial"/>
                <a:ea typeface="Arial"/>
                <a:cs typeface="Arial"/>
              </a:defRPr>
            </a:lvl9pPr>
          </a:lstStyle>
          <a:p xmlns:a="http://schemas.openxmlformats.org/drawingml/2006/main">
            <a:pPr algn="l">
              <a:buNone/>
              <a:defRPr sz="2100" b="0">
                <a:solidFill>
                  <a:srgbClr val="142F40"/>
                </a:solidFill>
                <a:latin typeface="Arial"/>
                <a:ea typeface="Arial"/>
                <a:cs typeface="Arial"/>
              </a:defRPr>
            </a:pPr>
            <a:r>
              <a:rPr sz="2100" b="0">
                <a:solidFill>
                  <a:srgbClr val="142F40"/>
                </a:solidFill>
                <a:latin typeface="Arial"/>
                <a:ea typeface="Arial"/>
                <a:cs typeface="Arial"/>
              </a:rPr>
              <a:t>An HTTP load balancer built with Python asyncio</a:t>
            </a:r>
          </a:p>
        </p:txBody>
      </p:sp>
      <p:sp>
        <p:nvSpPr>
          <p:cNvPr id="6" name="text-5">
            <a:extLst xmlns:a="http://schemas.openxmlformats.org/drawingml/2006/main">
              <a:ext uri="{FF2B5EF4-FFF2-40B4-BE49-F238E27FC236}">
                <a16:creationId xmlns:a16="http://schemas.microsoft.com/office/drawing/2014/main" id="{B6C36B85-A9D9-4D39-90EA-B5A7837CE280}"/>
              </a:ext>
            </a:extLst>
          </p:cNvPr>
          <p:cNvSpPr>
            <a:spLocks xmlns:a="http://schemas.openxmlformats.org/drawingml/2006/main" noGrp="1"/>
          </p:cNvSpPr>
          <p:nvPr/>
        </p:nvSpPr>
        <p:spPr>
          <a:xfrm xmlns:a="http://schemas.openxmlformats.org/drawingml/2006/main">
            <a:off x="647700" y="4629150"/>
            <a:ext cx="723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F40"/>
                </a:solidFill>
                <a:latin typeface="Arial"/>
                <a:ea typeface="Arial"/>
                <a:cs typeface="Arial"/>
              </a:defRPr>
            </a:defPPr>
            <a:lvl1pPr algn="l">
              <a:buNone/>
              <a:defRPr sz="2025" b="0">
                <a:solidFill>
                  <a:srgbClr val="FFFFFF"/>
                </a:solidFill>
                <a:latin typeface="Arial"/>
                <a:ea typeface="Arial"/>
                <a:cs typeface="Arial"/>
              </a:defRPr>
            </a:lvl1pPr>
            <a:lvl2pPr algn="l">
              <a:buNone/>
              <a:defRPr sz="2025" b="0">
                <a:solidFill>
                  <a:srgbClr val="FFFFFF"/>
                </a:solidFill>
                <a:latin typeface="Arial"/>
                <a:ea typeface="Arial"/>
                <a:cs typeface="Arial"/>
              </a:defRPr>
            </a:lvl2pPr>
            <a:lvl3pPr algn="l">
              <a:buNone/>
              <a:defRPr sz="2025" b="0">
                <a:solidFill>
                  <a:srgbClr val="FFFFFF"/>
                </a:solidFill>
                <a:latin typeface="Arial"/>
                <a:ea typeface="Arial"/>
                <a:cs typeface="Arial"/>
              </a:defRPr>
            </a:lvl3pPr>
            <a:lvl4pPr algn="l">
              <a:buNone/>
              <a:defRPr sz="2025" b="0">
                <a:solidFill>
                  <a:srgbClr val="FFFFFF"/>
                </a:solidFill>
                <a:latin typeface="Arial"/>
                <a:ea typeface="Arial"/>
                <a:cs typeface="Arial"/>
              </a:defRPr>
            </a:lvl4pPr>
            <a:lvl5pPr algn="l">
              <a:buNone/>
              <a:defRPr sz="2025" b="0">
                <a:solidFill>
                  <a:srgbClr val="FFFFFF"/>
                </a:solidFill>
                <a:latin typeface="Arial"/>
                <a:ea typeface="Arial"/>
                <a:cs typeface="Arial"/>
              </a:defRPr>
            </a:lvl5pPr>
            <a:lvl6pPr algn="l">
              <a:buNone/>
              <a:defRPr sz="2025" b="0">
                <a:solidFill>
                  <a:srgbClr val="FFFFFF"/>
                </a:solidFill>
                <a:latin typeface="Arial"/>
                <a:ea typeface="Arial"/>
                <a:cs typeface="Arial"/>
              </a:defRPr>
            </a:lvl6pPr>
            <a:lvl7pPr algn="l">
              <a:buNone/>
              <a:defRPr sz="2025" b="0">
                <a:solidFill>
                  <a:srgbClr val="FFFFFF"/>
                </a:solidFill>
                <a:latin typeface="Arial"/>
                <a:ea typeface="Arial"/>
                <a:cs typeface="Arial"/>
              </a:defRPr>
            </a:lvl7pPr>
            <a:lvl8pPr algn="l">
              <a:buNone/>
              <a:defRPr sz="2025" b="0">
                <a:solidFill>
                  <a:srgbClr val="FFFFFF"/>
                </a:solidFill>
                <a:latin typeface="Arial"/>
                <a:ea typeface="Arial"/>
                <a:cs typeface="Arial"/>
              </a:defRPr>
            </a:lvl8pPr>
            <a:lvl9pPr algn="l">
              <a:buNone/>
              <a:defRPr sz="2025" b="0">
                <a:solidFill>
                  <a:srgbClr val="FFFFFF"/>
                </a:solidFill>
                <a:latin typeface="Arial"/>
                <a:ea typeface="Arial"/>
                <a:cs typeface="Arial"/>
              </a:defRPr>
            </a:lvl9pPr>
          </a:lstStyle>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Dhruv Dudeja  ·  24BCE0968</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Ayush Bhatt  ·  24BDS0180</a:t>
            </a:r>
          </a:p>
        </p:txBody>
      </p:sp>
      <p:sp>
        <p:nvSpPr>
          <p:cNvPr id="7" name="text-6">
            <a:extLst xmlns:a="http://schemas.openxmlformats.org/drawingml/2006/main">
              <a:ext uri="{FF2B5EF4-FFF2-40B4-BE49-F238E27FC236}">
                <a16:creationId xmlns:a16="http://schemas.microsoft.com/office/drawing/2014/main" id="{967E5C3C-8FBF-4C16-8A6B-34B5353E3DE0}"/>
              </a:ext>
            </a:extLst>
          </p:cNvPr>
          <p:cNvSpPr>
            <a:spLocks xmlns:a="http://schemas.openxmlformats.org/drawingml/2006/main" noGrp="1"/>
          </p:cNvSpPr>
          <p:nvPr/>
        </p:nvSpPr>
        <p:spPr>
          <a:xfrm xmlns:a="http://schemas.openxmlformats.org/drawingml/2006/main">
            <a:off x="647700" y="58007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BBD5DD"/>
                </a:solidFill>
                <a:latin typeface="Arial"/>
                <a:ea typeface="Arial"/>
                <a:cs typeface="Arial"/>
              </a:defRPr>
            </a:lvl1pPr>
            <a:lvl2pPr algn="l">
              <a:buNone/>
              <a:defRPr sz="1875" b="0">
                <a:solidFill>
                  <a:srgbClr val="BBD5DD"/>
                </a:solidFill>
                <a:latin typeface="Arial"/>
                <a:ea typeface="Arial"/>
                <a:cs typeface="Arial"/>
              </a:defRPr>
            </a:lvl2pPr>
            <a:lvl3pPr algn="l">
              <a:buNone/>
              <a:defRPr sz="1875" b="0">
                <a:solidFill>
                  <a:srgbClr val="BBD5DD"/>
                </a:solidFill>
                <a:latin typeface="Arial"/>
                <a:ea typeface="Arial"/>
                <a:cs typeface="Arial"/>
              </a:defRPr>
            </a:lvl3pPr>
            <a:lvl4pPr algn="l">
              <a:buNone/>
              <a:defRPr sz="1875" b="0">
                <a:solidFill>
                  <a:srgbClr val="BBD5DD"/>
                </a:solidFill>
                <a:latin typeface="Arial"/>
                <a:ea typeface="Arial"/>
                <a:cs typeface="Arial"/>
              </a:defRPr>
            </a:lvl4pPr>
            <a:lvl5pPr algn="l">
              <a:buNone/>
              <a:defRPr sz="1875" b="0">
                <a:solidFill>
                  <a:srgbClr val="BBD5DD"/>
                </a:solidFill>
                <a:latin typeface="Arial"/>
                <a:ea typeface="Arial"/>
                <a:cs typeface="Arial"/>
              </a:defRPr>
            </a:lvl5pPr>
            <a:lvl6pPr algn="l">
              <a:buNone/>
              <a:defRPr sz="1875" b="0">
                <a:solidFill>
                  <a:srgbClr val="BBD5DD"/>
                </a:solidFill>
                <a:latin typeface="Arial"/>
                <a:ea typeface="Arial"/>
                <a:cs typeface="Arial"/>
              </a:defRPr>
            </a:lvl6pPr>
            <a:lvl7pPr algn="l">
              <a:buNone/>
              <a:defRPr sz="1875" b="0">
                <a:solidFill>
                  <a:srgbClr val="BBD5DD"/>
                </a:solidFill>
                <a:latin typeface="Arial"/>
                <a:ea typeface="Arial"/>
                <a:cs typeface="Arial"/>
              </a:defRPr>
            </a:lvl7pPr>
            <a:lvl8pPr algn="l">
              <a:buNone/>
              <a:defRPr sz="1875" b="0">
                <a:solidFill>
                  <a:srgbClr val="BBD5DD"/>
                </a:solidFill>
                <a:latin typeface="Arial"/>
                <a:ea typeface="Arial"/>
                <a:cs typeface="Arial"/>
              </a:defRPr>
            </a:lvl8pPr>
            <a:lvl9pPr algn="l">
              <a:buNone/>
              <a:defRPr sz="1875" b="0">
                <a:solidFill>
                  <a:srgbClr val="BBD5DD"/>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Faculty: Professor Sreethar S</a:t>
            </a:r>
          </a:p>
        </p:txBody>
      </p:sp>
    </p:spTree>
    <p:extLst>
      <p:ext uri="{BB962C8B-B14F-4D97-AF65-F5344CB8AC3E}">
        <p14:creationId xmlns:p14="http://schemas.microsoft.com/office/powerpoint/2010/main" val="17988152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1E15FE9-7677-4F6D-AC2A-6F784B2EE347}"/>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Problem and objectives</a:t>
            </a:r>
          </a:p>
        </p:txBody>
      </p:sp>
      <p:sp>
        <p:nvSpPr>
          <p:cNvPr id="2" name="text-1">
            <a:extLst xmlns:a="http://schemas.openxmlformats.org/drawingml/2006/main">
              <a:ext uri="{FF2B5EF4-FFF2-40B4-BE49-F238E27FC236}">
                <a16:creationId xmlns:a16="http://schemas.microsoft.com/office/drawing/2014/main" id="{8025A2DA-4113-432C-9D52-64E017965D13}"/>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0701645C-496A-4A2E-8CD4-95B29804138F}"/>
              </a:ext>
            </a:extLst>
          </p:cNvPr>
          <p:cNvSpPr>
            <a:spLocks xmlns:a="http://schemas.openxmlformats.org/drawingml/2006/main" noGrp="1"/>
          </p:cNvSpPr>
          <p:nvPr/>
        </p:nvSpPr>
        <p:spPr>
          <a:xfrm xmlns:a="http://schemas.openxmlformats.org/drawingml/2006/main">
            <a:off x="647700" y="1685925"/>
            <a:ext cx="1028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One busy or unavailable server</a:t>
            </a:r>
          </a:p>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can disrupt every client.</a:t>
            </a:r>
          </a:p>
        </p:txBody>
      </p:sp>
      <p:sp>
        <p:nvSpPr>
          <p:cNvPr id="4" name="text-3">
            <a:extLst xmlns:a="http://schemas.openxmlformats.org/drawingml/2006/main">
              <a:ext uri="{FF2B5EF4-FFF2-40B4-BE49-F238E27FC236}">
                <a16:creationId xmlns:a16="http://schemas.microsoft.com/office/drawing/2014/main" id="{30DAC3DB-85B5-47BF-87E9-EBF3F983248A}"/>
              </a:ext>
            </a:extLst>
          </p:cNvPr>
          <p:cNvSpPr>
            <a:spLocks xmlns:a="http://schemas.openxmlformats.org/drawingml/2006/main" noGrp="1"/>
          </p:cNvSpPr>
          <p:nvPr/>
        </p:nvSpPr>
        <p:spPr>
          <a:xfrm xmlns:a="http://schemas.openxmlformats.org/drawingml/2006/main">
            <a:off x="647700" y="313372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46673"/>
                </a:solidFill>
                <a:latin typeface="Arial"/>
                <a:ea typeface="Arial"/>
                <a:cs typeface="Arial"/>
              </a:defRPr>
            </a:defPPr>
            <a:lvl1pPr algn="l">
              <a:buNone/>
              <a:defRPr sz="2250" b="0">
                <a:solidFill>
                  <a:srgbClr val="546673"/>
                </a:solidFill>
                <a:latin typeface="Arial"/>
                <a:ea typeface="Arial"/>
                <a:cs typeface="Arial"/>
              </a:defRPr>
            </a:lvl1pPr>
            <a:lvl2pPr algn="l">
              <a:buNone/>
              <a:defRPr sz="2250" b="0">
                <a:solidFill>
                  <a:srgbClr val="546673"/>
                </a:solidFill>
                <a:latin typeface="Arial"/>
                <a:ea typeface="Arial"/>
                <a:cs typeface="Arial"/>
              </a:defRPr>
            </a:lvl2pPr>
            <a:lvl3pPr algn="l">
              <a:buNone/>
              <a:defRPr sz="2250" b="0">
                <a:solidFill>
                  <a:srgbClr val="546673"/>
                </a:solidFill>
                <a:latin typeface="Arial"/>
                <a:ea typeface="Arial"/>
                <a:cs typeface="Arial"/>
              </a:defRPr>
            </a:lvl3pPr>
            <a:lvl4pPr algn="l">
              <a:buNone/>
              <a:defRPr sz="2250" b="0">
                <a:solidFill>
                  <a:srgbClr val="546673"/>
                </a:solidFill>
                <a:latin typeface="Arial"/>
                <a:ea typeface="Arial"/>
                <a:cs typeface="Arial"/>
              </a:defRPr>
            </a:lvl4pPr>
            <a:lvl5pPr algn="l">
              <a:buNone/>
              <a:defRPr sz="2250" b="0">
                <a:solidFill>
                  <a:srgbClr val="546673"/>
                </a:solidFill>
                <a:latin typeface="Arial"/>
                <a:ea typeface="Arial"/>
                <a:cs typeface="Arial"/>
              </a:defRPr>
            </a:lvl5pPr>
            <a:lvl6pPr algn="l">
              <a:buNone/>
              <a:defRPr sz="2250" b="0">
                <a:solidFill>
                  <a:srgbClr val="546673"/>
                </a:solidFill>
                <a:latin typeface="Arial"/>
                <a:ea typeface="Arial"/>
                <a:cs typeface="Arial"/>
              </a:defRPr>
            </a:lvl6pPr>
            <a:lvl7pPr algn="l">
              <a:buNone/>
              <a:defRPr sz="2250" b="0">
                <a:solidFill>
                  <a:srgbClr val="546673"/>
                </a:solidFill>
                <a:latin typeface="Arial"/>
                <a:ea typeface="Arial"/>
                <a:cs typeface="Arial"/>
              </a:defRPr>
            </a:lvl7pPr>
            <a:lvl8pPr algn="l">
              <a:buNone/>
              <a:defRPr sz="2250" b="0">
                <a:solidFill>
                  <a:srgbClr val="546673"/>
                </a:solidFill>
                <a:latin typeface="Arial"/>
                <a:ea typeface="Arial"/>
                <a:cs typeface="Arial"/>
              </a:defRPr>
            </a:lvl8pPr>
            <a:lvl9pPr algn="l">
              <a:buNone/>
              <a:defRPr sz="2250" b="0">
                <a:solidFill>
                  <a:srgbClr val="546673"/>
                </a:solidFill>
                <a:latin typeface="Arial"/>
                <a:ea typeface="Arial"/>
                <a:cs typeface="Arial"/>
              </a:defRPr>
            </a:lvl9pPr>
          </a:lstStyle>
          <a:p xmlns:a="http://schemas.openxmlformats.org/drawingml/2006/main">
            <a:pPr algn="l">
              <a:buNone/>
              <a:defRPr sz="2250" b="0">
                <a:solidFill>
                  <a:srgbClr val="546673"/>
                </a:solidFill>
                <a:latin typeface="Arial"/>
                <a:ea typeface="Arial"/>
                <a:cs typeface="Arial"/>
              </a:defRPr>
            </a:pPr>
            <a:r>
              <a:rPr sz="2250" b="0">
                <a:solidFill>
                  <a:srgbClr val="546673"/>
                </a:solidFill>
                <a:latin typeface="Arial"/>
                <a:ea typeface="Arial"/>
                <a:cs typeface="Arial"/>
              </a:rPr>
              <a:t>The load balancer gives clients one entry point and</a:t>
            </a:r>
          </a:p>
          <a:p xmlns:a="http://schemas.openxmlformats.org/drawingml/2006/main">
            <a:pPr algn="l">
              <a:buNone/>
              <a:defRPr sz="2250" b="0">
                <a:solidFill>
                  <a:srgbClr val="546673"/>
                </a:solidFill>
                <a:latin typeface="Arial"/>
                <a:ea typeface="Arial"/>
                <a:cs typeface="Arial"/>
              </a:defRPr>
            </a:pPr>
            <a:r>
              <a:rPr sz="2250" b="0">
                <a:solidFill>
                  <a:srgbClr val="546673"/>
                </a:solidFill>
                <a:latin typeface="Arial"/>
                <a:ea typeface="Arial"/>
                <a:cs typeface="Arial"/>
              </a:rPr>
              <a:t>selects a suitable backend for each HTTP request.</a:t>
            </a:r>
          </a:p>
        </p:txBody>
      </p:sp>
      <p:sp>
        <p:nvSpPr>
          <p:cNvPr id="5" name="text-4">
            <a:extLst xmlns:a="http://schemas.openxmlformats.org/drawingml/2006/main">
              <a:ext uri="{FF2B5EF4-FFF2-40B4-BE49-F238E27FC236}">
                <a16:creationId xmlns:a16="http://schemas.microsoft.com/office/drawing/2014/main" id="{F66F3DF8-8363-4A52-951E-8D68E986365B}"/>
              </a:ext>
            </a:extLst>
          </p:cNvPr>
          <p:cNvSpPr>
            <a:spLocks xmlns:a="http://schemas.openxmlformats.org/drawingml/2006/main" noGrp="1"/>
          </p:cNvSpPr>
          <p:nvPr/>
        </p:nvSpPr>
        <p:spPr>
          <a:xfrm xmlns:a="http://schemas.openxmlformats.org/drawingml/2006/main">
            <a:off x="647700" y="460057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7B75"/>
                </a:solidFill>
                <a:latin typeface="Arial"/>
                <a:ea typeface="Arial"/>
                <a:cs typeface="Arial"/>
              </a:defRPr>
            </a:defPPr>
            <a:lvl1pPr algn="l">
              <a:buNone/>
              <a:defRPr sz="2175" b="1">
                <a:solidFill>
                  <a:srgbClr val="137B75"/>
                </a:solidFill>
                <a:latin typeface="Arial"/>
                <a:ea typeface="Arial"/>
                <a:cs typeface="Arial"/>
              </a:defRPr>
            </a:lvl1pPr>
            <a:lvl2pPr algn="l">
              <a:buNone/>
              <a:defRPr sz="2175" b="1">
                <a:solidFill>
                  <a:srgbClr val="137B75"/>
                </a:solidFill>
                <a:latin typeface="Arial"/>
                <a:ea typeface="Arial"/>
                <a:cs typeface="Arial"/>
              </a:defRPr>
            </a:lvl2pPr>
            <a:lvl3pPr algn="l">
              <a:buNone/>
              <a:defRPr sz="2175" b="1">
                <a:solidFill>
                  <a:srgbClr val="137B75"/>
                </a:solidFill>
                <a:latin typeface="Arial"/>
                <a:ea typeface="Arial"/>
                <a:cs typeface="Arial"/>
              </a:defRPr>
            </a:lvl3pPr>
            <a:lvl4pPr algn="l">
              <a:buNone/>
              <a:defRPr sz="2175" b="1">
                <a:solidFill>
                  <a:srgbClr val="137B75"/>
                </a:solidFill>
                <a:latin typeface="Arial"/>
                <a:ea typeface="Arial"/>
                <a:cs typeface="Arial"/>
              </a:defRPr>
            </a:lvl4pPr>
            <a:lvl5pPr algn="l">
              <a:buNone/>
              <a:defRPr sz="2175" b="1">
                <a:solidFill>
                  <a:srgbClr val="137B75"/>
                </a:solidFill>
                <a:latin typeface="Arial"/>
                <a:ea typeface="Arial"/>
                <a:cs typeface="Arial"/>
              </a:defRPr>
            </a:lvl5pPr>
            <a:lvl6pPr algn="l">
              <a:buNone/>
              <a:defRPr sz="2175" b="1">
                <a:solidFill>
                  <a:srgbClr val="137B75"/>
                </a:solidFill>
                <a:latin typeface="Arial"/>
                <a:ea typeface="Arial"/>
                <a:cs typeface="Arial"/>
              </a:defRPr>
            </a:lvl6pPr>
            <a:lvl7pPr algn="l">
              <a:buNone/>
              <a:defRPr sz="2175" b="1">
                <a:solidFill>
                  <a:srgbClr val="137B75"/>
                </a:solidFill>
                <a:latin typeface="Arial"/>
                <a:ea typeface="Arial"/>
                <a:cs typeface="Arial"/>
              </a:defRPr>
            </a:lvl7pPr>
            <a:lvl8pPr algn="l">
              <a:buNone/>
              <a:defRPr sz="2175" b="1">
                <a:solidFill>
                  <a:srgbClr val="137B75"/>
                </a:solidFill>
                <a:latin typeface="Arial"/>
                <a:ea typeface="Arial"/>
                <a:cs typeface="Arial"/>
              </a:defRPr>
            </a:lvl8pPr>
            <a:lvl9pPr algn="l">
              <a:buNone/>
              <a:defRPr sz="2175" b="1">
                <a:solidFill>
                  <a:srgbClr val="137B75"/>
                </a:solidFill>
                <a:latin typeface="Arial"/>
                <a:ea typeface="Arial"/>
                <a:cs typeface="Arial"/>
              </a:defRPr>
            </a:lvl9pPr>
          </a:lstStyle>
          <a:p xmlns:a="http://schemas.openxmlformats.org/drawingml/2006/main">
            <a:pPr algn="l">
              <a:buNone/>
              <a:defRPr sz="2175" b="1">
                <a:solidFill>
                  <a:srgbClr val="137B75"/>
                </a:solidFill>
                <a:latin typeface="Arial"/>
                <a:ea typeface="Arial"/>
                <a:cs typeface="Arial"/>
              </a:defRPr>
            </a:pPr>
            <a:r>
              <a:rPr sz="2175" b="1">
                <a:solidFill>
                  <a:srgbClr val="137B75"/>
                </a:solidFill>
                <a:latin typeface="Arial"/>
                <a:ea typeface="Arial"/>
                <a:cs typeface="Arial"/>
              </a:rPr>
              <a:t>Distribute requests</a:t>
            </a:r>
          </a:p>
        </p:txBody>
      </p:sp>
      <p:sp>
        <p:nvSpPr>
          <p:cNvPr id="6" name="text-5">
            <a:extLst xmlns:a="http://schemas.openxmlformats.org/drawingml/2006/main">
              <a:ext uri="{FF2B5EF4-FFF2-40B4-BE49-F238E27FC236}">
                <a16:creationId xmlns:a16="http://schemas.microsoft.com/office/drawing/2014/main" id="{CDFEF7D6-4387-4A8C-B085-3A7632838211}"/>
              </a:ext>
            </a:extLst>
          </p:cNvPr>
          <p:cNvSpPr>
            <a:spLocks xmlns:a="http://schemas.openxmlformats.org/drawingml/2006/main" noGrp="1"/>
          </p:cNvSpPr>
          <p:nvPr/>
        </p:nvSpPr>
        <p:spPr>
          <a:xfrm xmlns:a="http://schemas.openxmlformats.org/drawingml/2006/main">
            <a:off x="647700" y="5143500"/>
            <a:ext cx="314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Compare three selection</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algorithms.</a:t>
            </a:r>
          </a:p>
        </p:txBody>
      </p:sp>
      <p:sp>
        <p:nvSpPr>
          <p:cNvPr id="7" name="text-6">
            <a:extLst xmlns:a="http://schemas.openxmlformats.org/drawingml/2006/main">
              <a:ext uri="{FF2B5EF4-FFF2-40B4-BE49-F238E27FC236}">
                <a16:creationId xmlns:a16="http://schemas.microsoft.com/office/drawing/2014/main" id="{663F57F1-9A49-451B-9C37-231F13839078}"/>
              </a:ext>
            </a:extLst>
          </p:cNvPr>
          <p:cNvSpPr>
            <a:spLocks xmlns:a="http://schemas.openxmlformats.org/drawingml/2006/main" noGrp="1"/>
          </p:cNvSpPr>
          <p:nvPr/>
        </p:nvSpPr>
        <p:spPr>
          <a:xfrm xmlns:a="http://schemas.openxmlformats.org/drawingml/2006/main">
            <a:off x="4305300" y="46005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7B75"/>
                </a:solidFill>
                <a:latin typeface="Arial"/>
                <a:ea typeface="Arial"/>
                <a:cs typeface="Arial"/>
              </a:defRPr>
            </a:defPPr>
            <a:lvl1pPr algn="l">
              <a:buNone/>
              <a:defRPr sz="2175" b="1">
                <a:solidFill>
                  <a:srgbClr val="137B75"/>
                </a:solidFill>
                <a:latin typeface="Arial"/>
                <a:ea typeface="Arial"/>
                <a:cs typeface="Arial"/>
              </a:defRPr>
            </a:lvl1pPr>
            <a:lvl2pPr algn="l">
              <a:buNone/>
              <a:defRPr sz="2175" b="1">
                <a:solidFill>
                  <a:srgbClr val="137B75"/>
                </a:solidFill>
                <a:latin typeface="Arial"/>
                <a:ea typeface="Arial"/>
                <a:cs typeface="Arial"/>
              </a:defRPr>
            </a:lvl2pPr>
            <a:lvl3pPr algn="l">
              <a:buNone/>
              <a:defRPr sz="2175" b="1">
                <a:solidFill>
                  <a:srgbClr val="137B75"/>
                </a:solidFill>
                <a:latin typeface="Arial"/>
                <a:ea typeface="Arial"/>
                <a:cs typeface="Arial"/>
              </a:defRPr>
            </a:lvl3pPr>
            <a:lvl4pPr algn="l">
              <a:buNone/>
              <a:defRPr sz="2175" b="1">
                <a:solidFill>
                  <a:srgbClr val="137B75"/>
                </a:solidFill>
                <a:latin typeface="Arial"/>
                <a:ea typeface="Arial"/>
                <a:cs typeface="Arial"/>
              </a:defRPr>
            </a:lvl4pPr>
            <a:lvl5pPr algn="l">
              <a:buNone/>
              <a:defRPr sz="2175" b="1">
                <a:solidFill>
                  <a:srgbClr val="137B75"/>
                </a:solidFill>
                <a:latin typeface="Arial"/>
                <a:ea typeface="Arial"/>
                <a:cs typeface="Arial"/>
              </a:defRPr>
            </a:lvl5pPr>
            <a:lvl6pPr algn="l">
              <a:buNone/>
              <a:defRPr sz="2175" b="1">
                <a:solidFill>
                  <a:srgbClr val="137B75"/>
                </a:solidFill>
                <a:latin typeface="Arial"/>
                <a:ea typeface="Arial"/>
                <a:cs typeface="Arial"/>
              </a:defRPr>
            </a:lvl6pPr>
            <a:lvl7pPr algn="l">
              <a:buNone/>
              <a:defRPr sz="2175" b="1">
                <a:solidFill>
                  <a:srgbClr val="137B75"/>
                </a:solidFill>
                <a:latin typeface="Arial"/>
                <a:ea typeface="Arial"/>
                <a:cs typeface="Arial"/>
              </a:defRPr>
            </a:lvl7pPr>
            <a:lvl8pPr algn="l">
              <a:buNone/>
              <a:defRPr sz="2175" b="1">
                <a:solidFill>
                  <a:srgbClr val="137B75"/>
                </a:solidFill>
                <a:latin typeface="Arial"/>
                <a:ea typeface="Arial"/>
                <a:cs typeface="Arial"/>
              </a:defRPr>
            </a:lvl8pPr>
            <a:lvl9pPr algn="l">
              <a:buNone/>
              <a:defRPr sz="2175" b="1">
                <a:solidFill>
                  <a:srgbClr val="137B75"/>
                </a:solidFill>
                <a:latin typeface="Arial"/>
                <a:ea typeface="Arial"/>
                <a:cs typeface="Arial"/>
              </a:defRPr>
            </a:lvl9pPr>
          </a:lstStyle>
          <a:p xmlns:a="http://schemas.openxmlformats.org/drawingml/2006/main">
            <a:pPr algn="l">
              <a:buNone/>
              <a:defRPr sz="2175" b="1">
                <a:solidFill>
                  <a:srgbClr val="137B75"/>
                </a:solidFill>
                <a:latin typeface="Arial"/>
                <a:ea typeface="Arial"/>
                <a:cs typeface="Arial"/>
              </a:defRPr>
            </a:pPr>
            <a:r>
              <a:rPr sz="2175" b="1">
                <a:solidFill>
                  <a:srgbClr val="137B75"/>
                </a:solidFill>
                <a:latin typeface="Arial"/>
                <a:ea typeface="Arial"/>
                <a:cs typeface="Arial"/>
              </a:rPr>
              <a:t>Respond to failures</a:t>
            </a:r>
          </a:p>
        </p:txBody>
      </p:sp>
      <p:sp>
        <p:nvSpPr>
          <p:cNvPr id="8" name="text-7">
            <a:extLst xmlns:a="http://schemas.openxmlformats.org/drawingml/2006/main">
              <a:ext uri="{FF2B5EF4-FFF2-40B4-BE49-F238E27FC236}">
                <a16:creationId xmlns:a16="http://schemas.microsoft.com/office/drawing/2014/main" id="{04887401-1811-4ECC-848B-697497027F9E}"/>
              </a:ext>
            </a:extLst>
          </p:cNvPr>
          <p:cNvSpPr>
            <a:spLocks xmlns:a="http://schemas.openxmlformats.org/drawingml/2006/main" noGrp="1"/>
          </p:cNvSpPr>
          <p:nvPr/>
        </p:nvSpPr>
        <p:spPr>
          <a:xfrm xmlns:a="http://schemas.openxmlformats.org/drawingml/2006/main">
            <a:off x="4305300" y="5143500"/>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Exclude failed backends</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and detect recovery.</a:t>
            </a:r>
          </a:p>
        </p:txBody>
      </p:sp>
      <p:sp>
        <p:nvSpPr>
          <p:cNvPr id="9" name="text-8">
            <a:extLst xmlns:a="http://schemas.openxmlformats.org/drawingml/2006/main">
              <a:ext uri="{FF2B5EF4-FFF2-40B4-BE49-F238E27FC236}">
                <a16:creationId xmlns:a16="http://schemas.microsoft.com/office/drawing/2014/main" id="{09D95B4A-F6E9-4C90-930F-8913A1577F08}"/>
              </a:ext>
            </a:extLst>
          </p:cNvPr>
          <p:cNvSpPr>
            <a:spLocks xmlns:a="http://schemas.openxmlformats.org/drawingml/2006/main" noGrp="1"/>
          </p:cNvSpPr>
          <p:nvPr/>
        </p:nvSpPr>
        <p:spPr>
          <a:xfrm xmlns:a="http://schemas.openxmlformats.org/drawingml/2006/main">
            <a:off x="8096250" y="460057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7B75"/>
                </a:solidFill>
                <a:latin typeface="Arial"/>
                <a:ea typeface="Arial"/>
                <a:cs typeface="Arial"/>
              </a:defRPr>
            </a:defPPr>
            <a:lvl1pPr algn="l">
              <a:buNone/>
              <a:defRPr sz="2175" b="1">
                <a:solidFill>
                  <a:srgbClr val="137B75"/>
                </a:solidFill>
                <a:latin typeface="Arial"/>
                <a:ea typeface="Arial"/>
                <a:cs typeface="Arial"/>
              </a:defRPr>
            </a:lvl1pPr>
            <a:lvl2pPr algn="l">
              <a:buNone/>
              <a:defRPr sz="2175" b="1">
                <a:solidFill>
                  <a:srgbClr val="137B75"/>
                </a:solidFill>
                <a:latin typeface="Arial"/>
                <a:ea typeface="Arial"/>
                <a:cs typeface="Arial"/>
              </a:defRPr>
            </a:lvl2pPr>
            <a:lvl3pPr algn="l">
              <a:buNone/>
              <a:defRPr sz="2175" b="1">
                <a:solidFill>
                  <a:srgbClr val="137B75"/>
                </a:solidFill>
                <a:latin typeface="Arial"/>
                <a:ea typeface="Arial"/>
                <a:cs typeface="Arial"/>
              </a:defRPr>
            </a:lvl3pPr>
            <a:lvl4pPr algn="l">
              <a:buNone/>
              <a:defRPr sz="2175" b="1">
                <a:solidFill>
                  <a:srgbClr val="137B75"/>
                </a:solidFill>
                <a:latin typeface="Arial"/>
                <a:ea typeface="Arial"/>
                <a:cs typeface="Arial"/>
              </a:defRPr>
            </a:lvl4pPr>
            <a:lvl5pPr algn="l">
              <a:buNone/>
              <a:defRPr sz="2175" b="1">
                <a:solidFill>
                  <a:srgbClr val="137B75"/>
                </a:solidFill>
                <a:latin typeface="Arial"/>
                <a:ea typeface="Arial"/>
                <a:cs typeface="Arial"/>
              </a:defRPr>
            </a:lvl5pPr>
            <a:lvl6pPr algn="l">
              <a:buNone/>
              <a:defRPr sz="2175" b="1">
                <a:solidFill>
                  <a:srgbClr val="137B75"/>
                </a:solidFill>
                <a:latin typeface="Arial"/>
                <a:ea typeface="Arial"/>
                <a:cs typeface="Arial"/>
              </a:defRPr>
            </a:lvl6pPr>
            <a:lvl7pPr algn="l">
              <a:buNone/>
              <a:defRPr sz="2175" b="1">
                <a:solidFill>
                  <a:srgbClr val="137B75"/>
                </a:solidFill>
                <a:latin typeface="Arial"/>
                <a:ea typeface="Arial"/>
                <a:cs typeface="Arial"/>
              </a:defRPr>
            </a:lvl7pPr>
            <a:lvl8pPr algn="l">
              <a:buNone/>
              <a:defRPr sz="2175" b="1">
                <a:solidFill>
                  <a:srgbClr val="137B75"/>
                </a:solidFill>
                <a:latin typeface="Arial"/>
                <a:ea typeface="Arial"/>
                <a:cs typeface="Arial"/>
              </a:defRPr>
            </a:lvl8pPr>
            <a:lvl9pPr algn="l">
              <a:buNone/>
              <a:defRPr sz="2175" b="1">
                <a:solidFill>
                  <a:srgbClr val="137B75"/>
                </a:solidFill>
                <a:latin typeface="Arial"/>
                <a:ea typeface="Arial"/>
                <a:cs typeface="Arial"/>
              </a:defRPr>
            </a:lvl9pPr>
          </a:lstStyle>
          <a:p xmlns:a="http://schemas.openxmlformats.org/drawingml/2006/main">
            <a:pPr algn="l">
              <a:buNone/>
              <a:defRPr sz="2175" b="1">
                <a:solidFill>
                  <a:srgbClr val="137B75"/>
                </a:solidFill>
                <a:latin typeface="Arial"/>
                <a:ea typeface="Arial"/>
                <a:cs typeface="Arial"/>
              </a:defRPr>
            </a:pPr>
            <a:r>
              <a:rPr sz="2175" b="1">
                <a:solidFill>
                  <a:srgbClr val="137B75"/>
                </a:solidFill>
                <a:latin typeface="Arial"/>
                <a:ea typeface="Arial"/>
                <a:cs typeface="Arial"/>
              </a:rPr>
              <a:t>Make behavior visible</a:t>
            </a:r>
          </a:p>
        </p:txBody>
      </p:sp>
      <p:sp>
        <p:nvSpPr>
          <p:cNvPr id="10" name="text-9">
            <a:extLst xmlns:a="http://schemas.openxmlformats.org/drawingml/2006/main">
              <a:ext uri="{FF2B5EF4-FFF2-40B4-BE49-F238E27FC236}">
                <a16:creationId xmlns:a16="http://schemas.microsoft.com/office/drawing/2014/main" id="{708F6710-2420-4934-BDBD-FA7583175B9C}"/>
              </a:ext>
            </a:extLst>
          </p:cNvPr>
          <p:cNvSpPr>
            <a:spLocks xmlns:a="http://schemas.openxmlformats.org/drawingml/2006/main" noGrp="1"/>
          </p:cNvSpPr>
          <p:nvPr/>
        </p:nvSpPr>
        <p:spPr>
          <a:xfrm xmlns:a="http://schemas.openxmlformats.org/drawingml/2006/main">
            <a:off x="8096250" y="514350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Show live metrics and</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structured request logs.</a:t>
            </a:r>
          </a:p>
        </p:txBody>
      </p:sp>
    </p:spTree>
    <p:extLst>
      <p:ext uri="{BB962C8B-B14F-4D97-AF65-F5344CB8AC3E}">
        <p14:creationId xmlns:p14="http://schemas.microsoft.com/office/powerpoint/2010/main" val="7153824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B3CD1CA-97FF-4AE3-9364-5DC21C768BA3}"/>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System architecture</a:t>
            </a:r>
          </a:p>
        </p:txBody>
      </p:sp>
      <p:sp>
        <p:nvSpPr>
          <p:cNvPr id="2" name="text-1">
            <a:extLst xmlns:a="http://schemas.openxmlformats.org/drawingml/2006/main">
              <a:ext uri="{FF2B5EF4-FFF2-40B4-BE49-F238E27FC236}">
                <a16:creationId xmlns:a16="http://schemas.microsoft.com/office/drawing/2014/main" id="{996547F9-A6A2-4F91-89B1-00BA449B17E2}"/>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2782A8D8-A487-48D2-8C92-2CA2E559279B}"/>
              </a:ext>
            </a:extLst>
          </p:cNvPr>
          <p:cNvPicPr>
            <a:picLocks xmlns:a="http://schemas.openxmlformats.org/drawingml/2006/main" noChangeAspect="1"/>
          </p:cNvPicPr>
          <p:nvPr/>
        </p:nvPicPr>
        <p:blipFill>
          <a:blip xmlns:r="http://schemas.openxmlformats.org/officeDocument/2006/relationships" xmlns:a="http://schemas.openxmlformats.org/drawingml/2006/main" r:embed="R93ada50cde86487a"/>
          <a:stretch xmlns:a="http://schemas.openxmlformats.org/drawingml/2006/main"/>
        </p:blipFill>
        <p:spPr>
          <a:xfrm xmlns:a="http://schemas.openxmlformats.org/drawingml/2006/main">
            <a:off x="459849" y="1438275"/>
            <a:ext cx="11272302" cy="469582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7BC97388-23F5-4386-BE53-FD693183AB64}"/>
              </a:ext>
            </a:extLst>
          </p:cNvPr>
          <p:cNvSpPr>
            <a:spLocks xmlns:a="http://schemas.openxmlformats.org/drawingml/2006/main" noGrp="1"/>
          </p:cNvSpPr>
          <p:nvPr/>
        </p:nvSpPr>
        <p:spPr>
          <a:xfrm xmlns:a="http://schemas.openxmlformats.org/drawingml/2006/main">
            <a:off x="628650" y="599122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37B75"/>
                </a:solidFill>
                <a:latin typeface="Arial"/>
                <a:ea typeface="Arial"/>
                <a:cs typeface="Arial"/>
              </a:defRPr>
            </a:defPPr>
            <a:lvl1pPr algn="l">
              <a:buNone/>
              <a:defRPr sz="1800" b="1">
                <a:solidFill>
                  <a:srgbClr val="137B75"/>
                </a:solidFill>
                <a:latin typeface="Arial"/>
                <a:ea typeface="Arial"/>
                <a:cs typeface="Arial"/>
              </a:defRPr>
            </a:lvl1pPr>
            <a:lvl2pPr algn="l">
              <a:buNone/>
              <a:defRPr sz="1800" b="1">
                <a:solidFill>
                  <a:srgbClr val="137B75"/>
                </a:solidFill>
                <a:latin typeface="Arial"/>
                <a:ea typeface="Arial"/>
                <a:cs typeface="Arial"/>
              </a:defRPr>
            </a:lvl2pPr>
            <a:lvl3pPr algn="l">
              <a:buNone/>
              <a:defRPr sz="1800" b="1">
                <a:solidFill>
                  <a:srgbClr val="137B75"/>
                </a:solidFill>
                <a:latin typeface="Arial"/>
                <a:ea typeface="Arial"/>
                <a:cs typeface="Arial"/>
              </a:defRPr>
            </a:lvl3pPr>
            <a:lvl4pPr algn="l">
              <a:buNone/>
              <a:defRPr sz="1800" b="1">
                <a:solidFill>
                  <a:srgbClr val="137B75"/>
                </a:solidFill>
                <a:latin typeface="Arial"/>
                <a:ea typeface="Arial"/>
                <a:cs typeface="Arial"/>
              </a:defRPr>
            </a:lvl4pPr>
            <a:lvl5pPr algn="l">
              <a:buNone/>
              <a:defRPr sz="1800" b="1">
                <a:solidFill>
                  <a:srgbClr val="137B75"/>
                </a:solidFill>
                <a:latin typeface="Arial"/>
                <a:ea typeface="Arial"/>
                <a:cs typeface="Arial"/>
              </a:defRPr>
            </a:lvl5pPr>
            <a:lvl6pPr algn="l">
              <a:buNone/>
              <a:defRPr sz="1800" b="1">
                <a:solidFill>
                  <a:srgbClr val="137B75"/>
                </a:solidFill>
                <a:latin typeface="Arial"/>
                <a:ea typeface="Arial"/>
                <a:cs typeface="Arial"/>
              </a:defRPr>
            </a:lvl6pPr>
            <a:lvl7pPr algn="l">
              <a:buNone/>
              <a:defRPr sz="1800" b="1">
                <a:solidFill>
                  <a:srgbClr val="137B75"/>
                </a:solidFill>
                <a:latin typeface="Arial"/>
                <a:ea typeface="Arial"/>
                <a:cs typeface="Arial"/>
              </a:defRPr>
            </a:lvl7pPr>
            <a:lvl8pPr algn="l">
              <a:buNone/>
              <a:defRPr sz="1800" b="1">
                <a:solidFill>
                  <a:srgbClr val="137B75"/>
                </a:solidFill>
                <a:latin typeface="Arial"/>
                <a:ea typeface="Arial"/>
                <a:cs typeface="Arial"/>
              </a:defRPr>
            </a:lvl8pPr>
            <a:lvl9pPr algn="l">
              <a:buNone/>
              <a:defRPr sz="1800" b="1">
                <a:solidFill>
                  <a:srgbClr val="137B75"/>
                </a:solidFill>
                <a:latin typeface="Arial"/>
                <a:ea typeface="Arial"/>
                <a:cs typeface="Arial"/>
              </a:defRPr>
            </a:lvl9pPr>
          </a:lstStyle>
          <a:p xmlns:a="http://schemas.openxmlformats.org/drawingml/2006/main">
            <a:pPr algn="l">
              <a:buNone/>
              <a:defRPr sz="1800" b="1">
                <a:solidFill>
                  <a:srgbClr val="137B75"/>
                </a:solidFill>
                <a:latin typeface="Arial"/>
                <a:ea typeface="Arial"/>
                <a:cs typeface="Arial"/>
              </a:defRPr>
            </a:pPr>
            <a:r>
              <a:rPr sz="1800" b="1">
                <a:solidFill>
                  <a:srgbClr val="137B75"/>
                </a:solidFill>
                <a:latin typeface="Arial"/>
                <a:ea typeface="Arial"/>
                <a:cs typeface="Arial"/>
              </a:rPr>
              <a:t>HTTP path → Layer 7 decision       TCP → reliable byte streams       IP → addressing</a:t>
            </a:r>
          </a:p>
        </p:txBody>
      </p:sp>
    </p:spTree>
    <p:extLst>
      <p:ext uri="{BB962C8B-B14F-4D97-AF65-F5344CB8AC3E}">
        <p14:creationId xmlns:p14="http://schemas.microsoft.com/office/powerpoint/2010/main" val="12713784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7A4D0114-D42F-40F1-A21F-EFE852A34F84}"/>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Journey of an HTTP request</a:t>
            </a:r>
          </a:p>
        </p:txBody>
      </p:sp>
      <p:sp>
        <p:nvSpPr>
          <p:cNvPr id="2" name="text-1">
            <a:extLst xmlns:a="http://schemas.openxmlformats.org/drawingml/2006/main">
              <a:ext uri="{FF2B5EF4-FFF2-40B4-BE49-F238E27FC236}">
                <a16:creationId xmlns:a16="http://schemas.microsoft.com/office/drawing/2014/main" id="{9C388651-DD2D-4F82-9785-3D4D808316FA}"/>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04</a:t>
            </a:r>
          </a:p>
        </p:txBody>
      </p:sp>
      <p:sp>
        <p:nvSpPr>
          <p:cNvPr id="3" name="text-2">
            <a:extLst xmlns:a="http://schemas.openxmlformats.org/drawingml/2006/main">
              <a:ext uri="{FF2B5EF4-FFF2-40B4-BE49-F238E27FC236}">
                <a16:creationId xmlns:a16="http://schemas.microsoft.com/office/drawing/2014/main" id="{AC7A9060-0807-4079-8F6F-65849725F57F}"/>
              </a:ext>
            </a:extLst>
          </p:cNvPr>
          <p:cNvSpPr>
            <a:spLocks xmlns:a="http://schemas.openxmlformats.org/drawingml/2006/main" noGrp="1"/>
          </p:cNvSpPr>
          <p:nvPr/>
        </p:nvSpPr>
        <p:spPr>
          <a:xfrm xmlns:a="http://schemas.openxmlformats.org/drawingml/2006/main">
            <a:off x="647700" y="1609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5"/>
                </a:solidFill>
                <a:latin typeface="Arial"/>
                <a:ea typeface="Arial"/>
                <a:cs typeface="Arial"/>
              </a:defRPr>
            </a:defPPr>
            <a:lvl1pPr algn="l">
              <a:buNone/>
              <a:defRPr sz="2100" b="1">
                <a:solidFill>
                  <a:srgbClr val="137B75"/>
                </a:solidFill>
                <a:latin typeface="Arial"/>
                <a:ea typeface="Arial"/>
                <a:cs typeface="Arial"/>
              </a:defRPr>
            </a:lvl1pPr>
            <a:lvl2pPr algn="l">
              <a:buNone/>
              <a:defRPr sz="2100" b="1">
                <a:solidFill>
                  <a:srgbClr val="137B75"/>
                </a:solidFill>
                <a:latin typeface="Arial"/>
                <a:ea typeface="Arial"/>
                <a:cs typeface="Arial"/>
              </a:defRPr>
            </a:lvl2pPr>
            <a:lvl3pPr algn="l">
              <a:buNone/>
              <a:defRPr sz="2100" b="1">
                <a:solidFill>
                  <a:srgbClr val="137B75"/>
                </a:solidFill>
                <a:latin typeface="Arial"/>
                <a:ea typeface="Arial"/>
                <a:cs typeface="Arial"/>
              </a:defRPr>
            </a:lvl3pPr>
            <a:lvl4pPr algn="l">
              <a:buNone/>
              <a:defRPr sz="2100" b="1">
                <a:solidFill>
                  <a:srgbClr val="137B75"/>
                </a:solidFill>
                <a:latin typeface="Arial"/>
                <a:ea typeface="Arial"/>
                <a:cs typeface="Arial"/>
              </a:defRPr>
            </a:lvl4pPr>
            <a:lvl5pPr algn="l">
              <a:buNone/>
              <a:defRPr sz="2100" b="1">
                <a:solidFill>
                  <a:srgbClr val="137B75"/>
                </a:solidFill>
                <a:latin typeface="Arial"/>
                <a:ea typeface="Arial"/>
                <a:cs typeface="Arial"/>
              </a:defRPr>
            </a:lvl5pPr>
            <a:lvl6pPr algn="l">
              <a:buNone/>
              <a:defRPr sz="2100" b="1">
                <a:solidFill>
                  <a:srgbClr val="137B75"/>
                </a:solidFill>
                <a:latin typeface="Arial"/>
                <a:ea typeface="Arial"/>
                <a:cs typeface="Arial"/>
              </a:defRPr>
            </a:lvl6pPr>
            <a:lvl7pPr algn="l">
              <a:buNone/>
              <a:defRPr sz="2100" b="1">
                <a:solidFill>
                  <a:srgbClr val="137B75"/>
                </a:solidFill>
                <a:latin typeface="Arial"/>
                <a:ea typeface="Arial"/>
                <a:cs typeface="Arial"/>
              </a:defRPr>
            </a:lvl7pPr>
            <a:lvl8pPr algn="l">
              <a:buNone/>
              <a:defRPr sz="2100" b="1">
                <a:solidFill>
                  <a:srgbClr val="137B75"/>
                </a:solidFill>
                <a:latin typeface="Arial"/>
                <a:ea typeface="Arial"/>
                <a:cs typeface="Arial"/>
              </a:defRPr>
            </a:lvl8pPr>
            <a:lvl9pPr algn="l">
              <a:buNone/>
              <a:defRPr sz="2100" b="1">
                <a:solidFill>
                  <a:srgbClr val="137B75"/>
                </a:solidFill>
                <a:latin typeface="Arial"/>
                <a:ea typeface="Arial"/>
                <a:cs typeface="Arial"/>
              </a:defRPr>
            </a:lvl9pPr>
          </a:lstStyle>
          <a:p xmlns:a="http://schemas.openxmlformats.org/drawingml/2006/main">
            <a:pPr algn="l">
              <a:buNone/>
              <a:defRPr sz="2100" b="1">
                <a:solidFill>
                  <a:srgbClr val="137B75"/>
                </a:solidFill>
                <a:latin typeface="Arial"/>
                <a:ea typeface="Arial"/>
                <a:cs typeface="Arial"/>
              </a:defRPr>
            </a:pPr>
            <a:r>
              <a:rPr sz="2100" b="1">
                <a:solidFill>
                  <a:srgbClr val="137B75"/>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57A7CA83-45E4-40DF-BC5C-126D1DB30C84}"/>
              </a:ext>
            </a:extLst>
          </p:cNvPr>
          <p:cNvSpPr>
            <a:spLocks xmlns:a="http://schemas.openxmlformats.org/drawingml/2006/main" noGrp="1"/>
          </p:cNvSpPr>
          <p:nvPr/>
        </p:nvSpPr>
        <p:spPr>
          <a:xfrm xmlns:a="http://schemas.openxmlformats.org/drawingml/2006/main">
            <a:off x="1362075" y="16097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142F40"/>
                </a:solidFill>
                <a:latin typeface="Arial"/>
                <a:ea typeface="Arial"/>
                <a:cs typeface="Arial"/>
              </a:defRPr>
            </a:lvl1pPr>
            <a:lvl2pPr algn="l">
              <a:buNone/>
              <a:defRPr sz="2025" b="1">
                <a:solidFill>
                  <a:srgbClr val="142F40"/>
                </a:solidFill>
                <a:latin typeface="Arial"/>
                <a:ea typeface="Arial"/>
                <a:cs typeface="Arial"/>
              </a:defRPr>
            </a:lvl2pPr>
            <a:lvl3pPr algn="l">
              <a:buNone/>
              <a:defRPr sz="2025" b="1">
                <a:solidFill>
                  <a:srgbClr val="142F40"/>
                </a:solidFill>
                <a:latin typeface="Arial"/>
                <a:ea typeface="Arial"/>
                <a:cs typeface="Arial"/>
              </a:defRPr>
            </a:lvl3pPr>
            <a:lvl4pPr algn="l">
              <a:buNone/>
              <a:defRPr sz="2025" b="1">
                <a:solidFill>
                  <a:srgbClr val="142F40"/>
                </a:solidFill>
                <a:latin typeface="Arial"/>
                <a:ea typeface="Arial"/>
                <a:cs typeface="Arial"/>
              </a:defRPr>
            </a:lvl4pPr>
            <a:lvl5pPr algn="l">
              <a:buNone/>
              <a:defRPr sz="2025" b="1">
                <a:solidFill>
                  <a:srgbClr val="142F40"/>
                </a:solidFill>
                <a:latin typeface="Arial"/>
                <a:ea typeface="Arial"/>
                <a:cs typeface="Arial"/>
              </a:defRPr>
            </a:lvl5pPr>
            <a:lvl6pPr algn="l">
              <a:buNone/>
              <a:defRPr sz="2025" b="1">
                <a:solidFill>
                  <a:srgbClr val="142F40"/>
                </a:solidFill>
                <a:latin typeface="Arial"/>
                <a:ea typeface="Arial"/>
                <a:cs typeface="Arial"/>
              </a:defRPr>
            </a:lvl6pPr>
            <a:lvl7pPr algn="l">
              <a:buNone/>
              <a:defRPr sz="2025" b="1">
                <a:solidFill>
                  <a:srgbClr val="142F40"/>
                </a:solidFill>
                <a:latin typeface="Arial"/>
                <a:ea typeface="Arial"/>
                <a:cs typeface="Arial"/>
              </a:defRPr>
            </a:lvl7pPr>
            <a:lvl8pPr algn="l">
              <a:buNone/>
              <a:defRPr sz="2025" b="1">
                <a:solidFill>
                  <a:srgbClr val="142F40"/>
                </a:solidFill>
                <a:latin typeface="Arial"/>
                <a:ea typeface="Arial"/>
                <a:cs typeface="Arial"/>
              </a:defRPr>
            </a:lvl8pPr>
            <a:lvl9pPr algn="l">
              <a:buNone/>
              <a:defRPr sz="2025" b="1">
                <a:solidFill>
                  <a:srgbClr val="142F40"/>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Accept</a:t>
            </a:r>
          </a:p>
        </p:txBody>
      </p:sp>
      <p:sp>
        <p:nvSpPr>
          <p:cNvPr id="5" name="text-4">
            <a:extLst xmlns:a="http://schemas.openxmlformats.org/drawingml/2006/main">
              <a:ext uri="{FF2B5EF4-FFF2-40B4-BE49-F238E27FC236}">
                <a16:creationId xmlns:a16="http://schemas.microsoft.com/office/drawing/2014/main" id="{C7BCE9E7-8A98-4053-8BEE-A20232A00E8F}"/>
              </a:ext>
            </a:extLst>
          </p:cNvPr>
          <p:cNvSpPr>
            <a:spLocks xmlns:a="http://schemas.openxmlformats.org/drawingml/2006/main" noGrp="1"/>
          </p:cNvSpPr>
          <p:nvPr/>
        </p:nvSpPr>
        <p:spPr>
          <a:xfrm xmlns:a="http://schemas.openxmlformats.org/drawingml/2006/main">
            <a:off x="1362075" y="195262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Receive a client TCP connection.</a:t>
            </a:r>
          </a:p>
        </p:txBody>
      </p:sp>
      <p:sp>
        <p:nvSpPr>
          <p:cNvPr id="6" name="text-5">
            <a:extLst xmlns:a="http://schemas.openxmlformats.org/drawingml/2006/main">
              <a:ext uri="{FF2B5EF4-FFF2-40B4-BE49-F238E27FC236}">
                <a16:creationId xmlns:a16="http://schemas.microsoft.com/office/drawing/2014/main" id="{0FB32A07-EB80-4042-BCA8-4AE8282E5963}"/>
              </a:ext>
            </a:extLst>
          </p:cNvPr>
          <p:cNvSpPr>
            <a:spLocks xmlns:a="http://schemas.openxmlformats.org/drawingml/2006/main" noGrp="1"/>
          </p:cNvSpPr>
          <p:nvPr/>
        </p:nvSpPr>
        <p:spPr>
          <a:xfrm xmlns:a="http://schemas.openxmlformats.org/drawingml/2006/main">
            <a:off x="647700" y="23431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5"/>
                </a:solidFill>
                <a:latin typeface="Arial"/>
                <a:ea typeface="Arial"/>
                <a:cs typeface="Arial"/>
              </a:defRPr>
            </a:defPPr>
            <a:lvl1pPr algn="l">
              <a:buNone/>
              <a:defRPr sz="2100" b="1">
                <a:solidFill>
                  <a:srgbClr val="137B75"/>
                </a:solidFill>
                <a:latin typeface="Arial"/>
                <a:ea typeface="Arial"/>
                <a:cs typeface="Arial"/>
              </a:defRPr>
            </a:lvl1pPr>
            <a:lvl2pPr algn="l">
              <a:buNone/>
              <a:defRPr sz="2100" b="1">
                <a:solidFill>
                  <a:srgbClr val="137B75"/>
                </a:solidFill>
                <a:latin typeface="Arial"/>
                <a:ea typeface="Arial"/>
                <a:cs typeface="Arial"/>
              </a:defRPr>
            </a:lvl2pPr>
            <a:lvl3pPr algn="l">
              <a:buNone/>
              <a:defRPr sz="2100" b="1">
                <a:solidFill>
                  <a:srgbClr val="137B75"/>
                </a:solidFill>
                <a:latin typeface="Arial"/>
                <a:ea typeface="Arial"/>
                <a:cs typeface="Arial"/>
              </a:defRPr>
            </a:lvl3pPr>
            <a:lvl4pPr algn="l">
              <a:buNone/>
              <a:defRPr sz="2100" b="1">
                <a:solidFill>
                  <a:srgbClr val="137B75"/>
                </a:solidFill>
                <a:latin typeface="Arial"/>
                <a:ea typeface="Arial"/>
                <a:cs typeface="Arial"/>
              </a:defRPr>
            </a:lvl4pPr>
            <a:lvl5pPr algn="l">
              <a:buNone/>
              <a:defRPr sz="2100" b="1">
                <a:solidFill>
                  <a:srgbClr val="137B75"/>
                </a:solidFill>
                <a:latin typeface="Arial"/>
                <a:ea typeface="Arial"/>
                <a:cs typeface="Arial"/>
              </a:defRPr>
            </a:lvl5pPr>
            <a:lvl6pPr algn="l">
              <a:buNone/>
              <a:defRPr sz="2100" b="1">
                <a:solidFill>
                  <a:srgbClr val="137B75"/>
                </a:solidFill>
                <a:latin typeface="Arial"/>
                <a:ea typeface="Arial"/>
                <a:cs typeface="Arial"/>
              </a:defRPr>
            </a:lvl6pPr>
            <a:lvl7pPr algn="l">
              <a:buNone/>
              <a:defRPr sz="2100" b="1">
                <a:solidFill>
                  <a:srgbClr val="137B75"/>
                </a:solidFill>
                <a:latin typeface="Arial"/>
                <a:ea typeface="Arial"/>
                <a:cs typeface="Arial"/>
              </a:defRPr>
            </a:lvl7pPr>
            <a:lvl8pPr algn="l">
              <a:buNone/>
              <a:defRPr sz="2100" b="1">
                <a:solidFill>
                  <a:srgbClr val="137B75"/>
                </a:solidFill>
                <a:latin typeface="Arial"/>
                <a:ea typeface="Arial"/>
                <a:cs typeface="Arial"/>
              </a:defRPr>
            </a:lvl8pPr>
            <a:lvl9pPr algn="l">
              <a:buNone/>
              <a:defRPr sz="2100" b="1">
                <a:solidFill>
                  <a:srgbClr val="137B75"/>
                </a:solidFill>
                <a:latin typeface="Arial"/>
                <a:ea typeface="Arial"/>
                <a:cs typeface="Arial"/>
              </a:defRPr>
            </a:lvl9pPr>
          </a:lstStyle>
          <a:p xmlns:a="http://schemas.openxmlformats.org/drawingml/2006/main">
            <a:pPr algn="l">
              <a:buNone/>
              <a:defRPr sz="2100" b="1">
                <a:solidFill>
                  <a:srgbClr val="137B75"/>
                </a:solidFill>
                <a:latin typeface="Arial"/>
                <a:ea typeface="Arial"/>
                <a:cs typeface="Arial"/>
              </a:defRPr>
            </a:pPr>
            <a:r>
              <a:rPr sz="2100" b="1">
                <a:solidFill>
                  <a:srgbClr val="137B75"/>
                </a:solidFill>
                <a:latin typeface="Arial"/>
                <a:ea typeface="Arial"/>
                <a:cs typeface="Arial"/>
              </a:rPr>
              <a:t>02</a:t>
            </a:r>
          </a:p>
        </p:txBody>
      </p:sp>
      <p:sp>
        <p:nvSpPr>
          <p:cNvPr id="7" name="text-6">
            <a:extLst xmlns:a="http://schemas.openxmlformats.org/drawingml/2006/main">
              <a:ext uri="{FF2B5EF4-FFF2-40B4-BE49-F238E27FC236}">
                <a16:creationId xmlns:a16="http://schemas.microsoft.com/office/drawing/2014/main" id="{6DF52CF8-0D5F-4119-8FDB-ABA08E157A0B}"/>
              </a:ext>
            </a:extLst>
          </p:cNvPr>
          <p:cNvSpPr>
            <a:spLocks xmlns:a="http://schemas.openxmlformats.org/drawingml/2006/main" noGrp="1"/>
          </p:cNvSpPr>
          <p:nvPr/>
        </p:nvSpPr>
        <p:spPr>
          <a:xfrm xmlns:a="http://schemas.openxmlformats.org/drawingml/2006/main">
            <a:off x="1362075" y="23431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142F40"/>
                </a:solidFill>
                <a:latin typeface="Arial"/>
                <a:ea typeface="Arial"/>
                <a:cs typeface="Arial"/>
              </a:defRPr>
            </a:lvl1pPr>
            <a:lvl2pPr algn="l">
              <a:buNone/>
              <a:defRPr sz="2025" b="1">
                <a:solidFill>
                  <a:srgbClr val="142F40"/>
                </a:solidFill>
                <a:latin typeface="Arial"/>
                <a:ea typeface="Arial"/>
                <a:cs typeface="Arial"/>
              </a:defRPr>
            </a:lvl2pPr>
            <a:lvl3pPr algn="l">
              <a:buNone/>
              <a:defRPr sz="2025" b="1">
                <a:solidFill>
                  <a:srgbClr val="142F40"/>
                </a:solidFill>
                <a:latin typeface="Arial"/>
                <a:ea typeface="Arial"/>
                <a:cs typeface="Arial"/>
              </a:defRPr>
            </a:lvl3pPr>
            <a:lvl4pPr algn="l">
              <a:buNone/>
              <a:defRPr sz="2025" b="1">
                <a:solidFill>
                  <a:srgbClr val="142F40"/>
                </a:solidFill>
                <a:latin typeface="Arial"/>
                <a:ea typeface="Arial"/>
                <a:cs typeface="Arial"/>
              </a:defRPr>
            </a:lvl4pPr>
            <a:lvl5pPr algn="l">
              <a:buNone/>
              <a:defRPr sz="2025" b="1">
                <a:solidFill>
                  <a:srgbClr val="142F40"/>
                </a:solidFill>
                <a:latin typeface="Arial"/>
                <a:ea typeface="Arial"/>
                <a:cs typeface="Arial"/>
              </a:defRPr>
            </a:lvl5pPr>
            <a:lvl6pPr algn="l">
              <a:buNone/>
              <a:defRPr sz="2025" b="1">
                <a:solidFill>
                  <a:srgbClr val="142F40"/>
                </a:solidFill>
                <a:latin typeface="Arial"/>
                <a:ea typeface="Arial"/>
                <a:cs typeface="Arial"/>
              </a:defRPr>
            </a:lvl6pPr>
            <a:lvl7pPr algn="l">
              <a:buNone/>
              <a:defRPr sz="2025" b="1">
                <a:solidFill>
                  <a:srgbClr val="142F40"/>
                </a:solidFill>
                <a:latin typeface="Arial"/>
                <a:ea typeface="Arial"/>
                <a:cs typeface="Arial"/>
              </a:defRPr>
            </a:lvl7pPr>
            <a:lvl8pPr algn="l">
              <a:buNone/>
              <a:defRPr sz="2025" b="1">
                <a:solidFill>
                  <a:srgbClr val="142F40"/>
                </a:solidFill>
                <a:latin typeface="Arial"/>
                <a:ea typeface="Arial"/>
                <a:cs typeface="Arial"/>
              </a:defRPr>
            </a:lvl8pPr>
            <a:lvl9pPr algn="l">
              <a:buNone/>
              <a:defRPr sz="2025" b="1">
                <a:solidFill>
                  <a:srgbClr val="142F40"/>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Parse</a:t>
            </a:r>
          </a:p>
        </p:txBody>
      </p:sp>
      <p:sp>
        <p:nvSpPr>
          <p:cNvPr id="8" name="text-7">
            <a:extLst xmlns:a="http://schemas.openxmlformats.org/drawingml/2006/main">
              <a:ext uri="{FF2B5EF4-FFF2-40B4-BE49-F238E27FC236}">
                <a16:creationId xmlns:a16="http://schemas.microsoft.com/office/drawing/2014/main" id="{C5674DFE-6F78-43AD-A304-0B70AB3EB477}"/>
              </a:ext>
            </a:extLst>
          </p:cNvPr>
          <p:cNvSpPr>
            <a:spLocks xmlns:a="http://schemas.openxmlformats.org/drawingml/2006/main" noGrp="1"/>
          </p:cNvSpPr>
          <p:nvPr/>
        </p:nvSpPr>
        <p:spPr>
          <a:xfrm xmlns:a="http://schemas.openxmlformats.org/drawingml/2006/main">
            <a:off x="1362075" y="268605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Read the method, path and headers.</a:t>
            </a:r>
          </a:p>
        </p:txBody>
      </p:sp>
      <p:sp>
        <p:nvSpPr>
          <p:cNvPr id="9" name="text-8">
            <a:extLst xmlns:a="http://schemas.openxmlformats.org/drawingml/2006/main">
              <a:ext uri="{FF2B5EF4-FFF2-40B4-BE49-F238E27FC236}">
                <a16:creationId xmlns:a16="http://schemas.microsoft.com/office/drawing/2014/main" id="{4B1D3218-1FBC-46D7-814A-1E4378405223}"/>
              </a:ext>
            </a:extLst>
          </p:cNvPr>
          <p:cNvSpPr>
            <a:spLocks xmlns:a="http://schemas.openxmlformats.org/drawingml/2006/main" noGrp="1"/>
          </p:cNvSpPr>
          <p:nvPr/>
        </p:nvSpPr>
        <p:spPr>
          <a:xfrm xmlns:a="http://schemas.openxmlformats.org/drawingml/2006/main">
            <a:off x="647700" y="30765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5"/>
                </a:solidFill>
                <a:latin typeface="Arial"/>
                <a:ea typeface="Arial"/>
                <a:cs typeface="Arial"/>
              </a:defRPr>
            </a:defPPr>
            <a:lvl1pPr algn="l">
              <a:buNone/>
              <a:defRPr sz="2100" b="1">
                <a:solidFill>
                  <a:srgbClr val="137B75"/>
                </a:solidFill>
                <a:latin typeface="Arial"/>
                <a:ea typeface="Arial"/>
                <a:cs typeface="Arial"/>
              </a:defRPr>
            </a:lvl1pPr>
            <a:lvl2pPr algn="l">
              <a:buNone/>
              <a:defRPr sz="2100" b="1">
                <a:solidFill>
                  <a:srgbClr val="137B75"/>
                </a:solidFill>
                <a:latin typeface="Arial"/>
                <a:ea typeface="Arial"/>
                <a:cs typeface="Arial"/>
              </a:defRPr>
            </a:lvl2pPr>
            <a:lvl3pPr algn="l">
              <a:buNone/>
              <a:defRPr sz="2100" b="1">
                <a:solidFill>
                  <a:srgbClr val="137B75"/>
                </a:solidFill>
                <a:latin typeface="Arial"/>
                <a:ea typeface="Arial"/>
                <a:cs typeface="Arial"/>
              </a:defRPr>
            </a:lvl3pPr>
            <a:lvl4pPr algn="l">
              <a:buNone/>
              <a:defRPr sz="2100" b="1">
                <a:solidFill>
                  <a:srgbClr val="137B75"/>
                </a:solidFill>
                <a:latin typeface="Arial"/>
                <a:ea typeface="Arial"/>
                <a:cs typeface="Arial"/>
              </a:defRPr>
            </a:lvl4pPr>
            <a:lvl5pPr algn="l">
              <a:buNone/>
              <a:defRPr sz="2100" b="1">
                <a:solidFill>
                  <a:srgbClr val="137B75"/>
                </a:solidFill>
                <a:latin typeface="Arial"/>
                <a:ea typeface="Arial"/>
                <a:cs typeface="Arial"/>
              </a:defRPr>
            </a:lvl5pPr>
            <a:lvl6pPr algn="l">
              <a:buNone/>
              <a:defRPr sz="2100" b="1">
                <a:solidFill>
                  <a:srgbClr val="137B75"/>
                </a:solidFill>
                <a:latin typeface="Arial"/>
                <a:ea typeface="Arial"/>
                <a:cs typeface="Arial"/>
              </a:defRPr>
            </a:lvl6pPr>
            <a:lvl7pPr algn="l">
              <a:buNone/>
              <a:defRPr sz="2100" b="1">
                <a:solidFill>
                  <a:srgbClr val="137B75"/>
                </a:solidFill>
                <a:latin typeface="Arial"/>
                <a:ea typeface="Arial"/>
                <a:cs typeface="Arial"/>
              </a:defRPr>
            </a:lvl7pPr>
            <a:lvl8pPr algn="l">
              <a:buNone/>
              <a:defRPr sz="2100" b="1">
                <a:solidFill>
                  <a:srgbClr val="137B75"/>
                </a:solidFill>
                <a:latin typeface="Arial"/>
                <a:ea typeface="Arial"/>
                <a:cs typeface="Arial"/>
              </a:defRPr>
            </a:lvl8pPr>
            <a:lvl9pPr algn="l">
              <a:buNone/>
              <a:defRPr sz="2100" b="1">
                <a:solidFill>
                  <a:srgbClr val="137B75"/>
                </a:solidFill>
                <a:latin typeface="Arial"/>
                <a:ea typeface="Arial"/>
                <a:cs typeface="Arial"/>
              </a:defRPr>
            </a:lvl9pPr>
          </a:lstStyle>
          <a:p xmlns:a="http://schemas.openxmlformats.org/drawingml/2006/main">
            <a:pPr algn="l">
              <a:buNone/>
              <a:defRPr sz="2100" b="1">
                <a:solidFill>
                  <a:srgbClr val="137B75"/>
                </a:solidFill>
                <a:latin typeface="Arial"/>
                <a:ea typeface="Arial"/>
                <a:cs typeface="Arial"/>
              </a:defRPr>
            </a:pPr>
            <a:r>
              <a:rPr sz="2100" b="1">
                <a:solidFill>
                  <a:srgbClr val="137B75"/>
                </a:solidFill>
                <a:latin typeface="Arial"/>
                <a:ea typeface="Arial"/>
                <a:cs typeface="Arial"/>
              </a:rPr>
              <a:t>03</a:t>
            </a:r>
          </a:p>
        </p:txBody>
      </p:sp>
      <p:sp>
        <p:nvSpPr>
          <p:cNvPr id="10" name="text-9">
            <a:extLst xmlns:a="http://schemas.openxmlformats.org/drawingml/2006/main">
              <a:ext uri="{FF2B5EF4-FFF2-40B4-BE49-F238E27FC236}">
                <a16:creationId xmlns:a16="http://schemas.microsoft.com/office/drawing/2014/main" id="{5963EE83-6888-4DCB-953F-EE62FE87EC62}"/>
              </a:ext>
            </a:extLst>
          </p:cNvPr>
          <p:cNvSpPr>
            <a:spLocks xmlns:a="http://schemas.openxmlformats.org/drawingml/2006/main" noGrp="1"/>
          </p:cNvSpPr>
          <p:nvPr/>
        </p:nvSpPr>
        <p:spPr>
          <a:xfrm xmlns:a="http://schemas.openxmlformats.org/drawingml/2006/main">
            <a:off x="1362075" y="30765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142F40"/>
                </a:solidFill>
                <a:latin typeface="Arial"/>
                <a:ea typeface="Arial"/>
                <a:cs typeface="Arial"/>
              </a:defRPr>
            </a:lvl1pPr>
            <a:lvl2pPr algn="l">
              <a:buNone/>
              <a:defRPr sz="2025" b="1">
                <a:solidFill>
                  <a:srgbClr val="142F40"/>
                </a:solidFill>
                <a:latin typeface="Arial"/>
                <a:ea typeface="Arial"/>
                <a:cs typeface="Arial"/>
              </a:defRPr>
            </a:lvl2pPr>
            <a:lvl3pPr algn="l">
              <a:buNone/>
              <a:defRPr sz="2025" b="1">
                <a:solidFill>
                  <a:srgbClr val="142F40"/>
                </a:solidFill>
                <a:latin typeface="Arial"/>
                <a:ea typeface="Arial"/>
                <a:cs typeface="Arial"/>
              </a:defRPr>
            </a:lvl3pPr>
            <a:lvl4pPr algn="l">
              <a:buNone/>
              <a:defRPr sz="2025" b="1">
                <a:solidFill>
                  <a:srgbClr val="142F40"/>
                </a:solidFill>
                <a:latin typeface="Arial"/>
                <a:ea typeface="Arial"/>
                <a:cs typeface="Arial"/>
              </a:defRPr>
            </a:lvl4pPr>
            <a:lvl5pPr algn="l">
              <a:buNone/>
              <a:defRPr sz="2025" b="1">
                <a:solidFill>
                  <a:srgbClr val="142F40"/>
                </a:solidFill>
                <a:latin typeface="Arial"/>
                <a:ea typeface="Arial"/>
                <a:cs typeface="Arial"/>
              </a:defRPr>
            </a:lvl5pPr>
            <a:lvl6pPr algn="l">
              <a:buNone/>
              <a:defRPr sz="2025" b="1">
                <a:solidFill>
                  <a:srgbClr val="142F40"/>
                </a:solidFill>
                <a:latin typeface="Arial"/>
                <a:ea typeface="Arial"/>
                <a:cs typeface="Arial"/>
              </a:defRPr>
            </a:lvl6pPr>
            <a:lvl7pPr algn="l">
              <a:buNone/>
              <a:defRPr sz="2025" b="1">
                <a:solidFill>
                  <a:srgbClr val="142F40"/>
                </a:solidFill>
                <a:latin typeface="Arial"/>
                <a:ea typeface="Arial"/>
                <a:cs typeface="Arial"/>
              </a:defRPr>
            </a:lvl7pPr>
            <a:lvl8pPr algn="l">
              <a:buNone/>
              <a:defRPr sz="2025" b="1">
                <a:solidFill>
                  <a:srgbClr val="142F40"/>
                </a:solidFill>
                <a:latin typeface="Arial"/>
                <a:ea typeface="Arial"/>
                <a:cs typeface="Arial"/>
              </a:defRPr>
            </a:lvl8pPr>
            <a:lvl9pPr algn="l">
              <a:buNone/>
              <a:defRPr sz="2025" b="1">
                <a:solidFill>
                  <a:srgbClr val="142F40"/>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Route</a:t>
            </a:r>
          </a:p>
        </p:txBody>
      </p:sp>
      <p:sp>
        <p:nvSpPr>
          <p:cNvPr id="11" name="text-10">
            <a:extLst xmlns:a="http://schemas.openxmlformats.org/drawingml/2006/main">
              <a:ext uri="{FF2B5EF4-FFF2-40B4-BE49-F238E27FC236}">
                <a16:creationId xmlns:a16="http://schemas.microsoft.com/office/drawing/2014/main" id="{2031E445-00D1-4601-9D53-D94B156B22CB}"/>
              </a:ext>
            </a:extLst>
          </p:cNvPr>
          <p:cNvSpPr>
            <a:spLocks xmlns:a="http://schemas.openxmlformats.org/drawingml/2006/main" noGrp="1"/>
          </p:cNvSpPr>
          <p:nvPr/>
        </p:nvSpPr>
        <p:spPr>
          <a:xfrm xmlns:a="http://schemas.openxmlformats.org/drawingml/2006/main">
            <a:off x="1362075" y="34194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Match the path to a backend pool.</a:t>
            </a:r>
          </a:p>
        </p:txBody>
      </p:sp>
      <p:sp>
        <p:nvSpPr>
          <p:cNvPr id="12" name="text-11">
            <a:extLst xmlns:a="http://schemas.openxmlformats.org/drawingml/2006/main">
              <a:ext uri="{FF2B5EF4-FFF2-40B4-BE49-F238E27FC236}">
                <a16:creationId xmlns:a16="http://schemas.microsoft.com/office/drawing/2014/main" id="{97070129-6CCA-46CE-8DD8-EE389792DAD8}"/>
              </a:ext>
            </a:extLst>
          </p:cNvPr>
          <p:cNvSpPr>
            <a:spLocks xmlns:a="http://schemas.openxmlformats.org/drawingml/2006/main" noGrp="1"/>
          </p:cNvSpPr>
          <p:nvPr/>
        </p:nvSpPr>
        <p:spPr>
          <a:xfrm xmlns:a="http://schemas.openxmlformats.org/drawingml/2006/main">
            <a:off x="647700" y="38100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5"/>
                </a:solidFill>
                <a:latin typeface="Arial"/>
                <a:ea typeface="Arial"/>
                <a:cs typeface="Arial"/>
              </a:defRPr>
            </a:defPPr>
            <a:lvl1pPr algn="l">
              <a:buNone/>
              <a:defRPr sz="2100" b="1">
                <a:solidFill>
                  <a:srgbClr val="137B75"/>
                </a:solidFill>
                <a:latin typeface="Arial"/>
                <a:ea typeface="Arial"/>
                <a:cs typeface="Arial"/>
              </a:defRPr>
            </a:lvl1pPr>
            <a:lvl2pPr algn="l">
              <a:buNone/>
              <a:defRPr sz="2100" b="1">
                <a:solidFill>
                  <a:srgbClr val="137B75"/>
                </a:solidFill>
                <a:latin typeface="Arial"/>
                <a:ea typeface="Arial"/>
                <a:cs typeface="Arial"/>
              </a:defRPr>
            </a:lvl2pPr>
            <a:lvl3pPr algn="l">
              <a:buNone/>
              <a:defRPr sz="2100" b="1">
                <a:solidFill>
                  <a:srgbClr val="137B75"/>
                </a:solidFill>
                <a:latin typeface="Arial"/>
                <a:ea typeface="Arial"/>
                <a:cs typeface="Arial"/>
              </a:defRPr>
            </a:lvl3pPr>
            <a:lvl4pPr algn="l">
              <a:buNone/>
              <a:defRPr sz="2100" b="1">
                <a:solidFill>
                  <a:srgbClr val="137B75"/>
                </a:solidFill>
                <a:latin typeface="Arial"/>
                <a:ea typeface="Arial"/>
                <a:cs typeface="Arial"/>
              </a:defRPr>
            </a:lvl4pPr>
            <a:lvl5pPr algn="l">
              <a:buNone/>
              <a:defRPr sz="2100" b="1">
                <a:solidFill>
                  <a:srgbClr val="137B75"/>
                </a:solidFill>
                <a:latin typeface="Arial"/>
                <a:ea typeface="Arial"/>
                <a:cs typeface="Arial"/>
              </a:defRPr>
            </a:lvl5pPr>
            <a:lvl6pPr algn="l">
              <a:buNone/>
              <a:defRPr sz="2100" b="1">
                <a:solidFill>
                  <a:srgbClr val="137B75"/>
                </a:solidFill>
                <a:latin typeface="Arial"/>
                <a:ea typeface="Arial"/>
                <a:cs typeface="Arial"/>
              </a:defRPr>
            </a:lvl6pPr>
            <a:lvl7pPr algn="l">
              <a:buNone/>
              <a:defRPr sz="2100" b="1">
                <a:solidFill>
                  <a:srgbClr val="137B75"/>
                </a:solidFill>
                <a:latin typeface="Arial"/>
                <a:ea typeface="Arial"/>
                <a:cs typeface="Arial"/>
              </a:defRPr>
            </a:lvl7pPr>
            <a:lvl8pPr algn="l">
              <a:buNone/>
              <a:defRPr sz="2100" b="1">
                <a:solidFill>
                  <a:srgbClr val="137B75"/>
                </a:solidFill>
                <a:latin typeface="Arial"/>
                <a:ea typeface="Arial"/>
                <a:cs typeface="Arial"/>
              </a:defRPr>
            </a:lvl8pPr>
            <a:lvl9pPr algn="l">
              <a:buNone/>
              <a:defRPr sz="2100" b="1">
                <a:solidFill>
                  <a:srgbClr val="137B75"/>
                </a:solidFill>
                <a:latin typeface="Arial"/>
                <a:ea typeface="Arial"/>
                <a:cs typeface="Arial"/>
              </a:defRPr>
            </a:lvl9pPr>
          </a:lstStyle>
          <a:p xmlns:a="http://schemas.openxmlformats.org/drawingml/2006/main">
            <a:pPr algn="l">
              <a:buNone/>
              <a:defRPr sz="2100" b="1">
                <a:solidFill>
                  <a:srgbClr val="137B75"/>
                </a:solidFill>
                <a:latin typeface="Arial"/>
                <a:ea typeface="Arial"/>
                <a:cs typeface="Arial"/>
              </a:defRPr>
            </a:pPr>
            <a:r>
              <a:rPr sz="2100" b="1">
                <a:solidFill>
                  <a:srgbClr val="137B75"/>
                </a:solidFill>
                <a:latin typeface="Arial"/>
                <a:ea typeface="Arial"/>
                <a:cs typeface="Arial"/>
              </a:rPr>
              <a:t>04</a:t>
            </a:r>
          </a:p>
        </p:txBody>
      </p:sp>
      <p:sp>
        <p:nvSpPr>
          <p:cNvPr id="13" name="text-12">
            <a:extLst xmlns:a="http://schemas.openxmlformats.org/drawingml/2006/main">
              <a:ext uri="{FF2B5EF4-FFF2-40B4-BE49-F238E27FC236}">
                <a16:creationId xmlns:a16="http://schemas.microsoft.com/office/drawing/2014/main" id="{DEBBB093-D4E8-4D99-ADBA-4E11927A1BFD}"/>
              </a:ext>
            </a:extLst>
          </p:cNvPr>
          <p:cNvSpPr>
            <a:spLocks xmlns:a="http://schemas.openxmlformats.org/drawingml/2006/main" noGrp="1"/>
          </p:cNvSpPr>
          <p:nvPr/>
        </p:nvSpPr>
        <p:spPr>
          <a:xfrm xmlns:a="http://schemas.openxmlformats.org/drawingml/2006/main">
            <a:off x="1362075" y="38100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142F40"/>
                </a:solidFill>
                <a:latin typeface="Arial"/>
                <a:ea typeface="Arial"/>
                <a:cs typeface="Arial"/>
              </a:defRPr>
            </a:lvl1pPr>
            <a:lvl2pPr algn="l">
              <a:buNone/>
              <a:defRPr sz="2025" b="1">
                <a:solidFill>
                  <a:srgbClr val="142F40"/>
                </a:solidFill>
                <a:latin typeface="Arial"/>
                <a:ea typeface="Arial"/>
                <a:cs typeface="Arial"/>
              </a:defRPr>
            </a:lvl2pPr>
            <a:lvl3pPr algn="l">
              <a:buNone/>
              <a:defRPr sz="2025" b="1">
                <a:solidFill>
                  <a:srgbClr val="142F40"/>
                </a:solidFill>
                <a:latin typeface="Arial"/>
                <a:ea typeface="Arial"/>
                <a:cs typeface="Arial"/>
              </a:defRPr>
            </a:lvl3pPr>
            <a:lvl4pPr algn="l">
              <a:buNone/>
              <a:defRPr sz="2025" b="1">
                <a:solidFill>
                  <a:srgbClr val="142F40"/>
                </a:solidFill>
                <a:latin typeface="Arial"/>
                <a:ea typeface="Arial"/>
                <a:cs typeface="Arial"/>
              </a:defRPr>
            </a:lvl4pPr>
            <a:lvl5pPr algn="l">
              <a:buNone/>
              <a:defRPr sz="2025" b="1">
                <a:solidFill>
                  <a:srgbClr val="142F40"/>
                </a:solidFill>
                <a:latin typeface="Arial"/>
                <a:ea typeface="Arial"/>
                <a:cs typeface="Arial"/>
              </a:defRPr>
            </a:lvl5pPr>
            <a:lvl6pPr algn="l">
              <a:buNone/>
              <a:defRPr sz="2025" b="1">
                <a:solidFill>
                  <a:srgbClr val="142F40"/>
                </a:solidFill>
                <a:latin typeface="Arial"/>
                <a:ea typeface="Arial"/>
                <a:cs typeface="Arial"/>
              </a:defRPr>
            </a:lvl6pPr>
            <a:lvl7pPr algn="l">
              <a:buNone/>
              <a:defRPr sz="2025" b="1">
                <a:solidFill>
                  <a:srgbClr val="142F40"/>
                </a:solidFill>
                <a:latin typeface="Arial"/>
                <a:ea typeface="Arial"/>
                <a:cs typeface="Arial"/>
              </a:defRPr>
            </a:lvl7pPr>
            <a:lvl8pPr algn="l">
              <a:buNone/>
              <a:defRPr sz="2025" b="1">
                <a:solidFill>
                  <a:srgbClr val="142F40"/>
                </a:solidFill>
                <a:latin typeface="Arial"/>
                <a:ea typeface="Arial"/>
                <a:cs typeface="Arial"/>
              </a:defRPr>
            </a:lvl8pPr>
            <a:lvl9pPr algn="l">
              <a:buNone/>
              <a:defRPr sz="2025" b="1">
                <a:solidFill>
                  <a:srgbClr val="142F40"/>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Select</a:t>
            </a:r>
          </a:p>
        </p:txBody>
      </p:sp>
      <p:sp>
        <p:nvSpPr>
          <p:cNvPr id="14" name="text-13">
            <a:extLst xmlns:a="http://schemas.openxmlformats.org/drawingml/2006/main">
              <a:ext uri="{FF2B5EF4-FFF2-40B4-BE49-F238E27FC236}">
                <a16:creationId xmlns:a16="http://schemas.microsoft.com/office/drawing/2014/main" id="{F37E1698-084E-476E-AC59-F90C48A672B4}"/>
              </a:ext>
            </a:extLst>
          </p:cNvPr>
          <p:cNvSpPr>
            <a:spLocks xmlns:a="http://schemas.openxmlformats.org/drawingml/2006/main" noGrp="1"/>
          </p:cNvSpPr>
          <p:nvPr/>
        </p:nvSpPr>
        <p:spPr>
          <a:xfrm xmlns:a="http://schemas.openxmlformats.org/drawingml/2006/main">
            <a:off x="1362075" y="41529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Choose and reserve a healthy backend.</a:t>
            </a:r>
          </a:p>
        </p:txBody>
      </p:sp>
      <p:sp>
        <p:nvSpPr>
          <p:cNvPr id="15" name="text-14">
            <a:extLst xmlns:a="http://schemas.openxmlformats.org/drawingml/2006/main">
              <a:ext uri="{FF2B5EF4-FFF2-40B4-BE49-F238E27FC236}">
                <a16:creationId xmlns:a16="http://schemas.microsoft.com/office/drawing/2014/main" id="{DD004739-1740-433D-8FC3-821C94AC05F1}"/>
              </a:ext>
            </a:extLst>
          </p:cNvPr>
          <p:cNvSpPr>
            <a:spLocks xmlns:a="http://schemas.openxmlformats.org/drawingml/2006/main" noGrp="1"/>
          </p:cNvSpPr>
          <p:nvPr/>
        </p:nvSpPr>
        <p:spPr>
          <a:xfrm xmlns:a="http://schemas.openxmlformats.org/drawingml/2006/main">
            <a:off x="647700" y="45434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5"/>
                </a:solidFill>
                <a:latin typeface="Arial"/>
                <a:ea typeface="Arial"/>
                <a:cs typeface="Arial"/>
              </a:defRPr>
            </a:defPPr>
            <a:lvl1pPr algn="l">
              <a:buNone/>
              <a:defRPr sz="2100" b="1">
                <a:solidFill>
                  <a:srgbClr val="137B75"/>
                </a:solidFill>
                <a:latin typeface="Arial"/>
                <a:ea typeface="Arial"/>
                <a:cs typeface="Arial"/>
              </a:defRPr>
            </a:lvl1pPr>
            <a:lvl2pPr algn="l">
              <a:buNone/>
              <a:defRPr sz="2100" b="1">
                <a:solidFill>
                  <a:srgbClr val="137B75"/>
                </a:solidFill>
                <a:latin typeface="Arial"/>
                <a:ea typeface="Arial"/>
                <a:cs typeface="Arial"/>
              </a:defRPr>
            </a:lvl2pPr>
            <a:lvl3pPr algn="l">
              <a:buNone/>
              <a:defRPr sz="2100" b="1">
                <a:solidFill>
                  <a:srgbClr val="137B75"/>
                </a:solidFill>
                <a:latin typeface="Arial"/>
                <a:ea typeface="Arial"/>
                <a:cs typeface="Arial"/>
              </a:defRPr>
            </a:lvl3pPr>
            <a:lvl4pPr algn="l">
              <a:buNone/>
              <a:defRPr sz="2100" b="1">
                <a:solidFill>
                  <a:srgbClr val="137B75"/>
                </a:solidFill>
                <a:latin typeface="Arial"/>
                <a:ea typeface="Arial"/>
                <a:cs typeface="Arial"/>
              </a:defRPr>
            </a:lvl4pPr>
            <a:lvl5pPr algn="l">
              <a:buNone/>
              <a:defRPr sz="2100" b="1">
                <a:solidFill>
                  <a:srgbClr val="137B75"/>
                </a:solidFill>
                <a:latin typeface="Arial"/>
                <a:ea typeface="Arial"/>
                <a:cs typeface="Arial"/>
              </a:defRPr>
            </a:lvl5pPr>
            <a:lvl6pPr algn="l">
              <a:buNone/>
              <a:defRPr sz="2100" b="1">
                <a:solidFill>
                  <a:srgbClr val="137B75"/>
                </a:solidFill>
                <a:latin typeface="Arial"/>
                <a:ea typeface="Arial"/>
                <a:cs typeface="Arial"/>
              </a:defRPr>
            </a:lvl6pPr>
            <a:lvl7pPr algn="l">
              <a:buNone/>
              <a:defRPr sz="2100" b="1">
                <a:solidFill>
                  <a:srgbClr val="137B75"/>
                </a:solidFill>
                <a:latin typeface="Arial"/>
                <a:ea typeface="Arial"/>
                <a:cs typeface="Arial"/>
              </a:defRPr>
            </a:lvl7pPr>
            <a:lvl8pPr algn="l">
              <a:buNone/>
              <a:defRPr sz="2100" b="1">
                <a:solidFill>
                  <a:srgbClr val="137B75"/>
                </a:solidFill>
                <a:latin typeface="Arial"/>
                <a:ea typeface="Arial"/>
                <a:cs typeface="Arial"/>
              </a:defRPr>
            </a:lvl8pPr>
            <a:lvl9pPr algn="l">
              <a:buNone/>
              <a:defRPr sz="2100" b="1">
                <a:solidFill>
                  <a:srgbClr val="137B75"/>
                </a:solidFill>
                <a:latin typeface="Arial"/>
                <a:ea typeface="Arial"/>
                <a:cs typeface="Arial"/>
              </a:defRPr>
            </a:lvl9pPr>
          </a:lstStyle>
          <a:p xmlns:a="http://schemas.openxmlformats.org/drawingml/2006/main">
            <a:pPr algn="l">
              <a:buNone/>
              <a:defRPr sz="2100" b="1">
                <a:solidFill>
                  <a:srgbClr val="137B75"/>
                </a:solidFill>
                <a:latin typeface="Arial"/>
                <a:ea typeface="Arial"/>
                <a:cs typeface="Arial"/>
              </a:defRPr>
            </a:pPr>
            <a:r>
              <a:rPr sz="2100" b="1">
                <a:solidFill>
                  <a:srgbClr val="137B75"/>
                </a:solidFill>
                <a:latin typeface="Arial"/>
                <a:ea typeface="Arial"/>
                <a:cs typeface="Arial"/>
              </a:rPr>
              <a:t>05</a:t>
            </a:r>
          </a:p>
        </p:txBody>
      </p:sp>
      <p:sp>
        <p:nvSpPr>
          <p:cNvPr id="16" name="text-15">
            <a:extLst xmlns:a="http://schemas.openxmlformats.org/drawingml/2006/main">
              <a:ext uri="{FF2B5EF4-FFF2-40B4-BE49-F238E27FC236}">
                <a16:creationId xmlns:a16="http://schemas.microsoft.com/office/drawing/2014/main" id="{88877F8C-87F9-4350-AC19-6C6AAC6ADE3B}"/>
              </a:ext>
            </a:extLst>
          </p:cNvPr>
          <p:cNvSpPr>
            <a:spLocks xmlns:a="http://schemas.openxmlformats.org/drawingml/2006/main" noGrp="1"/>
          </p:cNvSpPr>
          <p:nvPr/>
        </p:nvSpPr>
        <p:spPr>
          <a:xfrm xmlns:a="http://schemas.openxmlformats.org/drawingml/2006/main">
            <a:off x="1362075" y="45434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142F40"/>
                </a:solidFill>
                <a:latin typeface="Arial"/>
                <a:ea typeface="Arial"/>
                <a:cs typeface="Arial"/>
              </a:defRPr>
            </a:lvl1pPr>
            <a:lvl2pPr algn="l">
              <a:buNone/>
              <a:defRPr sz="2025" b="1">
                <a:solidFill>
                  <a:srgbClr val="142F40"/>
                </a:solidFill>
                <a:latin typeface="Arial"/>
                <a:ea typeface="Arial"/>
                <a:cs typeface="Arial"/>
              </a:defRPr>
            </a:lvl2pPr>
            <a:lvl3pPr algn="l">
              <a:buNone/>
              <a:defRPr sz="2025" b="1">
                <a:solidFill>
                  <a:srgbClr val="142F40"/>
                </a:solidFill>
                <a:latin typeface="Arial"/>
                <a:ea typeface="Arial"/>
                <a:cs typeface="Arial"/>
              </a:defRPr>
            </a:lvl3pPr>
            <a:lvl4pPr algn="l">
              <a:buNone/>
              <a:defRPr sz="2025" b="1">
                <a:solidFill>
                  <a:srgbClr val="142F40"/>
                </a:solidFill>
                <a:latin typeface="Arial"/>
                <a:ea typeface="Arial"/>
                <a:cs typeface="Arial"/>
              </a:defRPr>
            </a:lvl4pPr>
            <a:lvl5pPr algn="l">
              <a:buNone/>
              <a:defRPr sz="2025" b="1">
                <a:solidFill>
                  <a:srgbClr val="142F40"/>
                </a:solidFill>
                <a:latin typeface="Arial"/>
                <a:ea typeface="Arial"/>
                <a:cs typeface="Arial"/>
              </a:defRPr>
            </a:lvl5pPr>
            <a:lvl6pPr algn="l">
              <a:buNone/>
              <a:defRPr sz="2025" b="1">
                <a:solidFill>
                  <a:srgbClr val="142F40"/>
                </a:solidFill>
                <a:latin typeface="Arial"/>
                <a:ea typeface="Arial"/>
                <a:cs typeface="Arial"/>
              </a:defRPr>
            </a:lvl6pPr>
            <a:lvl7pPr algn="l">
              <a:buNone/>
              <a:defRPr sz="2025" b="1">
                <a:solidFill>
                  <a:srgbClr val="142F40"/>
                </a:solidFill>
                <a:latin typeface="Arial"/>
                <a:ea typeface="Arial"/>
                <a:cs typeface="Arial"/>
              </a:defRPr>
            </a:lvl7pPr>
            <a:lvl8pPr algn="l">
              <a:buNone/>
              <a:defRPr sz="2025" b="1">
                <a:solidFill>
                  <a:srgbClr val="142F40"/>
                </a:solidFill>
                <a:latin typeface="Arial"/>
                <a:ea typeface="Arial"/>
                <a:cs typeface="Arial"/>
              </a:defRPr>
            </a:lvl8pPr>
            <a:lvl9pPr algn="l">
              <a:buNone/>
              <a:defRPr sz="2025" b="1">
                <a:solidFill>
                  <a:srgbClr val="142F40"/>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Forward</a:t>
            </a:r>
          </a:p>
        </p:txBody>
      </p:sp>
      <p:sp>
        <p:nvSpPr>
          <p:cNvPr id="17" name="text-16">
            <a:extLst xmlns:a="http://schemas.openxmlformats.org/drawingml/2006/main">
              <a:ext uri="{FF2B5EF4-FFF2-40B4-BE49-F238E27FC236}">
                <a16:creationId xmlns:a16="http://schemas.microsoft.com/office/drawing/2014/main" id="{49817D5E-7557-425B-B7D3-8E2322724C0E}"/>
              </a:ext>
            </a:extLst>
          </p:cNvPr>
          <p:cNvSpPr>
            <a:spLocks xmlns:a="http://schemas.openxmlformats.org/drawingml/2006/main" noGrp="1"/>
          </p:cNvSpPr>
          <p:nvPr/>
        </p:nvSpPr>
        <p:spPr>
          <a:xfrm xmlns:a="http://schemas.openxmlformats.org/drawingml/2006/main">
            <a:off x="1362075" y="488632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Send the request; stream the response.</a:t>
            </a:r>
          </a:p>
        </p:txBody>
      </p:sp>
      <p:sp>
        <p:nvSpPr>
          <p:cNvPr id="18" name="text-17">
            <a:extLst xmlns:a="http://schemas.openxmlformats.org/drawingml/2006/main">
              <a:ext uri="{FF2B5EF4-FFF2-40B4-BE49-F238E27FC236}">
                <a16:creationId xmlns:a16="http://schemas.microsoft.com/office/drawing/2014/main" id="{39D34CD0-50DC-4CEA-A0DE-AD189DC29B24}"/>
              </a:ext>
            </a:extLst>
          </p:cNvPr>
          <p:cNvSpPr>
            <a:spLocks xmlns:a="http://schemas.openxmlformats.org/drawingml/2006/main" noGrp="1"/>
          </p:cNvSpPr>
          <p:nvPr/>
        </p:nvSpPr>
        <p:spPr>
          <a:xfrm xmlns:a="http://schemas.openxmlformats.org/drawingml/2006/main">
            <a:off x="647700" y="52768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5"/>
                </a:solidFill>
                <a:latin typeface="Arial"/>
                <a:ea typeface="Arial"/>
                <a:cs typeface="Arial"/>
              </a:defRPr>
            </a:defPPr>
            <a:lvl1pPr algn="l">
              <a:buNone/>
              <a:defRPr sz="2100" b="1">
                <a:solidFill>
                  <a:srgbClr val="137B75"/>
                </a:solidFill>
                <a:latin typeface="Arial"/>
                <a:ea typeface="Arial"/>
                <a:cs typeface="Arial"/>
              </a:defRPr>
            </a:lvl1pPr>
            <a:lvl2pPr algn="l">
              <a:buNone/>
              <a:defRPr sz="2100" b="1">
                <a:solidFill>
                  <a:srgbClr val="137B75"/>
                </a:solidFill>
                <a:latin typeface="Arial"/>
                <a:ea typeface="Arial"/>
                <a:cs typeface="Arial"/>
              </a:defRPr>
            </a:lvl2pPr>
            <a:lvl3pPr algn="l">
              <a:buNone/>
              <a:defRPr sz="2100" b="1">
                <a:solidFill>
                  <a:srgbClr val="137B75"/>
                </a:solidFill>
                <a:latin typeface="Arial"/>
                <a:ea typeface="Arial"/>
                <a:cs typeface="Arial"/>
              </a:defRPr>
            </a:lvl3pPr>
            <a:lvl4pPr algn="l">
              <a:buNone/>
              <a:defRPr sz="2100" b="1">
                <a:solidFill>
                  <a:srgbClr val="137B75"/>
                </a:solidFill>
                <a:latin typeface="Arial"/>
                <a:ea typeface="Arial"/>
                <a:cs typeface="Arial"/>
              </a:defRPr>
            </a:lvl4pPr>
            <a:lvl5pPr algn="l">
              <a:buNone/>
              <a:defRPr sz="2100" b="1">
                <a:solidFill>
                  <a:srgbClr val="137B75"/>
                </a:solidFill>
                <a:latin typeface="Arial"/>
                <a:ea typeface="Arial"/>
                <a:cs typeface="Arial"/>
              </a:defRPr>
            </a:lvl5pPr>
            <a:lvl6pPr algn="l">
              <a:buNone/>
              <a:defRPr sz="2100" b="1">
                <a:solidFill>
                  <a:srgbClr val="137B75"/>
                </a:solidFill>
                <a:latin typeface="Arial"/>
                <a:ea typeface="Arial"/>
                <a:cs typeface="Arial"/>
              </a:defRPr>
            </a:lvl6pPr>
            <a:lvl7pPr algn="l">
              <a:buNone/>
              <a:defRPr sz="2100" b="1">
                <a:solidFill>
                  <a:srgbClr val="137B75"/>
                </a:solidFill>
                <a:latin typeface="Arial"/>
                <a:ea typeface="Arial"/>
                <a:cs typeface="Arial"/>
              </a:defRPr>
            </a:lvl7pPr>
            <a:lvl8pPr algn="l">
              <a:buNone/>
              <a:defRPr sz="2100" b="1">
                <a:solidFill>
                  <a:srgbClr val="137B75"/>
                </a:solidFill>
                <a:latin typeface="Arial"/>
                <a:ea typeface="Arial"/>
                <a:cs typeface="Arial"/>
              </a:defRPr>
            </a:lvl8pPr>
            <a:lvl9pPr algn="l">
              <a:buNone/>
              <a:defRPr sz="2100" b="1">
                <a:solidFill>
                  <a:srgbClr val="137B75"/>
                </a:solidFill>
                <a:latin typeface="Arial"/>
                <a:ea typeface="Arial"/>
                <a:cs typeface="Arial"/>
              </a:defRPr>
            </a:lvl9pPr>
          </a:lstStyle>
          <a:p xmlns:a="http://schemas.openxmlformats.org/drawingml/2006/main">
            <a:pPr algn="l">
              <a:buNone/>
              <a:defRPr sz="2100" b="1">
                <a:solidFill>
                  <a:srgbClr val="137B75"/>
                </a:solidFill>
                <a:latin typeface="Arial"/>
                <a:ea typeface="Arial"/>
                <a:cs typeface="Arial"/>
              </a:defRPr>
            </a:pPr>
            <a:r>
              <a:rPr sz="2100" b="1">
                <a:solidFill>
                  <a:srgbClr val="137B75"/>
                </a:solidFill>
                <a:latin typeface="Arial"/>
                <a:ea typeface="Arial"/>
                <a:cs typeface="Arial"/>
              </a:rPr>
              <a:t>06</a:t>
            </a:r>
          </a:p>
        </p:txBody>
      </p:sp>
      <p:sp>
        <p:nvSpPr>
          <p:cNvPr id="19" name="text-18">
            <a:extLst xmlns:a="http://schemas.openxmlformats.org/drawingml/2006/main">
              <a:ext uri="{FF2B5EF4-FFF2-40B4-BE49-F238E27FC236}">
                <a16:creationId xmlns:a16="http://schemas.microsoft.com/office/drawing/2014/main" id="{F80935D0-D7B0-4A32-AA62-6B09F4B37FD0}"/>
              </a:ext>
            </a:extLst>
          </p:cNvPr>
          <p:cNvSpPr>
            <a:spLocks xmlns:a="http://schemas.openxmlformats.org/drawingml/2006/main" noGrp="1"/>
          </p:cNvSpPr>
          <p:nvPr/>
        </p:nvSpPr>
        <p:spPr>
          <a:xfrm xmlns:a="http://schemas.openxmlformats.org/drawingml/2006/main">
            <a:off x="1362075" y="52768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142F40"/>
                </a:solidFill>
                <a:latin typeface="Arial"/>
                <a:ea typeface="Arial"/>
                <a:cs typeface="Arial"/>
              </a:defRPr>
            </a:lvl1pPr>
            <a:lvl2pPr algn="l">
              <a:buNone/>
              <a:defRPr sz="2025" b="1">
                <a:solidFill>
                  <a:srgbClr val="142F40"/>
                </a:solidFill>
                <a:latin typeface="Arial"/>
                <a:ea typeface="Arial"/>
                <a:cs typeface="Arial"/>
              </a:defRPr>
            </a:lvl2pPr>
            <a:lvl3pPr algn="l">
              <a:buNone/>
              <a:defRPr sz="2025" b="1">
                <a:solidFill>
                  <a:srgbClr val="142F40"/>
                </a:solidFill>
                <a:latin typeface="Arial"/>
                <a:ea typeface="Arial"/>
                <a:cs typeface="Arial"/>
              </a:defRPr>
            </a:lvl3pPr>
            <a:lvl4pPr algn="l">
              <a:buNone/>
              <a:defRPr sz="2025" b="1">
                <a:solidFill>
                  <a:srgbClr val="142F40"/>
                </a:solidFill>
                <a:latin typeface="Arial"/>
                <a:ea typeface="Arial"/>
                <a:cs typeface="Arial"/>
              </a:defRPr>
            </a:lvl4pPr>
            <a:lvl5pPr algn="l">
              <a:buNone/>
              <a:defRPr sz="2025" b="1">
                <a:solidFill>
                  <a:srgbClr val="142F40"/>
                </a:solidFill>
                <a:latin typeface="Arial"/>
                <a:ea typeface="Arial"/>
                <a:cs typeface="Arial"/>
              </a:defRPr>
            </a:lvl5pPr>
            <a:lvl6pPr algn="l">
              <a:buNone/>
              <a:defRPr sz="2025" b="1">
                <a:solidFill>
                  <a:srgbClr val="142F40"/>
                </a:solidFill>
                <a:latin typeface="Arial"/>
                <a:ea typeface="Arial"/>
                <a:cs typeface="Arial"/>
              </a:defRPr>
            </a:lvl6pPr>
            <a:lvl7pPr algn="l">
              <a:buNone/>
              <a:defRPr sz="2025" b="1">
                <a:solidFill>
                  <a:srgbClr val="142F40"/>
                </a:solidFill>
                <a:latin typeface="Arial"/>
                <a:ea typeface="Arial"/>
                <a:cs typeface="Arial"/>
              </a:defRPr>
            </a:lvl7pPr>
            <a:lvl8pPr algn="l">
              <a:buNone/>
              <a:defRPr sz="2025" b="1">
                <a:solidFill>
                  <a:srgbClr val="142F40"/>
                </a:solidFill>
                <a:latin typeface="Arial"/>
                <a:ea typeface="Arial"/>
                <a:cs typeface="Arial"/>
              </a:defRPr>
            </a:lvl8pPr>
            <a:lvl9pPr algn="l">
              <a:buNone/>
              <a:defRPr sz="2025" b="1">
                <a:solidFill>
                  <a:srgbClr val="142F40"/>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Record</a:t>
            </a:r>
          </a:p>
        </p:txBody>
      </p:sp>
      <p:sp>
        <p:nvSpPr>
          <p:cNvPr id="20" name="text-19">
            <a:extLst xmlns:a="http://schemas.openxmlformats.org/drawingml/2006/main">
              <a:ext uri="{FF2B5EF4-FFF2-40B4-BE49-F238E27FC236}">
                <a16:creationId xmlns:a16="http://schemas.microsoft.com/office/drawing/2014/main" id="{2C963C9E-7210-4D53-802D-C20D74E34676}"/>
              </a:ext>
            </a:extLst>
          </p:cNvPr>
          <p:cNvSpPr>
            <a:spLocks xmlns:a="http://schemas.openxmlformats.org/drawingml/2006/main" noGrp="1"/>
          </p:cNvSpPr>
          <p:nvPr/>
        </p:nvSpPr>
        <p:spPr>
          <a:xfrm xmlns:a="http://schemas.openxmlformats.org/drawingml/2006/main">
            <a:off x="1362075" y="561975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Release the slot and write metrics.</a:t>
            </a:r>
          </a:p>
        </p:txBody>
      </p:sp>
      <p:sp>
        <p:nvSpPr>
          <p:cNvPr id="21" name="text-20">
            <a:extLst xmlns:a="http://schemas.openxmlformats.org/drawingml/2006/main">
              <a:ext uri="{FF2B5EF4-FFF2-40B4-BE49-F238E27FC236}">
                <a16:creationId xmlns:a16="http://schemas.microsoft.com/office/drawing/2014/main" id="{2DF33C6D-90B6-4C8B-B013-110801F2B7CA}"/>
              </a:ext>
            </a:extLst>
          </p:cNvPr>
          <p:cNvSpPr>
            <a:spLocks xmlns:a="http://schemas.openxmlformats.org/drawingml/2006/main" noGrp="1"/>
          </p:cNvSpPr>
          <p:nvPr/>
        </p:nvSpPr>
        <p:spPr>
          <a:xfrm xmlns:a="http://schemas.openxmlformats.org/drawingml/2006/main">
            <a:off x="7181850" y="18288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7B75"/>
                </a:solidFill>
                <a:latin typeface="Arial"/>
                <a:ea typeface="Arial"/>
                <a:cs typeface="Arial"/>
              </a:defRPr>
            </a:defPPr>
            <a:lvl1pPr algn="l">
              <a:buNone/>
              <a:defRPr sz="2025" b="1">
                <a:solidFill>
                  <a:srgbClr val="137B75"/>
                </a:solidFill>
                <a:latin typeface="Arial"/>
                <a:ea typeface="Arial"/>
                <a:cs typeface="Arial"/>
              </a:defRPr>
            </a:lvl1pPr>
            <a:lvl2pPr algn="l">
              <a:buNone/>
              <a:defRPr sz="2025" b="1">
                <a:solidFill>
                  <a:srgbClr val="137B75"/>
                </a:solidFill>
                <a:latin typeface="Arial"/>
                <a:ea typeface="Arial"/>
                <a:cs typeface="Arial"/>
              </a:defRPr>
            </a:lvl2pPr>
            <a:lvl3pPr algn="l">
              <a:buNone/>
              <a:defRPr sz="2025" b="1">
                <a:solidFill>
                  <a:srgbClr val="137B75"/>
                </a:solidFill>
                <a:latin typeface="Arial"/>
                <a:ea typeface="Arial"/>
                <a:cs typeface="Arial"/>
              </a:defRPr>
            </a:lvl3pPr>
            <a:lvl4pPr algn="l">
              <a:buNone/>
              <a:defRPr sz="2025" b="1">
                <a:solidFill>
                  <a:srgbClr val="137B75"/>
                </a:solidFill>
                <a:latin typeface="Arial"/>
                <a:ea typeface="Arial"/>
                <a:cs typeface="Arial"/>
              </a:defRPr>
            </a:lvl4pPr>
            <a:lvl5pPr algn="l">
              <a:buNone/>
              <a:defRPr sz="2025" b="1">
                <a:solidFill>
                  <a:srgbClr val="137B75"/>
                </a:solidFill>
                <a:latin typeface="Arial"/>
                <a:ea typeface="Arial"/>
                <a:cs typeface="Arial"/>
              </a:defRPr>
            </a:lvl5pPr>
            <a:lvl6pPr algn="l">
              <a:buNone/>
              <a:defRPr sz="2025" b="1">
                <a:solidFill>
                  <a:srgbClr val="137B75"/>
                </a:solidFill>
                <a:latin typeface="Arial"/>
                <a:ea typeface="Arial"/>
                <a:cs typeface="Arial"/>
              </a:defRPr>
            </a:lvl6pPr>
            <a:lvl7pPr algn="l">
              <a:buNone/>
              <a:defRPr sz="2025" b="1">
                <a:solidFill>
                  <a:srgbClr val="137B75"/>
                </a:solidFill>
                <a:latin typeface="Arial"/>
                <a:ea typeface="Arial"/>
                <a:cs typeface="Arial"/>
              </a:defRPr>
            </a:lvl7pPr>
            <a:lvl8pPr algn="l">
              <a:buNone/>
              <a:defRPr sz="2025" b="1">
                <a:solidFill>
                  <a:srgbClr val="137B75"/>
                </a:solidFill>
                <a:latin typeface="Arial"/>
                <a:ea typeface="Arial"/>
                <a:cs typeface="Arial"/>
              </a:defRPr>
            </a:lvl8pPr>
            <a:lvl9pPr algn="l">
              <a:buNone/>
              <a:defRPr sz="2025" b="1">
                <a:solidFill>
                  <a:srgbClr val="137B75"/>
                </a:solidFill>
                <a:latin typeface="Arial"/>
                <a:ea typeface="Arial"/>
                <a:cs typeface="Arial"/>
              </a:defRPr>
            </a:lvl9pPr>
          </a:lstStyle>
          <a:p xmlns:a="http://schemas.openxmlformats.org/drawingml/2006/main">
            <a:pPr algn="l">
              <a:buNone/>
              <a:defRPr sz="2025" b="1">
                <a:solidFill>
                  <a:srgbClr val="137B75"/>
                </a:solidFill>
                <a:latin typeface="Arial"/>
                <a:ea typeface="Arial"/>
                <a:cs typeface="Arial"/>
              </a:defRPr>
            </a:pPr>
            <a:r>
              <a:rPr sz="2025" b="1">
                <a:solidFill>
                  <a:srgbClr val="137B75"/>
                </a:solidFill>
                <a:latin typeface="Arial"/>
                <a:ea typeface="Arial"/>
                <a:cs typeface="Arial"/>
              </a:rPr>
              <a:t>Example request</a:t>
            </a:r>
          </a:p>
        </p:txBody>
      </p:sp>
      <p:sp>
        <p:nvSpPr>
          <p:cNvPr id="22" name="text-21">
            <a:extLst xmlns:a="http://schemas.openxmlformats.org/drawingml/2006/main">
              <a:ext uri="{FF2B5EF4-FFF2-40B4-BE49-F238E27FC236}">
                <a16:creationId xmlns:a16="http://schemas.microsoft.com/office/drawing/2014/main" id="{49D45F93-B4B6-46D4-8336-36E2D8D2EA6A}"/>
              </a:ext>
            </a:extLst>
          </p:cNvPr>
          <p:cNvSpPr>
            <a:spLocks xmlns:a="http://schemas.openxmlformats.org/drawingml/2006/main" noGrp="1"/>
          </p:cNvSpPr>
          <p:nvPr/>
        </p:nvSpPr>
        <p:spPr>
          <a:xfrm xmlns:a="http://schemas.openxmlformats.org/drawingml/2006/main">
            <a:off x="7181850" y="2419350"/>
            <a:ext cx="4429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Consolas"/>
                <a:ea typeface="Consolas"/>
                <a:cs typeface="Consolas"/>
              </a:defRPr>
            </a:defPPr>
            <a:lvl1pPr algn="l">
              <a:buNone/>
              <a:defRPr sz="1875" b="0">
                <a:solidFill>
                  <a:srgbClr val="142F40"/>
                </a:solidFill>
                <a:latin typeface="Consolas"/>
                <a:ea typeface="Consolas"/>
                <a:cs typeface="Consolas"/>
              </a:defRPr>
            </a:lvl1pPr>
            <a:lvl2pPr algn="l">
              <a:buNone/>
              <a:defRPr sz="1875" b="0">
                <a:solidFill>
                  <a:srgbClr val="142F40"/>
                </a:solidFill>
                <a:latin typeface="Consolas"/>
                <a:ea typeface="Consolas"/>
                <a:cs typeface="Consolas"/>
              </a:defRPr>
            </a:lvl2pPr>
            <a:lvl3pPr algn="l">
              <a:buNone/>
              <a:defRPr sz="1875" b="0">
                <a:solidFill>
                  <a:srgbClr val="142F40"/>
                </a:solidFill>
                <a:latin typeface="Consolas"/>
                <a:ea typeface="Consolas"/>
                <a:cs typeface="Consolas"/>
              </a:defRPr>
            </a:lvl3pPr>
            <a:lvl4pPr algn="l">
              <a:buNone/>
              <a:defRPr sz="1875" b="0">
                <a:solidFill>
                  <a:srgbClr val="142F40"/>
                </a:solidFill>
                <a:latin typeface="Consolas"/>
                <a:ea typeface="Consolas"/>
                <a:cs typeface="Consolas"/>
              </a:defRPr>
            </a:lvl4pPr>
            <a:lvl5pPr algn="l">
              <a:buNone/>
              <a:defRPr sz="1875" b="0">
                <a:solidFill>
                  <a:srgbClr val="142F40"/>
                </a:solidFill>
                <a:latin typeface="Consolas"/>
                <a:ea typeface="Consolas"/>
                <a:cs typeface="Consolas"/>
              </a:defRPr>
            </a:lvl5pPr>
            <a:lvl6pPr algn="l">
              <a:buNone/>
              <a:defRPr sz="1875" b="0">
                <a:solidFill>
                  <a:srgbClr val="142F40"/>
                </a:solidFill>
                <a:latin typeface="Consolas"/>
                <a:ea typeface="Consolas"/>
                <a:cs typeface="Consolas"/>
              </a:defRPr>
            </a:lvl6pPr>
            <a:lvl7pPr algn="l">
              <a:buNone/>
              <a:defRPr sz="1875" b="0">
                <a:solidFill>
                  <a:srgbClr val="142F40"/>
                </a:solidFill>
                <a:latin typeface="Consolas"/>
                <a:ea typeface="Consolas"/>
                <a:cs typeface="Consolas"/>
              </a:defRPr>
            </a:lvl7pPr>
            <a:lvl8pPr algn="l">
              <a:buNone/>
              <a:defRPr sz="1875" b="0">
                <a:solidFill>
                  <a:srgbClr val="142F40"/>
                </a:solidFill>
                <a:latin typeface="Consolas"/>
                <a:ea typeface="Consolas"/>
                <a:cs typeface="Consolas"/>
              </a:defRPr>
            </a:lvl8pPr>
            <a:lvl9pPr algn="l">
              <a:buNone/>
              <a:defRPr sz="1875" b="0">
                <a:solidFill>
                  <a:srgbClr val="142F40"/>
                </a:solidFill>
                <a:latin typeface="Consolas"/>
                <a:ea typeface="Consolas"/>
                <a:cs typeface="Consolas"/>
              </a:defRPr>
            </a:lvl9pPr>
          </a:lstStyle>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GET /api/items HTTP/1.1</a:t>
            </a:r>
          </a:p>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Host: localhost</a:t>
            </a:r>
          </a:p>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Connection: close</a:t>
            </a:r>
          </a:p>
        </p:txBody>
      </p:sp>
      <p:sp>
        <p:nvSpPr>
          <p:cNvPr id="23" name="text-22">
            <a:extLst xmlns:a="http://schemas.openxmlformats.org/drawingml/2006/main">
              <a:ext uri="{FF2B5EF4-FFF2-40B4-BE49-F238E27FC236}">
                <a16:creationId xmlns:a16="http://schemas.microsoft.com/office/drawing/2014/main" id="{B086918C-FBBF-4C0E-A66E-1535C0359E4D}"/>
              </a:ext>
            </a:extLst>
          </p:cNvPr>
          <p:cNvSpPr>
            <a:spLocks xmlns:a="http://schemas.openxmlformats.org/drawingml/2006/main" noGrp="1"/>
          </p:cNvSpPr>
          <p:nvPr/>
        </p:nvSpPr>
        <p:spPr>
          <a:xfrm xmlns:a="http://schemas.openxmlformats.org/drawingml/2006/main">
            <a:off x="7181850" y="4219575"/>
            <a:ext cx="4333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Content-Length defines the body</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length when a body is present.</a:t>
            </a:r>
          </a:p>
        </p:txBody>
      </p:sp>
      <p:sp>
        <p:nvSpPr>
          <p:cNvPr id="24" name="text-23">
            <a:extLst xmlns:a="http://schemas.openxmlformats.org/drawingml/2006/main">
              <a:ext uri="{FF2B5EF4-FFF2-40B4-BE49-F238E27FC236}">
                <a16:creationId xmlns:a16="http://schemas.microsoft.com/office/drawing/2014/main" id="{75BFF172-7914-4303-BA2A-A809F654B1F7}"/>
              </a:ext>
            </a:extLst>
          </p:cNvPr>
          <p:cNvSpPr>
            <a:spLocks xmlns:a="http://schemas.openxmlformats.org/drawingml/2006/main" noGrp="1"/>
          </p:cNvSpPr>
          <p:nvPr/>
        </p:nvSpPr>
        <p:spPr>
          <a:xfrm xmlns:a="http://schemas.openxmlformats.org/drawingml/2006/main">
            <a:off x="7181850" y="53054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One request per connection</a:t>
            </a:r>
          </a:p>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in this implementation.</a:t>
            </a:r>
          </a:p>
        </p:txBody>
      </p:sp>
    </p:spTree>
    <p:extLst>
      <p:ext uri="{BB962C8B-B14F-4D97-AF65-F5344CB8AC3E}">
        <p14:creationId xmlns:p14="http://schemas.microsoft.com/office/powerpoint/2010/main" val="4265599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5F8B7AE-9727-4B52-87BA-07476B483269}"/>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How asyncio handles overlapping requests</a:t>
            </a:r>
          </a:p>
        </p:txBody>
      </p:sp>
      <p:sp>
        <p:nvSpPr>
          <p:cNvPr id="2" name="text-1">
            <a:extLst xmlns:a="http://schemas.openxmlformats.org/drawingml/2006/main">
              <a:ext uri="{FF2B5EF4-FFF2-40B4-BE49-F238E27FC236}">
                <a16:creationId xmlns:a16="http://schemas.microsoft.com/office/drawing/2014/main" id="{2E9B9998-0BE2-4A0F-9D60-BF3F04393522}"/>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05</a:t>
            </a:r>
          </a:p>
        </p:txBody>
      </p:sp>
      <p:sp>
        <p:nvSpPr>
          <p:cNvPr id="3" name="text-2">
            <a:extLst xmlns:a="http://schemas.openxmlformats.org/drawingml/2006/main">
              <a:ext uri="{FF2B5EF4-FFF2-40B4-BE49-F238E27FC236}">
                <a16:creationId xmlns:a16="http://schemas.microsoft.com/office/drawing/2014/main" id="{4AFD6411-F670-4240-BC75-F7BA6D965F50}"/>
              </a:ext>
            </a:extLst>
          </p:cNvPr>
          <p:cNvSpPr>
            <a:spLocks xmlns:a="http://schemas.openxmlformats.org/drawingml/2006/main" noGrp="1"/>
          </p:cNvSpPr>
          <p:nvPr/>
        </p:nvSpPr>
        <p:spPr>
          <a:xfrm xmlns:a="http://schemas.openxmlformats.org/drawingml/2006/main">
            <a:off x="647700" y="1628775"/>
            <a:ext cx="3095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7B75"/>
                </a:solidFill>
                <a:latin typeface="Arial"/>
                <a:ea typeface="Arial"/>
                <a:cs typeface="Arial"/>
              </a:defRPr>
            </a:defPPr>
            <a:lvl1pPr algn="l">
              <a:buNone/>
              <a:defRPr sz="2250" b="1">
                <a:solidFill>
                  <a:srgbClr val="137B75"/>
                </a:solidFill>
                <a:latin typeface="Arial"/>
                <a:ea typeface="Arial"/>
                <a:cs typeface="Arial"/>
              </a:defRPr>
            </a:lvl1pPr>
            <a:lvl2pPr algn="l">
              <a:buNone/>
              <a:defRPr sz="2250" b="1">
                <a:solidFill>
                  <a:srgbClr val="137B75"/>
                </a:solidFill>
                <a:latin typeface="Arial"/>
                <a:ea typeface="Arial"/>
                <a:cs typeface="Arial"/>
              </a:defRPr>
            </a:lvl2pPr>
            <a:lvl3pPr algn="l">
              <a:buNone/>
              <a:defRPr sz="2250" b="1">
                <a:solidFill>
                  <a:srgbClr val="137B75"/>
                </a:solidFill>
                <a:latin typeface="Arial"/>
                <a:ea typeface="Arial"/>
                <a:cs typeface="Arial"/>
              </a:defRPr>
            </a:lvl3pPr>
            <a:lvl4pPr algn="l">
              <a:buNone/>
              <a:defRPr sz="2250" b="1">
                <a:solidFill>
                  <a:srgbClr val="137B75"/>
                </a:solidFill>
                <a:latin typeface="Arial"/>
                <a:ea typeface="Arial"/>
                <a:cs typeface="Arial"/>
              </a:defRPr>
            </a:lvl4pPr>
            <a:lvl5pPr algn="l">
              <a:buNone/>
              <a:defRPr sz="2250" b="1">
                <a:solidFill>
                  <a:srgbClr val="137B75"/>
                </a:solidFill>
                <a:latin typeface="Arial"/>
                <a:ea typeface="Arial"/>
                <a:cs typeface="Arial"/>
              </a:defRPr>
            </a:lvl5pPr>
            <a:lvl6pPr algn="l">
              <a:buNone/>
              <a:defRPr sz="2250" b="1">
                <a:solidFill>
                  <a:srgbClr val="137B75"/>
                </a:solidFill>
                <a:latin typeface="Arial"/>
                <a:ea typeface="Arial"/>
                <a:cs typeface="Arial"/>
              </a:defRPr>
            </a:lvl6pPr>
            <a:lvl7pPr algn="l">
              <a:buNone/>
              <a:defRPr sz="2250" b="1">
                <a:solidFill>
                  <a:srgbClr val="137B75"/>
                </a:solidFill>
                <a:latin typeface="Arial"/>
                <a:ea typeface="Arial"/>
                <a:cs typeface="Arial"/>
              </a:defRPr>
            </a:lvl7pPr>
            <a:lvl8pPr algn="l">
              <a:buNone/>
              <a:defRPr sz="2250" b="1">
                <a:solidFill>
                  <a:srgbClr val="137B75"/>
                </a:solidFill>
                <a:latin typeface="Arial"/>
                <a:ea typeface="Arial"/>
                <a:cs typeface="Arial"/>
              </a:defRPr>
            </a:lvl8pPr>
            <a:lvl9pPr algn="l">
              <a:buNone/>
              <a:defRPr sz="2250" b="1">
                <a:solidFill>
                  <a:srgbClr val="137B75"/>
                </a:solidFill>
                <a:latin typeface="Arial"/>
                <a:ea typeface="Arial"/>
                <a:cs typeface="Arial"/>
              </a:defRPr>
            </a:lvl9pPr>
          </a:lstStyle>
          <a:p xmlns:a="http://schemas.openxmlformats.org/drawingml/2006/main">
            <a:pPr algn="l">
              <a:buNone/>
              <a:defRPr sz="2250" b="1">
                <a:solidFill>
                  <a:srgbClr val="137B75"/>
                </a:solidFill>
                <a:latin typeface="Arial"/>
                <a:ea typeface="Arial"/>
                <a:cs typeface="Arial"/>
              </a:defRPr>
            </a:pPr>
            <a:r>
              <a:rPr sz="2250" b="1">
                <a:solidFill>
                  <a:srgbClr val="137B75"/>
                </a:solidFill>
                <a:latin typeface="Arial"/>
                <a:ea typeface="Arial"/>
                <a:cs typeface="Arial"/>
              </a:rPr>
              <a:t>Event loop</a:t>
            </a:r>
          </a:p>
        </p:txBody>
      </p:sp>
      <p:sp>
        <p:nvSpPr>
          <p:cNvPr id="4" name="text-3">
            <a:extLst xmlns:a="http://schemas.openxmlformats.org/drawingml/2006/main">
              <a:ext uri="{FF2B5EF4-FFF2-40B4-BE49-F238E27FC236}">
                <a16:creationId xmlns:a16="http://schemas.microsoft.com/office/drawing/2014/main" id="{A427A1AC-1C22-4C30-B0DE-51ECF2D6D0A6}"/>
              </a:ext>
            </a:extLst>
          </p:cNvPr>
          <p:cNvSpPr>
            <a:spLocks xmlns:a="http://schemas.openxmlformats.org/drawingml/2006/main" noGrp="1"/>
          </p:cNvSpPr>
          <p:nvPr/>
        </p:nvSpPr>
        <p:spPr>
          <a:xfrm xmlns:a="http://schemas.openxmlformats.org/drawingml/2006/main">
            <a:off x="647700" y="2124075"/>
            <a:ext cx="3286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Runs ready tasks and</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resumes them after I/O.</a:t>
            </a:r>
          </a:p>
        </p:txBody>
      </p:sp>
      <p:sp>
        <p:nvSpPr>
          <p:cNvPr id="5" name="text-4">
            <a:extLst xmlns:a="http://schemas.openxmlformats.org/drawingml/2006/main">
              <a:ext uri="{FF2B5EF4-FFF2-40B4-BE49-F238E27FC236}">
                <a16:creationId xmlns:a16="http://schemas.microsoft.com/office/drawing/2014/main" id="{FD7DDB53-A952-4A97-B79B-CCEA92841B8D}"/>
              </a:ext>
            </a:extLst>
          </p:cNvPr>
          <p:cNvSpPr>
            <a:spLocks xmlns:a="http://schemas.openxmlformats.org/drawingml/2006/main" noGrp="1"/>
          </p:cNvSpPr>
          <p:nvPr/>
        </p:nvSpPr>
        <p:spPr>
          <a:xfrm xmlns:a="http://schemas.openxmlformats.org/drawingml/2006/main">
            <a:off x="4400550" y="1628775"/>
            <a:ext cx="304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7B75"/>
                </a:solidFill>
                <a:latin typeface="Arial"/>
                <a:ea typeface="Arial"/>
                <a:cs typeface="Arial"/>
              </a:defRPr>
            </a:defPPr>
            <a:lvl1pPr algn="l">
              <a:buNone/>
              <a:defRPr sz="2250" b="1">
                <a:solidFill>
                  <a:srgbClr val="137B75"/>
                </a:solidFill>
                <a:latin typeface="Arial"/>
                <a:ea typeface="Arial"/>
                <a:cs typeface="Arial"/>
              </a:defRPr>
            </a:lvl1pPr>
            <a:lvl2pPr algn="l">
              <a:buNone/>
              <a:defRPr sz="2250" b="1">
                <a:solidFill>
                  <a:srgbClr val="137B75"/>
                </a:solidFill>
                <a:latin typeface="Arial"/>
                <a:ea typeface="Arial"/>
                <a:cs typeface="Arial"/>
              </a:defRPr>
            </a:lvl2pPr>
            <a:lvl3pPr algn="l">
              <a:buNone/>
              <a:defRPr sz="2250" b="1">
                <a:solidFill>
                  <a:srgbClr val="137B75"/>
                </a:solidFill>
                <a:latin typeface="Arial"/>
                <a:ea typeface="Arial"/>
                <a:cs typeface="Arial"/>
              </a:defRPr>
            </a:lvl3pPr>
            <a:lvl4pPr algn="l">
              <a:buNone/>
              <a:defRPr sz="2250" b="1">
                <a:solidFill>
                  <a:srgbClr val="137B75"/>
                </a:solidFill>
                <a:latin typeface="Arial"/>
                <a:ea typeface="Arial"/>
                <a:cs typeface="Arial"/>
              </a:defRPr>
            </a:lvl4pPr>
            <a:lvl5pPr algn="l">
              <a:buNone/>
              <a:defRPr sz="2250" b="1">
                <a:solidFill>
                  <a:srgbClr val="137B75"/>
                </a:solidFill>
                <a:latin typeface="Arial"/>
                <a:ea typeface="Arial"/>
                <a:cs typeface="Arial"/>
              </a:defRPr>
            </a:lvl5pPr>
            <a:lvl6pPr algn="l">
              <a:buNone/>
              <a:defRPr sz="2250" b="1">
                <a:solidFill>
                  <a:srgbClr val="137B75"/>
                </a:solidFill>
                <a:latin typeface="Arial"/>
                <a:ea typeface="Arial"/>
                <a:cs typeface="Arial"/>
              </a:defRPr>
            </a:lvl6pPr>
            <a:lvl7pPr algn="l">
              <a:buNone/>
              <a:defRPr sz="2250" b="1">
                <a:solidFill>
                  <a:srgbClr val="137B75"/>
                </a:solidFill>
                <a:latin typeface="Arial"/>
                <a:ea typeface="Arial"/>
                <a:cs typeface="Arial"/>
              </a:defRPr>
            </a:lvl7pPr>
            <a:lvl8pPr algn="l">
              <a:buNone/>
              <a:defRPr sz="2250" b="1">
                <a:solidFill>
                  <a:srgbClr val="137B75"/>
                </a:solidFill>
                <a:latin typeface="Arial"/>
                <a:ea typeface="Arial"/>
                <a:cs typeface="Arial"/>
              </a:defRPr>
            </a:lvl8pPr>
            <a:lvl9pPr algn="l">
              <a:buNone/>
              <a:defRPr sz="2250" b="1">
                <a:solidFill>
                  <a:srgbClr val="137B75"/>
                </a:solidFill>
                <a:latin typeface="Arial"/>
                <a:ea typeface="Arial"/>
                <a:cs typeface="Arial"/>
              </a:defRPr>
            </a:lvl9pPr>
          </a:lstStyle>
          <a:p xmlns:a="http://schemas.openxmlformats.org/drawingml/2006/main">
            <a:pPr algn="l">
              <a:buNone/>
              <a:defRPr sz="2250" b="1">
                <a:solidFill>
                  <a:srgbClr val="137B75"/>
                </a:solidFill>
                <a:latin typeface="Arial"/>
                <a:ea typeface="Arial"/>
                <a:cs typeface="Arial"/>
              </a:defRPr>
            </a:pPr>
            <a:r>
              <a:rPr sz="2250" b="1">
                <a:solidFill>
                  <a:srgbClr val="137B75"/>
                </a:solidFill>
                <a:latin typeface="Arial"/>
                <a:ea typeface="Arial"/>
                <a:cs typeface="Arial"/>
              </a:rPr>
              <a:t>Coroutine</a:t>
            </a:r>
          </a:p>
        </p:txBody>
      </p:sp>
      <p:sp>
        <p:nvSpPr>
          <p:cNvPr id="6" name="text-5">
            <a:extLst xmlns:a="http://schemas.openxmlformats.org/drawingml/2006/main">
              <a:ext uri="{FF2B5EF4-FFF2-40B4-BE49-F238E27FC236}">
                <a16:creationId xmlns:a16="http://schemas.microsoft.com/office/drawing/2014/main" id="{A58ADD0E-3DAC-4E09-9CD4-581D25840B12}"/>
              </a:ext>
            </a:extLst>
          </p:cNvPr>
          <p:cNvSpPr>
            <a:spLocks xmlns:a="http://schemas.openxmlformats.org/drawingml/2006/main" noGrp="1"/>
          </p:cNvSpPr>
          <p:nvPr/>
        </p:nvSpPr>
        <p:spPr>
          <a:xfrm xmlns:a="http://schemas.openxmlformats.org/drawingml/2006/main">
            <a:off x="4400550" y="2124075"/>
            <a:ext cx="319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An async function that</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can pause and resume.</a:t>
            </a:r>
          </a:p>
        </p:txBody>
      </p:sp>
      <p:sp>
        <p:nvSpPr>
          <p:cNvPr id="7" name="text-6">
            <a:extLst xmlns:a="http://schemas.openxmlformats.org/drawingml/2006/main">
              <a:ext uri="{FF2B5EF4-FFF2-40B4-BE49-F238E27FC236}">
                <a16:creationId xmlns:a16="http://schemas.microsoft.com/office/drawing/2014/main" id="{87A04D4A-C176-43B4-8D0D-DC3E9C4224CC}"/>
              </a:ext>
            </a:extLst>
          </p:cNvPr>
          <p:cNvSpPr>
            <a:spLocks xmlns:a="http://schemas.openxmlformats.org/drawingml/2006/main" noGrp="1"/>
          </p:cNvSpPr>
          <p:nvPr/>
        </p:nvSpPr>
        <p:spPr>
          <a:xfrm xmlns:a="http://schemas.openxmlformats.org/drawingml/2006/main">
            <a:off x="8115300" y="1628775"/>
            <a:ext cx="304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7B75"/>
                </a:solidFill>
                <a:latin typeface="Arial"/>
                <a:ea typeface="Arial"/>
                <a:cs typeface="Arial"/>
              </a:defRPr>
            </a:defPPr>
            <a:lvl1pPr algn="l">
              <a:buNone/>
              <a:defRPr sz="2250" b="1">
                <a:solidFill>
                  <a:srgbClr val="137B75"/>
                </a:solidFill>
                <a:latin typeface="Arial"/>
                <a:ea typeface="Arial"/>
                <a:cs typeface="Arial"/>
              </a:defRPr>
            </a:lvl1pPr>
            <a:lvl2pPr algn="l">
              <a:buNone/>
              <a:defRPr sz="2250" b="1">
                <a:solidFill>
                  <a:srgbClr val="137B75"/>
                </a:solidFill>
                <a:latin typeface="Arial"/>
                <a:ea typeface="Arial"/>
                <a:cs typeface="Arial"/>
              </a:defRPr>
            </a:lvl2pPr>
            <a:lvl3pPr algn="l">
              <a:buNone/>
              <a:defRPr sz="2250" b="1">
                <a:solidFill>
                  <a:srgbClr val="137B75"/>
                </a:solidFill>
                <a:latin typeface="Arial"/>
                <a:ea typeface="Arial"/>
                <a:cs typeface="Arial"/>
              </a:defRPr>
            </a:lvl3pPr>
            <a:lvl4pPr algn="l">
              <a:buNone/>
              <a:defRPr sz="2250" b="1">
                <a:solidFill>
                  <a:srgbClr val="137B75"/>
                </a:solidFill>
                <a:latin typeface="Arial"/>
                <a:ea typeface="Arial"/>
                <a:cs typeface="Arial"/>
              </a:defRPr>
            </a:lvl4pPr>
            <a:lvl5pPr algn="l">
              <a:buNone/>
              <a:defRPr sz="2250" b="1">
                <a:solidFill>
                  <a:srgbClr val="137B75"/>
                </a:solidFill>
                <a:latin typeface="Arial"/>
                <a:ea typeface="Arial"/>
                <a:cs typeface="Arial"/>
              </a:defRPr>
            </a:lvl5pPr>
            <a:lvl6pPr algn="l">
              <a:buNone/>
              <a:defRPr sz="2250" b="1">
                <a:solidFill>
                  <a:srgbClr val="137B75"/>
                </a:solidFill>
                <a:latin typeface="Arial"/>
                <a:ea typeface="Arial"/>
                <a:cs typeface="Arial"/>
              </a:defRPr>
            </a:lvl6pPr>
            <a:lvl7pPr algn="l">
              <a:buNone/>
              <a:defRPr sz="2250" b="1">
                <a:solidFill>
                  <a:srgbClr val="137B75"/>
                </a:solidFill>
                <a:latin typeface="Arial"/>
                <a:ea typeface="Arial"/>
                <a:cs typeface="Arial"/>
              </a:defRPr>
            </a:lvl7pPr>
            <a:lvl8pPr algn="l">
              <a:buNone/>
              <a:defRPr sz="2250" b="1">
                <a:solidFill>
                  <a:srgbClr val="137B75"/>
                </a:solidFill>
                <a:latin typeface="Arial"/>
                <a:ea typeface="Arial"/>
                <a:cs typeface="Arial"/>
              </a:defRPr>
            </a:lvl8pPr>
            <a:lvl9pPr algn="l">
              <a:buNone/>
              <a:defRPr sz="2250" b="1">
                <a:solidFill>
                  <a:srgbClr val="137B75"/>
                </a:solidFill>
                <a:latin typeface="Arial"/>
                <a:ea typeface="Arial"/>
                <a:cs typeface="Arial"/>
              </a:defRPr>
            </a:lvl9pPr>
          </a:lstStyle>
          <a:p xmlns:a="http://schemas.openxmlformats.org/drawingml/2006/main">
            <a:pPr algn="l">
              <a:buNone/>
              <a:defRPr sz="2250" b="1">
                <a:solidFill>
                  <a:srgbClr val="137B75"/>
                </a:solidFill>
                <a:latin typeface="Arial"/>
                <a:ea typeface="Arial"/>
                <a:cs typeface="Arial"/>
              </a:defRPr>
            </a:pPr>
            <a:r>
              <a:rPr sz="2250" b="1">
                <a:solidFill>
                  <a:srgbClr val="137B75"/>
                </a:solidFill>
                <a:latin typeface="Arial"/>
                <a:ea typeface="Arial"/>
                <a:cs typeface="Arial"/>
              </a:rPr>
              <a:t>await</a:t>
            </a:r>
          </a:p>
        </p:txBody>
      </p:sp>
      <p:sp>
        <p:nvSpPr>
          <p:cNvPr id="8" name="text-7">
            <a:extLst xmlns:a="http://schemas.openxmlformats.org/drawingml/2006/main">
              <a:ext uri="{FF2B5EF4-FFF2-40B4-BE49-F238E27FC236}">
                <a16:creationId xmlns:a16="http://schemas.microsoft.com/office/drawing/2014/main" id="{C05A3902-34A3-4853-B706-B1A0381C8371}"/>
              </a:ext>
            </a:extLst>
          </p:cNvPr>
          <p:cNvSpPr>
            <a:spLocks xmlns:a="http://schemas.openxmlformats.org/drawingml/2006/main" noGrp="1"/>
          </p:cNvSpPr>
          <p:nvPr/>
        </p:nvSpPr>
        <p:spPr>
          <a:xfrm xmlns:a="http://schemas.openxmlformats.org/drawingml/2006/main">
            <a:off x="8115300" y="212407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Can suspend a task while</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its operation is pending.</a:t>
            </a:r>
          </a:p>
        </p:txBody>
      </p:sp>
      <p:graphicFrame>
        <p:nvGraphicFramePr>
          <p:cNvPr id="9" name="">
            <a:extLst xmlns:a="http://schemas.openxmlformats.org/drawingml/2006/main">
              <a:ext uri="{FF2B5EF4-FFF2-40B4-BE49-F238E27FC236}">
                <a16:creationId xmlns:a16="http://schemas.microsoft.com/office/drawing/2014/main" id="{F113998D-B4F7-43B2-AB01-3A68E41727ED}"/>
              </a:ext>
            </a:extLst>
          </p:cNvPr>
          <p:cNvGraphicFramePr/>
          <p:nvPr/>
        </p:nvGraphicFramePr>
        <p:xfrm>
          <a:off xmlns:a="http://schemas.openxmlformats.org/drawingml/2006/main" x="647700" y="3181350"/>
          <a:ext xmlns:a="http://schemas.openxmlformats.org/drawingml/2006/main" cx="10896600" cy="2428875"/>
        </p:xfrm>
        <a:graphic xmlns:a="http://schemas.openxmlformats.org/drawingml/2006/main">
          <a:graphicData uri="http://schemas.openxmlformats.org/drawingml/2006/table">
            <a:tbl>
              <a:tblPr firstRow="0" bandRow="0"/>
              <a:tblGrid>
                <a:gridCol w="2000250"/>
                <a:gridCol w="4267200"/>
                <a:gridCol w="4629150"/>
              </a:tblGrid>
              <a:tr h="485775">
                <a:tc>
                  <a:txBody>
                    <a:bodyPr/>
                    <a:lstStyle/>
                    <a:p>
                      <a:r>
                        <a:rPr sz="1650" b="1">
                          <a:solidFill>
                            <a:srgbClr val="142F40"/>
                          </a:solidFill>
                          <a:latin typeface="Arial"/>
                          <a:ea typeface="Arial"/>
                          <a:cs typeface="Arial"/>
                        </a:rPr>
                        <a:t>Moment</a:t>
                      </a:r>
                    </a:p>
                  </a:txBody>
                  <a:tcPr marL="152400" marR="133350" marT="133350" marB="114300" anchor="ctr">
                    <a:lnL w="6668">
                      <a:solidFill>
                        <a:srgbClr val="D7E2E6"/>
                      </a:solidFill>
                      <a:prstDash val="solid"/>
                    </a:lnL>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650" b="1">
                          <a:solidFill>
                            <a:srgbClr val="142F40"/>
                          </a:solidFill>
                          <a:latin typeface="Arial"/>
                          <a:ea typeface="Arial"/>
                          <a:cs typeface="Arial"/>
                        </a:rPr>
                        <a:t>Slow request</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650" b="1">
                          <a:solidFill>
                            <a:srgbClr val="142F40"/>
                          </a:solidFill>
                          <a:latin typeface="Arial"/>
                          <a:ea typeface="Arial"/>
                          <a:cs typeface="Arial"/>
                        </a:rPr>
                        <a:t>Other work</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r>
              <a:tr h="609600">
                <a:tc>
                  <a:txBody>
                    <a:bodyPr/>
                    <a:lstStyle/>
                    <a:p>
                      <a:r>
                        <a:rPr sz="1725" b="0">
                          <a:solidFill>
                            <a:srgbClr val="142F40"/>
                          </a:solidFill>
                          <a:latin typeface="Arial"/>
                          <a:ea typeface="Arial"/>
                          <a:cs typeface="Arial"/>
                        </a:rPr>
                        <a:t>Start</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725" b="0">
                          <a:solidFill>
                            <a:srgbClr val="142F40"/>
                          </a:solidFill>
                          <a:latin typeface="Arial"/>
                          <a:ea typeface="Arial"/>
                          <a:cs typeface="Arial"/>
                        </a:rPr>
                        <a:t>Backend 1 begins /slow</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725" b="0">
                          <a:solidFill>
                            <a:srgbClr val="142F40"/>
                          </a:solidFill>
                          <a:latin typeface="Arial"/>
                          <a:ea typeface="Arial"/>
                          <a:cs typeface="Arial"/>
                        </a:rPr>
                        <a:t>Other handlers are ready</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723900">
                <a:tc>
                  <a:txBody>
                    <a:bodyPr/>
                    <a:lstStyle/>
                    <a:p>
                      <a:r>
                        <a:rPr sz="1725" b="0">
                          <a:solidFill>
                            <a:srgbClr val="142F40"/>
                          </a:solidFill>
                          <a:latin typeface="Arial"/>
                          <a:ea typeface="Arial"/>
                          <a:cs typeface="Arial"/>
                        </a:rPr>
                        <a:t>While waiting</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725" b="0">
                          <a:solidFill>
                            <a:srgbClr val="142F40"/>
                          </a:solidFill>
                          <a:latin typeface="Arial"/>
                          <a:ea typeface="Arial"/>
                          <a:cs typeface="Arial"/>
                        </a:rPr>
                        <a:t>Handler awaits backend I/O</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725" b="0">
                          <a:solidFill>
                            <a:srgbClr val="142F40"/>
                          </a:solidFill>
                          <a:latin typeface="Arial"/>
                          <a:ea typeface="Arial"/>
                          <a:cs typeface="Arial"/>
                        </a:rPr>
                        <a:t>Fast requests and probes run</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609600">
                <a:tc>
                  <a:txBody>
                    <a:bodyPr/>
                    <a:lstStyle/>
                    <a:p>
                      <a:r>
                        <a:rPr sz="1725" b="0">
                          <a:solidFill>
                            <a:srgbClr val="142F40"/>
                          </a:solidFill>
                          <a:latin typeface="Arial"/>
                          <a:ea typeface="Arial"/>
                          <a:cs typeface="Arial"/>
                        </a:rPr>
                        <a:t>Response arrives</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725" b="0">
                          <a:solidFill>
                            <a:srgbClr val="142F40"/>
                          </a:solidFill>
                          <a:latin typeface="Arial"/>
                          <a:ea typeface="Arial"/>
                          <a:cs typeface="Arial"/>
                        </a:rPr>
                        <a:t>Handler resumes forwarding</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725" b="0">
                          <a:solidFill>
                            <a:srgbClr val="142F40"/>
                          </a:solidFill>
                          <a:latin typeface="Arial"/>
                          <a:ea typeface="Arial"/>
                          <a:cs typeface="Arial"/>
                        </a:rPr>
                        <a:t>Other tasks continue</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bl>
          </a:graphicData>
        </a:graphic>
      </p:graphicFrame>
      <p:sp>
        <p:nvSpPr>
          <p:cNvPr id="10" name="text-8">
            <a:extLst xmlns:a="http://schemas.openxmlformats.org/drawingml/2006/main">
              <a:ext uri="{FF2B5EF4-FFF2-40B4-BE49-F238E27FC236}">
                <a16:creationId xmlns:a16="http://schemas.microsoft.com/office/drawing/2014/main" id="{B66BC266-A6AA-43E2-B740-E0D01AB096A4}"/>
              </a:ext>
            </a:extLst>
          </p:cNvPr>
          <p:cNvSpPr>
            <a:spLocks xmlns:a="http://schemas.openxmlformats.org/drawingml/2006/main" noGrp="1"/>
          </p:cNvSpPr>
          <p:nvPr/>
        </p:nvSpPr>
        <p:spPr>
          <a:xfrm xmlns:a="http://schemas.openxmlformats.org/drawingml/2006/main">
            <a:off x="647700" y="60483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7B75"/>
                </a:solidFill>
                <a:latin typeface="Arial"/>
                <a:ea typeface="Arial"/>
                <a:cs typeface="Arial"/>
              </a:defRPr>
            </a:defPPr>
            <a:lvl1pPr algn="l">
              <a:buNone/>
              <a:defRPr sz="1875" b="1">
                <a:solidFill>
                  <a:srgbClr val="137B75"/>
                </a:solidFill>
                <a:latin typeface="Arial"/>
                <a:ea typeface="Arial"/>
                <a:cs typeface="Arial"/>
              </a:defRPr>
            </a:lvl1pPr>
            <a:lvl2pPr algn="l">
              <a:buNone/>
              <a:defRPr sz="1875" b="1">
                <a:solidFill>
                  <a:srgbClr val="137B75"/>
                </a:solidFill>
                <a:latin typeface="Arial"/>
                <a:ea typeface="Arial"/>
                <a:cs typeface="Arial"/>
              </a:defRPr>
            </a:lvl2pPr>
            <a:lvl3pPr algn="l">
              <a:buNone/>
              <a:defRPr sz="1875" b="1">
                <a:solidFill>
                  <a:srgbClr val="137B75"/>
                </a:solidFill>
                <a:latin typeface="Arial"/>
                <a:ea typeface="Arial"/>
                <a:cs typeface="Arial"/>
              </a:defRPr>
            </a:lvl3pPr>
            <a:lvl4pPr algn="l">
              <a:buNone/>
              <a:defRPr sz="1875" b="1">
                <a:solidFill>
                  <a:srgbClr val="137B75"/>
                </a:solidFill>
                <a:latin typeface="Arial"/>
                <a:ea typeface="Arial"/>
                <a:cs typeface="Arial"/>
              </a:defRPr>
            </a:lvl4pPr>
            <a:lvl5pPr algn="l">
              <a:buNone/>
              <a:defRPr sz="1875" b="1">
                <a:solidFill>
                  <a:srgbClr val="137B75"/>
                </a:solidFill>
                <a:latin typeface="Arial"/>
                <a:ea typeface="Arial"/>
                <a:cs typeface="Arial"/>
              </a:defRPr>
            </a:lvl5pPr>
            <a:lvl6pPr algn="l">
              <a:buNone/>
              <a:defRPr sz="1875" b="1">
                <a:solidFill>
                  <a:srgbClr val="137B75"/>
                </a:solidFill>
                <a:latin typeface="Arial"/>
                <a:ea typeface="Arial"/>
                <a:cs typeface="Arial"/>
              </a:defRPr>
            </a:lvl6pPr>
            <a:lvl7pPr algn="l">
              <a:buNone/>
              <a:defRPr sz="1875" b="1">
                <a:solidFill>
                  <a:srgbClr val="137B75"/>
                </a:solidFill>
                <a:latin typeface="Arial"/>
                <a:ea typeface="Arial"/>
                <a:cs typeface="Arial"/>
              </a:defRPr>
            </a:lvl7pPr>
            <a:lvl8pPr algn="l">
              <a:buNone/>
              <a:defRPr sz="1875" b="1">
                <a:solidFill>
                  <a:srgbClr val="137B75"/>
                </a:solidFill>
                <a:latin typeface="Arial"/>
                <a:ea typeface="Arial"/>
                <a:cs typeface="Arial"/>
              </a:defRPr>
            </a:lvl8pPr>
            <a:lvl9pPr algn="l">
              <a:buNone/>
              <a:defRPr sz="1875" b="1">
                <a:solidFill>
                  <a:srgbClr val="137B75"/>
                </a:solidFill>
                <a:latin typeface="Arial"/>
                <a:ea typeface="Arial"/>
                <a:cs typeface="Arial"/>
              </a:defRPr>
            </a:lvl9pPr>
          </a:lstStyle>
          <a:p xmlns:a="http://schemas.openxmlformats.org/drawingml/2006/main">
            <a:pPr algn="l">
              <a:buNone/>
              <a:defRPr sz="1875" b="1">
                <a:solidFill>
                  <a:srgbClr val="137B75"/>
                </a:solidFill>
                <a:latin typeface="Arial"/>
                <a:ea typeface="Arial"/>
                <a:cs typeface="Arial"/>
              </a:defRPr>
            </a:pPr>
            <a:r>
              <a:rPr sz="1875" b="1">
                <a:solidFill>
                  <a:srgbClr val="137B75"/>
                </a:solidFill>
                <a:latin typeface="Arial"/>
                <a:ea typeface="Arial"/>
                <a:cs typeface="Arial"/>
              </a:rPr>
              <a:t>Concurrency overlaps waits. Blocking work would hold up the event loop.</a:t>
            </a:r>
          </a:p>
        </p:txBody>
      </p:sp>
    </p:spTree>
    <p:extLst>
      <p:ext uri="{BB962C8B-B14F-4D97-AF65-F5344CB8AC3E}">
        <p14:creationId xmlns:p14="http://schemas.microsoft.com/office/powerpoint/2010/main" val="8117375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5FA5591-46E3-4CAB-AC87-0938CB4EAFAD}"/>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Three load balancing algorithms</a:t>
            </a:r>
          </a:p>
        </p:txBody>
      </p:sp>
      <p:sp>
        <p:nvSpPr>
          <p:cNvPr id="2" name="text-1">
            <a:extLst xmlns:a="http://schemas.openxmlformats.org/drawingml/2006/main">
              <a:ext uri="{FF2B5EF4-FFF2-40B4-BE49-F238E27FC236}">
                <a16:creationId xmlns:a16="http://schemas.microsoft.com/office/drawing/2014/main" id="{D04D7EF5-AA9A-4F5B-8101-86169061F4F8}"/>
              </a:ext>
            </a:extLst>
          </p:cNvPr>
          <p:cNvSpPr>
            <a:spLocks xmlns:a="http://schemas.openxmlformats.org/drawingml/2006/main" noGrp="1"/>
          </p:cNvSpPr>
          <p:nvPr/>
        </p:nvSpPr>
        <p:spPr>
          <a:xfrm xmlns:a="http://schemas.openxmlformats.org/drawingml/2006/main">
            <a:off x="628650" y="114300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Every algorithm selects only healthy members of the matched pool.</a:t>
            </a:r>
          </a:p>
        </p:txBody>
      </p:sp>
      <p:sp>
        <p:nvSpPr>
          <p:cNvPr id="3" name="text-2">
            <a:extLst xmlns:a="http://schemas.openxmlformats.org/drawingml/2006/main">
              <a:ext uri="{FF2B5EF4-FFF2-40B4-BE49-F238E27FC236}">
                <a16:creationId xmlns:a16="http://schemas.microsoft.com/office/drawing/2014/main" id="{BDE9F687-B788-4CDC-8920-1C03F41B4EF3}"/>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7D601962-55CD-476F-B090-0350A03352BF}"/>
              </a:ext>
            </a:extLst>
          </p:cNvPr>
          <p:cNvGraphicFramePr/>
          <p:nvPr/>
        </p:nvGraphicFramePr>
        <p:xfrm>
          <a:off xmlns:a="http://schemas.openxmlformats.org/drawingml/2006/main" x="647700" y="1933575"/>
          <a:ext xmlns:a="http://schemas.openxmlformats.org/drawingml/2006/main" cx="10896600" cy="3638550"/>
        </p:xfrm>
        <a:graphic xmlns:a="http://schemas.openxmlformats.org/drawingml/2006/main">
          <a:graphicData uri="http://schemas.openxmlformats.org/drawingml/2006/table">
            <a:tbl>
              <a:tblPr firstRow="0" bandRow="0"/>
              <a:tblGrid>
                <a:gridCol w="2466975"/>
                <a:gridCol w="2762250"/>
                <a:gridCol w="2714625"/>
                <a:gridCol w="2952750"/>
              </a:tblGrid>
              <a:tr h="533400">
                <a:tc>
                  <a:txBody>
                    <a:bodyPr/>
                    <a:lstStyle/>
                    <a:p>
                      <a:r>
                        <a:rPr sz="1725" b="1">
                          <a:solidFill>
                            <a:srgbClr val="142F40"/>
                          </a:solidFill>
                          <a:latin typeface="Arial"/>
                          <a:ea typeface="Arial"/>
                          <a:cs typeface="Arial"/>
                        </a:rPr>
                        <a:t>Algorithm</a:t>
                      </a:r>
                    </a:p>
                  </a:txBody>
                  <a:tcPr marL="152400" marR="133350" marT="133350" marB="114300" anchor="ctr">
                    <a:lnL w="6668">
                      <a:solidFill>
                        <a:srgbClr val="D7E2E6"/>
                      </a:solidFill>
                      <a:prstDash val="solid"/>
                    </a:lnL>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725" b="1">
                          <a:solidFill>
                            <a:srgbClr val="142F40"/>
                          </a:solidFill>
                          <a:latin typeface="Arial"/>
                          <a:ea typeface="Arial"/>
                          <a:cs typeface="Arial"/>
                        </a:rPr>
                        <a:t>Selection rule</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725" b="1">
                          <a:solidFill>
                            <a:srgbClr val="142F40"/>
                          </a:solidFill>
                          <a:latin typeface="Arial"/>
                          <a:ea typeface="Arial"/>
                          <a:cs typeface="Arial"/>
                        </a:rPr>
                        <a:t>Example</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725" b="1">
                          <a:solidFill>
                            <a:srgbClr val="142F40"/>
                          </a:solidFill>
                          <a:latin typeface="Arial"/>
                          <a:ea typeface="Arial"/>
                          <a:cs typeface="Arial"/>
                        </a:rPr>
                        <a:t>Useful when</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r>
              <a:tr h="1000125">
                <a:tc>
                  <a:txBody>
                    <a:bodyPr/>
                    <a:lstStyle/>
                    <a:p>
                      <a:r>
                        <a:rPr sz="1800" b="0">
                          <a:solidFill>
                            <a:srgbClr val="142F40"/>
                          </a:solidFill>
                          <a:latin typeface="Arial"/>
                          <a:ea typeface="Arial"/>
                          <a:cs typeface="Arial"/>
                        </a:rPr>
                        <a:t>Round-robin</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Rotate through</a:t>
                      </a:r>
                    </a:p>
                    <a:p>
                      <a:r>
                        <a:rPr sz="1800" b="0">
                          <a:solidFill>
                            <a:srgbClr val="142F40"/>
                          </a:solidFill>
                          <a:latin typeface="Arial"/>
                          <a:ea typeface="Arial"/>
                          <a:cs typeface="Arial"/>
                        </a:rPr>
                        <a:t>eligible servers</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1 → 2 → 3</a:t>
                      </a:r>
                    </a:p>
                    <a:p>
                      <a:r>
                        <a:rPr sz="1800" b="0">
                          <a:solidFill>
                            <a:srgbClr val="142F40"/>
                          </a:solidFill>
                          <a:latin typeface="Arial"/>
                          <a:ea typeface="Arial"/>
                          <a:cs typeface="Arial"/>
                        </a:rPr>
                        <a:t>→ 1 → 2 → 3</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Backends and request</a:t>
                      </a:r>
                    </a:p>
                    <a:p>
                      <a:r>
                        <a:rPr sz="1800" b="0">
                          <a:solidFill>
                            <a:srgbClr val="142F40"/>
                          </a:solidFill>
                          <a:latin typeface="Arial"/>
                          <a:ea typeface="Arial"/>
                          <a:cs typeface="Arial"/>
                        </a:rPr>
                        <a:t>costs are similar</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1000125">
                <a:tc>
                  <a:txBody>
                    <a:bodyPr/>
                    <a:lstStyle/>
                    <a:p>
                      <a:r>
                        <a:rPr sz="1800" b="0">
                          <a:solidFill>
                            <a:srgbClr val="142F40"/>
                          </a:solidFill>
                          <a:latin typeface="Arial"/>
                          <a:ea typeface="Arial"/>
                          <a:cs typeface="Arial"/>
                        </a:rPr>
                        <a:t>Least-connections</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Choose the fewest</a:t>
                      </a:r>
                    </a:p>
                    <a:p>
                      <a:r>
                        <a:rPr sz="1800" b="0">
                          <a:solidFill>
                            <a:srgbClr val="142F40"/>
                          </a:solidFill>
                          <a:latin typeface="Arial"/>
                          <a:ea typeface="Arial"/>
                          <a:cs typeface="Arial"/>
                        </a:rPr>
                        <a:t>active assignments</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Busy: (1, 0, 0)</a:t>
                      </a:r>
                    </a:p>
                    <a:p>
                      <a:r>
                        <a:rPr sz="1800" b="0">
                          <a:solidFill>
                            <a:srgbClr val="142F40"/>
                          </a:solidFill>
                          <a:latin typeface="Arial"/>
                          <a:ea typeface="Arial"/>
                          <a:cs typeface="Arial"/>
                        </a:rPr>
                        <a:t>Choose 2 or 3</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Request durations</a:t>
                      </a:r>
                    </a:p>
                    <a:p>
                      <a:r>
                        <a:rPr sz="1800" b="0">
                          <a:solidFill>
                            <a:srgbClr val="142F40"/>
                          </a:solidFill>
                          <a:latin typeface="Arial"/>
                          <a:ea typeface="Arial"/>
                          <a:cs typeface="Arial"/>
                        </a:rPr>
                        <a:t>vary</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1104900">
                <a:tc>
                  <a:txBody>
                    <a:bodyPr/>
                    <a:lstStyle/>
                    <a:p>
                      <a:r>
                        <a:rPr sz="1800" b="0">
                          <a:solidFill>
                            <a:srgbClr val="142F40"/>
                          </a:solidFill>
                          <a:latin typeface="Arial"/>
                          <a:ea typeface="Arial"/>
                          <a:cs typeface="Arial"/>
                        </a:rPr>
                        <a:t>Smooth weighted</a:t>
                      </a:r>
                    </a:p>
                    <a:p>
                      <a:r>
                        <a:rPr sz="1800" b="0">
                          <a:solidFill>
                            <a:srgbClr val="142F40"/>
                          </a:solidFill>
                          <a:latin typeface="Arial"/>
                          <a:ea typeface="Arial"/>
                          <a:cs typeface="Arial"/>
                        </a:rPr>
                        <a:t>round-robin</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Use configured</a:t>
                      </a:r>
                    </a:p>
                    <a:p>
                      <a:r>
                        <a:rPr sz="1800" b="0">
                          <a:solidFill>
                            <a:srgbClr val="142F40"/>
                          </a:solidFill>
                          <a:latin typeface="Arial"/>
                          <a:ea typeface="Arial"/>
                          <a:cs typeface="Arial"/>
                        </a:rPr>
                        <a:t>relative weights</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Weights 3:2:1</a:t>
                      </a:r>
                    </a:p>
                    <a:p>
                      <a:r>
                        <a:rPr sz="1800" b="0">
                          <a:solidFill>
                            <a:srgbClr val="142F40"/>
                          </a:solidFill>
                          <a:latin typeface="Arial"/>
                          <a:ea typeface="Arial"/>
                          <a:cs typeface="Arial"/>
                        </a:rPr>
                        <a:t>12 requests → 6:4:2</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00" b="0">
                          <a:solidFill>
                            <a:srgbClr val="142F40"/>
                          </a:solidFill>
                          <a:latin typeface="Arial"/>
                          <a:ea typeface="Arial"/>
                          <a:cs typeface="Arial"/>
                        </a:rPr>
                        <a:t>Backends need</a:t>
                      </a:r>
                    </a:p>
                    <a:p>
                      <a:r>
                        <a:rPr sz="1800" b="0">
                          <a:solidFill>
                            <a:srgbClr val="142F40"/>
                          </a:solidFill>
                          <a:latin typeface="Arial"/>
                          <a:ea typeface="Arial"/>
                          <a:cs typeface="Arial"/>
                        </a:rPr>
                        <a:t>different shares</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EE999B34-C467-4E15-AF4C-55DE2A991C90}"/>
              </a:ext>
            </a:extLst>
          </p:cNvPr>
          <p:cNvSpPr>
            <a:spLocks xmlns:a="http://schemas.openxmlformats.org/drawingml/2006/main" noGrp="1"/>
          </p:cNvSpPr>
          <p:nvPr/>
        </p:nvSpPr>
        <p:spPr>
          <a:xfrm xmlns:a="http://schemas.openxmlformats.org/drawingml/2006/main">
            <a:off x="647700" y="59626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7B75"/>
                </a:solidFill>
                <a:latin typeface="Arial"/>
                <a:ea typeface="Arial"/>
                <a:cs typeface="Arial"/>
              </a:defRPr>
            </a:defPPr>
            <a:lvl1pPr algn="l">
              <a:buNone/>
              <a:defRPr sz="1875" b="1">
                <a:solidFill>
                  <a:srgbClr val="137B75"/>
                </a:solidFill>
                <a:latin typeface="Arial"/>
                <a:ea typeface="Arial"/>
                <a:cs typeface="Arial"/>
              </a:defRPr>
            </a:lvl1pPr>
            <a:lvl2pPr algn="l">
              <a:buNone/>
              <a:defRPr sz="1875" b="1">
                <a:solidFill>
                  <a:srgbClr val="137B75"/>
                </a:solidFill>
                <a:latin typeface="Arial"/>
                <a:ea typeface="Arial"/>
                <a:cs typeface="Arial"/>
              </a:defRPr>
            </a:lvl2pPr>
            <a:lvl3pPr algn="l">
              <a:buNone/>
              <a:defRPr sz="1875" b="1">
                <a:solidFill>
                  <a:srgbClr val="137B75"/>
                </a:solidFill>
                <a:latin typeface="Arial"/>
                <a:ea typeface="Arial"/>
                <a:cs typeface="Arial"/>
              </a:defRPr>
            </a:lvl3pPr>
            <a:lvl4pPr algn="l">
              <a:buNone/>
              <a:defRPr sz="1875" b="1">
                <a:solidFill>
                  <a:srgbClr val="137B75"/>
                </a:solidFill>
                <a:latin typeface="Arial"/>
                <a:ea typeface="Arial"/>
                <a:cs typeface="Arial"/>
              </a:defRPr>
            </a:lvl4pPr>
            <a:lvl5pPr algn="l">
              <a:buNone/>
              <a:defRPr sz="1875" b="1">
                <a:solidFill>
                  <a:srgbClr val="137B75"/>
                </a:solidFill>
                <a:latin typeface="Arial"/>
                <a:ea typeface="Arial"/>
                <a:cs typeface="Arial"/>
              </a:defRPr>
            </a:lvl5pPr>
            <a:lvl6pPr algn="l">
              <a:buNone/>
              <a:defRPr sz="1875" b="1">
                <a:solidFill>
                  <a:srgbClr val="137B75"/>
                </a:solidFill>
                <a:latin typeface="Arial"/>
                <a:ea typeface="Arial"/>
                <a:cs typeface="Arial"/>
              </a:defRPr>
            </a:lvl6pPr>
            <a:lvl7pPr algn="l">
              <a:buNone/>
              <a:defRPr sz="1875" b="1">
                <a:solidFill>
                  <a:srgbClr val="137B75"/>
                </a:solidFill>
                <a:latin typeface="Arial"/>
                <a:ea typeface="Arial"/>
                <a:cs typeface="Arial"/>
              </a:defRPr>
            </a:lvl7pPr>
            <a:lvl8pPr algn="l">
              <a:buNone/>
              <a:defRPr sz="1875" b="1">
                <a:solidFill>
                  <a:srgbClr val="137B75"/>
                </a:solidFill>
                <a:latin typeface="Arial"/>
                <a:ea typeface="Arial"/>
                <a:cs typeface="Arial"/>
              </a:defRPr>
            </a:lvl8pPr>
            <a:lvl9pPr algn="l">
              <a:buNone/>
              <a:defRPr sz="1875" b="1">
                <a:solidFill>
                  <a:srgbClr val="137B75"/>
                </a:solidFill>
                <a:latin typeface="Arial"/>
                <a:ea typeface="Arial"/>
                <a:cs typeface="Arial"/>
              </a:defRPr>
            </a:lvl9pPr>
          </a:lstStyle>
          <a:p xmlns:a="http://schemas.openxmlformats.org/drawingml/2006/main">
            <a:pPr algn="l">
              <a:buNone/>
              <a:defRPr sz="1875" b="1">
                <a:solidFill>
                  <a:srgbClr val="137B75"/>
                </a:solidFill>
                <a:latin typeface="Arial"/>
                <a:ea typeface="Arial"/>
                <a:cs typeface="Arial"/>
              </a:defRPr>
            </a:pPr>
            <a:r>
              <a:rPr sz="1875" b="1">
                <a:solidFill>
                  <a:srgbClr val="137B75"/>
                </a:solidFill>
                <a:latin typeface="Arial"/>
                <a:ea typeface="Arial"/>
                <a:cs typeface="Arial"/>
              </a:rPr>
              <a:t>Weights are configured shares. Least-connections uses live active counts.</a:t>
            </a:r>
          </a:p>
        </p:txBody>
      </p:sp>
    </p:spTree>
    <p:extLst>
      <p:ext uri="{BB962C8B-B14F-4D97-AF65-F5344CB8AC3E}">
        <p14:creationId xmlns:p14="http://schemas.microsoft.com/office/powerpoint/2010/main" val="13158773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E3D05F6-FBA2-41DA-969F-A4E88735F97B}"/>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Path routing and JSON configuration</a:t>
            </a:r>
          </a:p>
        </p:txBody>
      </p:sp>
      <p:sp>
        <p:nvSpPr>
          <p:cNvPr id="2" name="text-1">
            <a:extLst xmlns:a="http://schemas.openxmlformats.org/drawingml/2006/main">
              <a:ext uri="{FF2B5EF4-FFF2-40B4-BE49-F238E27FC236}">
                <a16:creationId xmlns:a16="http://schemas.microsoft.com/office/drawing/2014/main" id="{D494A10F-C500-4858-B6B5-13F243DCB2D5}"/>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C566891E-21AB-4ED8-89E0-09D94634A068}"/>
              </a:ext>
            </a:extLst>
          </p:cNvPr>
          <p:cNvGraphicFramePr/>
          <p:nvPr/>
        </p:nvGraphicFramePr>
        <p:xfrm>
          <a:off xmlns:a="http://schemas.openxmlformats.org/drawingml/2006/main" x="647700" y="1733550"/>
          <a:ext xmlns:a="http://schemas.openxmlformats.org/drawingml/2006/main" cx="10896600" cy="3200400"/>
        </p:xfrm>
        <a:graphic xmlns:a="http://schemas.openxmlformats.org/drawingml/2006/main">
          <a:graphicData uri="http://schemas.openxmlformats.org/drawingml/2006/table">
            <a:tbl>
              <a:tblPr firstRow="0" bandRow="0"/>
              <a:tblGrid>
                <a:gridCol w="3714750"/>
                <a:gridCol w="2857500"/>
                <a:gridCol w="4324350"/>
              </a:tblGrid>
              <a:tr h="533400">
                <a:tc>
                  <a:txBody>
                    <a:bodyPr/>
                    <a:lstStyle/>
                    <a:p>
                      <a:r>
                        <a:rPr sz="1800" b="1">
                          <a:solidFill>
                            <a:srgbClr val="142F40"/>
                          </a:solidFill>
                          <a:latin typeface="Arial"/>
                          <a:ea typeface="Arial"/>
                          <a:cs typeface="Arial"/>
                        </a:rPr>
                        <a:t>Request path</a:t>
                      </a:r>
                    </a:p>
                  </a:txBody>
                  <a:tcPr marL="152400" marR="133350" marT="133350" marB="114300" anchor="ctr">
                    <a:lnL w="6668">
                      <a:solidFill>
                        <a:srgbClr val="D7E2E6"/>
                      </a:solidFill>
                      <a:prstDash val="solid"/>
                    </a:lnL>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800" b="1">
                          <a:solidFill>
                            <a:srgbClr val="142F40"/>
                          </a:solidFill>
                          <a:latin typeface="Arial"/>
                          <a:ea typeface="Arial"/>
                          <a:cs typeface="Arial"/>
                        </a:rPr>
                        <a:t>Destination</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800" b="1">
                          <a:solidFill>
                            <a:srgbClr val="142F40"/>
                          </a:solidFill>
                          <a:latin typeface="Arial"/>
                          <a:ea typeface="Arial"/>
                          <a:cs typeface="Arial"/>
                        </a:rPr>
                        <a:t>Pool members</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r>
              <a:tr h="666750">
                <a:tc>
                  <a:txBody>
                    <a:bodyPr/>
                    <a:lstStyle/>
                    <a:p>
                      <a:r>
                        <a:rPr sz="1875" b="0">
                          <a:solidFill>
                            <a:srgbClr val="142F40"/>
                          </a:solidFill>
                          <a:latin typeface="Arial"/>
                          <a:ea typeface="Arial"/>
                          <a:cs typeface="Arial"/>
                        </a:rPr>
                        <a:t>/api or /api/...</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api pool</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Backend 1, Backend 2</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666750">
                <a:tc>
                  <a:txBody>
                    <a:bodyPr/>
                    <a:lstStyle/>
                    <a:p>
                      <a:r>
                        <a:rPr sz="1875" b="0">
                          <a:solidFill>
                            <a:srgbClr val="142F40"/>
                          </a:solidFill>
                          <a:latin typeface="Arial"/>
                          <a:ea typeface="Arial"/>
                          <a:cs typeface="Arial"/>
                        </a:rPr>
                        <a:t>/static or /static/...</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static pool</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Backend 3</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666750">
                <a:tc>
                  <a:txBody>
                    <a:bodyPr/>
                    <a:lstStyle/>
                    <a:p>
                      <a:r>
                        <a:rPr sz="1875" b="0">
                          <a:solidFill>
                            <a:srgbClr val="142F40"/>
                          </a:solidFill>
                          <a:latin typeface="Arial"/>
                          <a:ea typeface="Arial"/>
                          <a:cs typeface="Arial"/>
                        </a:rPr>
                        <a:t>/hello or /apiculture</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default pool</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All three backends</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666750">
                <a:tc>
                  <a:txBody>
                    <a:bodyPr/>
                    <a:lstStyle/>
                    <a:p>
                      <a:r>
                        <a:rPr sz="1875" b="0">
                          <a:solidFill>
                            <a:srgbClr val="142F40"/>
                          </a:solidFill>
                          <a:latin typeface="Arial"/>
                          <a:ea typeface="Arial"/>
                          <a:cs typeface="Arial"/>
                        </a:rPr>
                        <a:t>/stats  (GET / HEAD)</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Local monitoring</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No backend selected</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8114A06-6BEC-4B8C-B5A3-9FEB72C771BF}"/>
              </a:ext>
            </a:extLst>
          </p:cNvPr>
          <p:cNvSpPr>
            <a:spLocks xmlns:a="http://schemas.openxmlformats.org/drawingml/2006/main" noGrp="1"/>
          </p:cNvSpPr>
          <p:nvPr/>
        </p:nvSpPr>
        <p:spPr>
          <a:xfrm xmlns:a="http://schemas.openxmlformats.org/drawingml/2006/main">
            <a:off x="647700" y="5391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7B75"/>
                </a:solidFill>
                <a:latin typeface="Consolas"/>
                <a:ea typeface="Consolas"/>
                <a:cs typeface="Consolas"/>
              </a:defRPr>
            </a:defPPr>
            <a:lvl1pPr algn="l">
              <a:buNone/>
              <a:defRPr sz="2250" b="1">
                <a:solidFill>
                  <a:srgbClr val="137B75"/>
                </a:solidFill>
                <a:latin typeface="Consolas"/>
                <a:ea typeface="Consolas"/>
                <a:cs typeface="Consolas"/>
              </a:defRPr>
            </a:lvl1pPr>
            <a:lvl2pPr algn="l">
              <a:buNone/>
              <a:defRPr sz="2250" b="1">
                <a:solidFill>
                  <a:srgbClr val="137B75"/>
                </a:solidFill>
                <a:latin typeface="Consolas"/>
                <a:ea typeface="Consolas"/>
                <a:cs typeface="Consolas"/>
              </a:defRPr>
            </a:lvl2pPr>
            <a:lvl3pPr algn="l">
              <a:buNone/>
              <a:defRPr sz="2250" b="1">
                <a:solidFill>
                  <a:srgbClr val="137B75"/>
                </a:solidFill>
                <a:latin typeface="Consolas"/>
                <a:ea typeface="Consolas"/>
                <a:cs typeface="Consolas"/>
              </a:defRPr>
            </a:lvl3pPr>
            <a:lvl4pPr algn="l">
              <a:buNone/>
              <a:defRPr sz="2250" b="1">
                <a:solidFill>
                  <a:srgbClr val="137B75"/>
                </a:solidFill>
                <a:latin typeface="Consolas"/>
                <a:ea typeface="Consolas"/>
                <a:cs typeface="Consolas"/>
              </a:defRPr>
            </a:lvl4pPr>
            <a:lvl5pPr algn="l">
              <a:buNone/>
              <a:defRPr sz="2250" b="1">
                <a:solidFill>
                  <a:srgbClr val="137B75"/>
                </a:solidFill>
                <a:latin typeface="Consolas"/>
                <a:ea typeface="Consolas"/>
                <a:cs typeface="Consolas"/>
              </a:defRPr>
            </a:lvl5pPr>
            <a:lvl6pPr algn="l">
              <a:buNone/>
              <a:defRPr sz="2250" b="1">
                <a:solidFill>
                  <a:srgbClr val="137B75"/>
                </a:solidFill>
                <a:latin typeface="Consolas"/>
                <a:ea typeface="Consolas"/>
                <a:cs typeface="Consolas"/>
              </a:defRPr>
            </a:lvl6pPr>
            <a:lvl7pPr algn="l">
              <a:buNone/>
              <a:defRPr sz="2250" b="1">
                <a:solidFill>
                  <a:srgbClr val="137B75"/>
                </a:solidFill>
                <a:latin typeface="Consolas"/>
                <a:ea typeface="Consolas"/>
                <a:cs typeface="Consolas"/>
              </a:defRPr>
            </a:lvl7pPr>
            <a:lvl8pPr algn="l">
              <a:buNone/>
              <a:defRPr sz="2250" b="1">
                <a:solidFill>
                  <a:srgbClr val="137B75"/>
                </a:solidFill>
                <a:latin typeface="Consolas"/>
                <a:ea typeface="Consolas"/>
                <a:cs typeface="Consolas"/>
              </a:defRPr>
            </a:lvl8pPr>
            <a:lvl9pPr algn="l">
              <a:buNone/>
              <a:defRPr sz="2250" b="1">
                <a:solidFill>
                  <a:srgbClr val="137B75"/>
                </a:solidFill>
                <a:latin typeface="Consolas"/>
                <a:ea typeface="Consolas"/>
                <a:cs typeface="Consolas"/>
              </a:defRPr>
            </a:lvl9pPr>
          </a:lstStyle>
          <a:p xmlns:a="http://schemas.openxmlformats.org/drawingml/2006/main">
            <a:pPr algn="l">
              <a:buNone/>
              <a:defRPr sz="2250" b="1">
                <a:solidFill>
                  <a:srgbClr val="137B75"/>
                </a:solidFill>
                <a:latin typeface="Consolas"/>
                <a:ea typeface="Consolas"/>
                <a:cs typeface="Consolas"/>
              </a:defRPr>
            </a:pPr>
            <a:r>
              <a:rPr sz="2250" b="1">
                <a:solidFill>
                  <a:srgbClr val="137B75"/>
                </a:solidFill>
                <a:latin typeface="Consolas"/>
                <a:ea typeface="Consolas"/>
                <a:cs typeface="Consolas"/>
              </a:rPr>
              <a:t>config.json</a:t>
            </a:r>
          </a:p>
        </p:txBody>
      </p:sp>
      <p:sp>
        <p:nvSpPr>
          <p:cNvPr id="5" name="text-3">
            <a:extLst xmlns:a="http://schemas.openxmlformats.org/drawingml/2006/main">
              <a:ext uri="{FF2B5EF4-FFF2-40B4-BE49-F238E27FC236}">
                <a16:creationId xmlns:a16="http://schemas.microsoft.com/office/drawing/2014/main" id="{62D18880-0E55-4D42-8B6E-366D2274959C}"/>
              </a:ext>
            </a:extLst>
          </p:cNvPr>
          <p:cNvSpPr>
            <a:spLocks xmlns:a="http://schemas.openxmlformats.org/drawingml/2006/main" noGrp="1"/>
          </p:cNvSpPr>
          <p:nvPr/>
        </p:nvSpPr>
        <p:spPr>
          <a:xfrm xmlns:a="http://schemas.openxmlformats.org/drawingml/2006/main">
            <a:off x="3381375" y="5314950"/>
            <a:ext cx="809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F40"/>
                </a:solidFill>
                <a:latin typeface="Arial"/>
                <a:ea typeface="Arial"/>
                <a:cs typeface="Arial"/>
              </a:defRPr>
            </a:defPPr>
            <a:lvl1pPr algn="l">
              <a:buNone/>
              <a:defRPr sz="2025" b="0">
                <a:solidFill>
                  <a:srgbClr val="142F40"/>
                </a:solidFill>
                <a:latin typeface="Arial"/>
                <a:ea typeface="Arial"/>
                <a:cs typeface="Arial"/>
              </a:defRPr>
            </a:lvl1pPr>
            <a:lvl2pPr algn="l">
              <a:buNone/>
              <a:defRPr sz="2025" b="0">
                <a:solidFill>
                  <a:srgbClr val="142F40"/>
                </a:solidFill>
                <a:latin typeface="Arial"/>
                <a:ea typeface="Arial"/>
                <a:cs typeface="Arial"/>
              </a:defRPr>
            </a:lvl2pPr>
            <a:lvl3pPr algn="l">
              <a:buNone/>
              <a:defRPr sz="2025" b="0">
                <a:solidFill>
                  <a:srgbClr val="142F40"/>
                </a:solidFill>
                <a:latin typeface="Arial"/>
                <a:ea typeface="Arial"/>
                <a:cs typeface="Arial"/>
              </a:defRPr>
            </a:lvl3pPr>
            <a:lvl4pPr algn="l">
              <a:buNone/>
              <a:defRPr sz="2025" b="0">
                <a:solidFill>
                  <a:srgbClr val="142F40"/>
                </a:solidFill>
                <a:latin typeface="Arial"/>
                <a:ea typeface="Arial"/>
                <a:cs typeface="Arial"/>
              </a:defRPr>
            </a:lvl4pPr>
            <a:lvl5pPr algn="l">
              <a:buNone/>
              <a:defRPr sz="2025" b="0">
                <a:solidFill>
                  <a:srgbClr val="142F40"/>
                </a:solidFill>
                <a:latin typeface="Arial"/>
                <a:ea typeface="Arial"/>
                <a:cs typeface="Arial"/>
              </a:defRPr>
            </a:lvl5pPr>
            <a:lvl6pPr algn="l">
              <a:buNone/>
              <a:defRPr sz="2025" b="0">
                <a:solidFill>
                  <a:srgbClr val="142F40"/>
                </a:solidFill>
                <a:latin typeface="Arial"/>
                <a:ea typeface="Arial"/>
                <a:cs typeface="Arial"/>
              </a:defRPr>
            </a:lvl6pPr>
            <a:lvl7pPr algn="l">
              <a:buNone/>
              <a:defRPr sz="2025" b="0">
                <a:solidFill>
                  <a:srgbClr val="142F40"/>
                </a:solidFill>
                <a:latin typeface="Arial"/>
                <a:ea typeface="Arial"/>
                <a:cs typeface="Arial"/>
              </a:defRPr>
            </a:lvl7pPr>
            <a:lvl8pPr algn="l">
              <a:buNone/>
              <a:defRPr sz="2025" b="0">
                <a:solidFill>
                  <a:srgbClr val="142F40"/>
                </a:solidFill>
                <a:latin typeface="Arial"/>
                <a:ea typeface="Arial"/>
                <a:cs typeface="Arial"/>
              </a:defRPr>
            </a:lvl8pPr>
            <a:lvl9pPr algn="l">
              <a:buNone/>
              <a:defRPr sz="2025" b="0">
                <a:solidFill>
                  <a:srgbClr val="142F40"/>
                </a:solidFill>
                <a:latin typeface="Arial"/>
                <a:ea typeface="Arial"/>
                <a:cs typeface="Arial"/>
              </a:defRPr>
            </a:lvl9pPr>
          </a:lstStyle>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Defines addresses, weights, pools, routes,</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algorithm, limits and health-check settings.</a:t>
            </a:r>
          </a:p>
        </p:txBody>
      </p:sp>
    </p:spTree>
    <p:extLst>
      <p:ext uri="{BB962C8B-B14F-4D97-AF65-F5344CB8AC3E}">
        <p14:creationId xmlns:p14="http://schemas.microsoft.com/office/powerpoint/2010/main" val="10588980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B2444EB-2D8D-4AA2-B54B-D9E121939B66}"/>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FFFFFF"/>
                </a:solidFill>
                <a:latin typeface="Arial"/>
                <a:ea typeface="Arial"/>
                <a:cs typeface="Arial"/>
              </a:defRPr>
            </a:lvl1pPr>
            <a:lvl2pPr algn="l">
              <a:buNone/>
              <a:defRPr sz="3300" b="1">
                <a:solidFill>
                  <a:srgbClr val="FFFFFF"/>
                </a:solidFill>
                <a:latin typeface="Arial"/>
                <a:ea typeface="Arial"/>
                <a:cs typeface="Arial"/>
              </a:defRPr>
            </a:lvl2pPr>
            <a:lvl3pPr algn="l">
              <a:buNone/>
              <a:defRPr sz="3300" b="1">
                <a:solidFill>
                  <a:srgbClr val="FFFFFF"/>
                </a:solidFill>
                <a:latin typeface="Arial"/>
                <a:ea typeface="Arial"/>
                <a:cs typeface="Arial"/>
              </a:defRPr>
            </a:lvl3pPr>
            <a:lvl4pPr algn="l">
              <a:buNone/>
              <a:defRPr sz="3300" b="1">
                <a:solidFill>
                  <a:srgbClr val="FFFFFF"/>
                </a:solidFill>
                <a:latin typeface="Arial"/>
                <a:ea typeface="Arial"/>
                <a:cs typeface="Arial"/>
              </a:defRPr>
            </a:lvl4pPr>
            <a:lvl5pPr algn="l">
              <a:buNone/>
              <a:defRPr sz="3300" b="1">
                <a:solidFill>
                  <a:srgbClr val="FFFFFF"/>
                </a:solidFill>
                <a:latin typeface="Arial"/>
                <a:ea typeface="Arial"/>
                <a:cs typeface="Arial"/>
              </a:defRPr>
            </a:lvl5pPr>
            <a:lvl6pPr algn="l">
              <a:buNone/>
              <a:defRPr sz="3300" b="1">
                <a:solidFill>
                  <a:srgbClr val="FFFFFF"/>
                </a:solidFill>
                <a:latin typeface="Arial"/>
                <a:ea typeface="Arial"/>
                <a:cs typeface="Arial"/>
              </a:defRPr>
            </a:lvl6pPr>
            <a:lvl7pPr algn="l">
              <a:buNone/>
              <a:defRPr sz="3300" b="1">
                <a:solidFill>
                  <a:srgbClr val="FFFFFF"/>
                </a:solidFill>
                <a:latin typeface="Arial"/>
                <a:ea typeface="Arial"/>
                <a:cs typeface="Arial"/>
              </a:defRPr>
            </a:lvl7pPr>
            <a:lvl8pPr algn="l">
              <a:buNone/>
              <a:defRPr sz="3300" b="1">
                <a:solidFill>
                  <a:srgbClr val="FFFFFF"/>
                </a:solidFill>
                <a:latin typeface="Arial"/>
                <a:ea typeface="Arial"/>
                <a:cs typeface="Arial"/>
              </a:defRPr>
            </a:lvl8pPr>
            <a:lvl9pPr algn="l">
              <a:buNone/>
              <a:defRPr sz="3300" b="1">
                <a:solidFill>
                  <a:srgbClr val="FFFFFF"/>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Health checks and automatic recovery</a:t>
            </a:r>
          </a:p>
        </p:txBody>
      </p:sp>
      <p:sp>
        <p:nvSpPr>
          <p:cNvPr id="2" name="text-1">
            <a:extLst xmlns:a="http://schemas.openxmlformats.org/drawingml/2006/main">
              <a:ext uri="{FF2B5EF4-FFF2-40B4-BE49-F238E27FC236}">
                <a16:creationId xmlns:a16="http://schemas.microsoft.com/office/drawing/2014/main" id="{466091D7-07BC-42B4-AF05-3475D9194227}"/>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142F40"/>
                </a:solidFill>
                <a:latin typeface="Arial"/>
                <a:ea typeface="Arial"/>
                <a:cs typeface="Arial"/>
              </a:defRPr>
            </a:defPPr>
            <a:lvl1pPr algn="r">
              <a:buNone/>
              <a:defRPr sz="1200" b="0">
                <a:solidFill>
                  <a:srgbClr val="B5CFD7"/>
                </a:solidFill>
                <a:latin typeface="Arial"/>
                <a:ea typeface="Arial"/>
                <a:cs typeface="Arial"/>
              </a:defRPr>
            </a:lvl1pPr>
            <a:lvl2pPr algn="r">
              <a:buNone/>
              <a:defRPr sz="1200" b="0">
                <a:solidFill>
                  <a:srgbClr val="B5CFD7"/>
                </a:solidFill>
                <a:latin typeface="Arial"/>
                <a:ea typeface="Arial"/>
                <a:cs typeface="Arial"/>
              </a:defRPr>
            </a:lvl2pPr>
            <a:lvl3pPr algn="r">
              <a:buNone/>
              <a:defRPr sz="1200" b="0">
                <a:solidFill>
                  <a:srgbClr val="B5CFD7"/>
                </a:solidFill>
                <a:latin typeface="Arial"/>
                <a:ea typeface="Arial"/>
                <a:cs typeface="Arial"/>
              </a:defRPr>
            </a:lvl3pPr>
            <a:lvl4pPr algn="r">
              <a:buNone/>
              <a:defRPr sz="1200" b="0">
                <a:solidFill>
                  <a:srgbClr val="B5CFD7"/>
                </a:solidFill>
                <a:latin typeface="Arial"/>
                <a:ea typeface="Arial"/>
                <a:cs typeface="Arial"/>
              </a:defRPr>
            </a:lvl4pPr>
            <a:lvl5pPr algn="r">
              <a:buNone/>
              <a:defRPr sz="1200" b="0">
                <a:solidFill>
                  <a:srgbClr val="B5CFD7"/>
                </a:solidFill>
                <a:latin typeface="Arial"/>
                <a:ea typeface="Arial"/>
                <a:cs typeface="Arial"/>
              </a:defRPr>
            </a:lvl5pPr>
            <a:lvl6pPr algn="r">
              <a:buNone/>
              <a:defRPr sz="1200" b="0">
                <a:solidFill>
                  <a:srgbClr val="B5CFD7"/>
                </a:solidFill>
                <a:latin typeface="Arial"/>
                <a:ea typeface="Arial"/>
                <a:cs typeface="Arial"/>
              </a:defRPr>
            </a:lvl6pPr>
            <a:lvl7pPr algn="r">
              <a:buNone/>
              <a:defRPr sz="1200" b="0">
                <a:solidFill>
                  <a:srgbClr val="B5CFD7"/>
                </a:solidFill>
                <a:latin typeface="Arial"/>
                <a:ea typeface="Arial"/>
                <a:cs typeface="Arial"/>
              </a:defRPr>
            </a:lvl7pPr>
            <a:lvl8pPr algn="r">
              <a:buNone/>
              <a:defRPr sz="1200" b="0">
                <a:solidFill>
                  <a:srgbClr val="B5CFD7"/>
                </a:solidFill>
                <a:latin typeface="Arial"/>
                <a:ea typeface="Arial"/>
                <a:cs typeface="Arial"/>
              </a:defRPr>
            </a:lvl8pPr>
            <a:lvl9pPr algn="r">
              <a:buNone/>
              <a:defRPr sz="1200" b="0">
                <a:solidFill>
                  <a:srgbClr val="B5CFD7"/>
                </a:solidFill>
                <a:latin typeface="Arial"/>
                <a:ea typeface="Arial"/>
                <a:cs typeface="Arial"/>
              </a:defRPr>
            </a:lvl9pPr>
          </a:lstStyle>
          <a:p xmlns:a="http://schemas.openxmlformats.org/drawingml/2006/main">
            <a:pPr algn="r">
              <a:buNone/>
              <a:defRPr sz="1200" b="0">
                <a:solidFill>
                  <a:srgbClr val="142F40"/>
                </a:solidFill>
                <a:latin typeface="Arial"/>
                <a:ea typeface="Arial"/>
                <a:cs typeface="Arial"/>
              </a:defRPr>
            </a:pPr>
            <a:r>
              <a:rPr sz="1200" b="0">
                <a:solidFill>
                  <a:srgbClr val="142F40"/>
                </a:solidFill>
                <a:latin typeface="Arial"/>
                <a:ea typeface="Arial"/>
                <a:cs typeface="Arial"/>
              </a:rPr>
              <a:t>08</a:t>
            </a:r>
          </a:p>
        </p:txBody>
      </p:sp>
      <p:sp>
        <p:nvSpPr>
          <p:cNvPr id="3" name="text-2">
            <a:extLst xmlns:a="http://schemas.openxmlformats.org/drawingml/2006/main">
              <a:ext uri="{FF2B5EF4-FFF2-40B4-BE49-F238E27FC236}">
                <a16:creationId xmlns:a16="http://schemas.microsoft.com/office/drawing/2014/main" id="{4E49195B-777C-4E1B-BBE5-9A48F6459E3E}"/>
              </a:ext>
            </a:extLst>
          </p:cNvPr>
          <p:cNvSpPr>
            <a:spLocks xmlns:a="http://schemas.openxmlformats.org/drawingml/2006/main" noGrp="1"/>
          </p:cNvSpPr>
          <p:nvPr/>
        </p:nvSpPr>
        <p:spPr>
          <a:xfrm xmlns:a="http://schemas.openxmlformats.org/drawingml/2006/main">
            <a:off x="647700" y="15621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F40"/>
                </a:solidFill>
                <a:latin typeface="Arial"/>
                <a:ea typeface="Arial"/>
                <a:cs typeface="Arial"/>
              </a:defRPr>
            </a:defPPr>
            <a:lvl1pPr algn="l">
              <a:buNone/>
              <a:defRPr sz="3000" b="1">
                <a:solidFill>
                  <a:srgbClr val="FFFFFF"/>
                </a:solidFill>
                <a:latin typeface="Arial"/>
                <a:ea typeface="Arial"/>
                <a:cs typeface="Arial"/>
              </a:defRPr>
            </a:lvl1pPr>
            <a:lvl2pPr algn="l">
              <a:buNone/>
              <a:defRPr sz="3000" b="1">
                <a:solidFill>
                  <a:srgbClr val="FFFFFF"/>
                </a:solidFill>
                <a:latin typeface="Arial"/>
                <a:ea typeface="Arial"/>
                <a:cs typeface="Arial"/>
              </a:defRPr>
            </a:lvl2pPr>
            <a:lvl3pPr algn="l">
              <a:buNone/>
              <a:defRPr sz="3000" b="1">
                <a:solidFill>
                  <a:srgbClr val="FFFFFF"/>
                </a:solidFill>
                <a:latin typeface="Arial"/>
                <a:ea typeface="Arial"/>
                <a:cs typeface="Arial"/>
              </a:defRPr>
            </a:lvl3pPr>
            <a:lvl4pPr algn="l">
              <a:buNone/>
              <a:defRPr sz="3000" b="1">
                <a:solidFill>
                  <a:srgbClr val="FFFFFF"/>
                </a:solidFill>
                <a:latin typeface="Arial"/>
                <a:ea typeface="Arial"/>
                <a:cs typeface="Arial"/>
              </a:defRPr>
            </a:lvl4pPr>
            <a:lvl5pPr algn="l">
              <a:buNone/>
              <a:defRPr sz="3000" b="1">
                <a:solidFill>
                  <a:srgbClr val="FFFFFF"/>
                </a:solidFill>
                <a:latin typeface="Arial"/>
                <a:ea typeface="Arial"/>
                <a:cs typeface="Arial"/>
              </a:defRPr>
            </a:lvl5pPr>
            <a:lvl6pPr algn="l">
              <a:buNone/>
              <a:defRPr sz="3000" b="1">
                <a:solidFill>
                  <a:srgbClr val="FFFFFF"/>
                </a:solidFill>
                <a:latin typeface="Arial"/>
                <a:ea typeface="Arial"/>
                <a:cs typeface="Arial"/>
              </a:defRPr>
            </a:lvl6pPr>
            <a:lvl7pPr algn="l">
              <a:buNone/>
              <a:defRPr sz="3000" b="1">
                <a:solidFill>
                  <a:srgbClr val="FFFFFF"/>
                </a:solidFill>
                <a:latin typeface="Arial"/>
                <a:ea typeface="Arial"/>
                <a:cs typeface="Arial"/>
              </a:defRPr>
            </a:lvl7pPr>
            <a:lvl8pPr algn="l">
              <a:buNone/>
              <a:defRPr sz="3000" b="1">
                <a:solidFill>
                  <a:srgbClr val="FFFFFF"/>
                </a:solidFill>
                <a:latin typeface="Arial"/>
                <a:ea typeface="Arial"/>
                <a:cs typeface="Arial"/>
              </a:defRPr>
            </a:lvl8pPr>
            <a:lvl9pPr algn="l">
              <a:buNone/>
              <a:defRPr sz="3000" b="1">
                <a:solidFill>
                  <a:srgbClr val="FFFFFF"/>
                </a:solidFill>
                <a:latin typeface="Arial"/>
                <a:ea typeface="Arial"/>
                <a:cs typeface="Arial"/>
              </a:defRPr>
            </a:lvl9pPr>
          </a:lstStyle>
          <a:p xmlns:a="http://schemas.openxmlformats.org/drawingml/2006/main">
            <a:pPr algn="l">
              <a:buNone/>
              <a:defRPr sz="3000" b="1">
                <a:solidFill>
                  <a:srgbClr val="142F40"/>
                </a:solidFill>
                <a:latin typeface="Arial"/>
                <a:ea typeface="Arial"/>
                <a:cs typeface="Arial"/>
              </a:defRPr>
            </a:pPr>
            <a:r>
              <a:rPr sz="3000" b="1">
                <a:solidFill>
                  <a:srgbClr val="142F40"/>
                </a:solidFill>
                <a:latin typeface="Arial"/>
                <a:ea typeface="Arial"/>
                <a:cs typeface="Arial"/>
              </a:rPr>
              <a:t>Healthy means the probe succeeds.</a:t>
            </a:r>
          </a:p>
          <a:p xmlns:a="http://schemas.openxmlformats.org/drawingml/2006/main">
            <a:pPr algn="l">
              <a:buNone/>
              <a:defRPr sz="3000" b="1">
                <a:solidFill>
                  <a:srgbClr val="142F40"/>
                </a:solidFill>
                <a:latin typeface="Arial"/>
                <a:ea typeface="Arial"/>
                <a:cs typeface="Arial"/>
              </a:defRPr>
            </a:pPr>
            <a:r>
              <a:rPr sz="3000" b="1">
                <a:solidFill>
                  <a:srgbClr val="142F40"/>
                </a:solidFill>
                <a:latin typeface="Arial"/>
                <a:ea typeface="Arial"/>
                <a:cs typeface="Arial"/>
              </a:rPr>
              <a:t>A busy server can still be healthy.</a:t>
            </a:r>
          </a:p>
        </p:txBody>
      </p:sp>
      <p:sp>
        <p:nvSpPr>
          <p:cNvPr id="4" name="text-3">
            <a:extLst xmlns:a="http://schemas.openxmlformats.org/drawingml/2006/main">
              <a:ext uri="{FF2B5EF4-FFF2-40B4-BE49-F238E27FC236}">
                <a16:creationId xmlns:a16="http://schemas.microsoft.com/office/drawing/2014/main" id="{524079F2-480C-4E47-8AEE-BFA7E016DA98}"/>
              </a:ext>
            </a:extLst>
          </p:cNvPr>
          <p:cNvSpPr>
            <a:spLocks xmlns:a="http://schemas.openxmlformats.org/drawingml/2006/main" noGrp="1"/>
          </p:cNvSpPr>
          <p:nvPr/>
        </p:nvSpPr>
        <p:spPr>
          <a:xfrm xmlns:a="http://schemas.openxmlformats.org/drawingml/2006/main">
            <a:off x="647700" y="31051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42F40"/>
                </a:solidFill>
                <a:latin typeface="Arial"/>
                <a:ea typeface="Arial"/>
                <a:cs typeface="Arial"/>
              </a:defRPr>
            </a:defPPr>
            <a:lvl1pPr algn="l">
              <a:buNone/>
              <a:defRPr sz="2625" b="1">
                <a:solidFill>
                  <a:srgbClr val="87D5CA"/>
                </a:solidFill>
                <a:latin typeface="Arial"/>
                <a:ea typeface="Arial"/>
                <a:cs typeface="Arial"/>
              </a:defRPr>
            </a:lvl1pPr>
            <a:lvl2pPr algn="l">
              <a:buNone/>
              <a:defRPr sz="2625" b="1">
                <a:solidFill>
                  <a:srgbClr val="87D5CA"/>
                </a:solidFill>
                <a:latin typeface="Arial"/>
                <a:ea typeface="Arial"/>
                <a:cs typeface="Arial"/>
              </a:defRPr>
            </a:lvl2pPr>
            <a:lvl3pPr algn="l">
              <a:buNone/>
              <a:defRPr sz="2625" b="1">
                <a:solidFill>
                  <a:srgbClr val="87D5CA"/>
                </a:solidFill>
                <a:latin typeface="Arial"/>
                <a:ea typeface="Arial"/>
                <a:cs typeface="Arial"/>
              </a:defRPr>
            </a:lvl3pPr>
            <a:lvl4pPr algn="l">
              <a:buNone/>
              <a:defRPr sz="2625" b="1">
                <a:solidFill>
                  <a:srgbClr val="87D5CA"/>
                </a:solidFill>
                <a:latin typeface="Arial"/>
                <a:ea typeface="Arial"/>
                <a:cs typeface="Arial"/>
              </a:defRPr>
            </a:lvl4pPr>
            <a:lvl5pPr algn="l">
              <a:buNone/>
              <a:defRPr sz="2625" b="1">
                <a:solidFill>
                  <a:srgbClr val="87D5CA"/>
                </a:solidFill>
                <a:latin typeface="Arial"/>
                <a:ea typeface="Arial"/>
                <a:cs typeface="Arial"/>
              </a:defRPr>
            </a:lvl5pPr>
            <a:lvl6pPr algn="l">
              <a:buNone/>
              <a:defRPr sz="2625" b="1">
                <a:solidFill>
                  <a:srgbClr val="87D5CA"/>
                </a:solidFill>
                <a:latin typeface="Arial"/>
                <a:ea typeface="Arial"/>
                <a:cs typeface="Arial"/>
              </a:defRPr>
            </a:lvl6pPr>
            <a:lvl7pPr algn="l">
              <a:buNone/>
              <a:defRPr sz="2625" b="1">
                <a:solidFill>
                  <a:srgbClr val="87D5CA"/>
                </a:solidFill>
                <a:latin typeface="Arial"/>
                <a:ea typeface="Arial"/>
                <a:cs typeface="Arial"/>
              </a:defRPr>
            </a:lvl7pPr>
            <a:lvl8pPr algn="l">
              <a:buNone/>
              <a:defRPr sz="2625" b="1">
                <a:solidFill>
                  <a:srgbClr val="87D5CA"/>
                </a:solidFill>
                <a:latin typeface="Arial"/>
                <a:ea typeface="Arial"/>
                <a:cs typeface="Arial"/>
              </a:defRPr>
            </a:lvl8pPr>
            <a:lvl9pPr algn="l">
              <a:buNone/>
              <a:defRPr sz="2625" b="1">
                <a:solidFill>
                  <a:srgbClr val="87D5CA"/>
                </a:solidFill>
                <a:latin typeface="Arial"/>
                <a:ea typeface="Arial"/>
                <a:cs typeface="Arial"/>
              </a:defRPr>
            </a:lvl9pPr>
          </a:lstStyle>
          <a:p xmlns:a="http://schemas.openxmlformats.org/drawingml/2006/main">
            <a:pPr algn="l">
              <a:buNone/>
              <a:defRPr sz="2625" b="1">
                <a:solidFill>
                  <a:srgbClr val="142F40"/>
                </a:solidFill>
                <a:latin typeface="Arial"/>
                <a:ea typeface="Arial"/>
                <a:cs typeface="Arial"/>
              </a:defRPr>
            </a:pPr>
            <a:r>
              <a:rPr sz="2625" b="1">
                <a:solidFill>
                  <a:srgbClr val="142F40"/>
                </a:solidFill>
                <a:latin typeface="Arial"/>
                <a:ea typeface="Arial"/>
                <a:cs typeface="Arial"/>
              </a:rPr>
              <a:t>HEALTHY</a:t>
            </a:r>
          </a:p>
        </p:txBody>
      </p:sp>
      <p:sp>
        <p:nvSpPr>
          <p:cNvPr id="5" name="text-4">
            <a:extLst xmlns:a="http://schemas.openxmlformats.org/drawingml/2006/main">
              <a:ext uri="{FF2B5EF4-FFF2-40B4-BE49-F238E27FC236}">
                <a16:creationId xmlns:a16="http://schemas.microsoft.com/office/drawing/2014/main" id="{450A2932-55AD-4C78-9727-E564C6C6A305}"/>
              </a:ext>
            </a:extLst>
          </p:cNvPr>
          <p:cNvSpPr>
            <a:spLocks xmlns:a="http://schemas.openxmlformats.org/drawingml/2006/main" noGrp="1"/>
          </p:cNvSpPr>
          <p:nvPr/>
        </p:nvSpPr>
        <p:spPr>
          <a:xfrm xmlns:a="http://schemas.openxmlformats.org/drawingml/2006/main">
            <a:off x="4219575" y="3038475"/>
            <a:ext cx="3714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F40"/>
                </a:solidFill>
                <a:latin typeface="Arial"/>
                <a:ea typeface="Arial"/>
                <a:cs typeface="Arial"/>
              </a:defRPr>
            </a:defPPr>
            <a:lvl1pPr algn="l">
              <a:buNone/>
              <a:defRPr sz="2025" b="0">
                <a:solidFill>
                  <a:srgbClr val="FFFFFF"/>
                </a:solidFill>
                <a:latin typeface="Arial"/>
                <a:ea typeface="Arial"/>
                <a:cs typeface="Arial"/>
              </a:defRPr>
            </a:lvl1pPr>
            <a:lvl2pPr algn="l">
              <a:buNone/>
              <a:defRPr sz="2025" b="0">
                <a:solidFill>
                  <a:srgbClr val="FFFFFF"/>
                </a:solidFill>
                <a:latin typeface="Arial"/>
                <a:ea typeface="Arial"/>
                <a:cs typeface="Arial"/>
              </a:defRPr>
            </a:lvl2pPr>
            <a:lvl3pPr algn="l">
              <a:buNone/>
              <a:defRPr sz="2025" b="0">
                <a:solidFill>
                  <a:srgbClr val="FFFFFF"/>
                </a:solidFill>
                <a:latin typeface="Arial"/>
                <a:ea typeface="Arial"/>
                <a:cs typeface="Arial"/>
              </a:defRPr>
            </a:lvl3pPr>
            <a:lvl4pPr algn="l">
              <a:buNone/>
              <a:defRPr sz="2025" b="0">
                <a:solidFill>
                  <a:srgbClr val="FFFFFF"/>
                </a:solidFill>
                <a:latin typeface="Arial"/>
                <a:ea typeface="Arial"/>
                <a:cs typeface="Arial"/>
              </a:defRPr>
            </a:lvl4pPr>
            <a:lvl5pPr algn="l">
              <a:buNone/>
              <a:defRPr sz="2025" b="0">
                <a:solidFill>
                  <a:srgbClr val="FFFFFF"/>
                </a:solidFill>
                <a:latin typeface="Arial"/>
                <a:ea typeface="Arial"/>
                <a:cs typeface="Arial"/>
              </a:defRPr>
            </a:lvl5pPr>
            <a:lvl6pPr algn="l">
              <a:buNone/>
              <a:defRPr sz="2025" b="0">
                <a:solidFill>
                  <a:srgbClr val="FFFFFF"/>
                </a:solidFill>
                <a:latin typeface="Arial"/>
                <a:ea typeface="Arial"/>
                <a:cs typeface="Arial"/>
              </a:defRPr>
            </a:lvl6pPr>
            <a:lvl7pPr algn="l">
              <a:buNone/>
              <a:defRPr sz="2025" b="0">
                <a:solidFill>
                  <a:srgbClr val="FFFFFF"/>
                </a:solidFill>
                <a:latin typeface="Arial"/>
                <a:ea typeface="Arial"/>
                <a:cs typeface="Arial"/>
              </a:defRPr>
            </a:lvl7pPr>
            <a:lvl8pPr algn="l">
              <a:buNone/>
              <a:defRPr sz="2025" b="0">
                <a:solidFill>
                  <a:srgbClr val="FFFFFF"/>
                </a:solidFill>
                <a:latin typeface="Arial"/>
                <a:ea typeface="Arial"/>
                <a:cs typeface="Arial"/>
              </a:defRPr>
            </a:lvl8pPr>
            <a:lvl9pPr algn="l">
              <a:buNone/>
              <a:defRPr sz="2025" b="0">
                <a:solidFill>
                  <a:srgbClr val="FFFFFF"/>
                </a:solidFill>
                <a:latin typeface="Arial"/>
                <a:ea typeface="Arial"/>
                <a:cs typeface="Arial"/>
              </a:defRPr>
            </a:lvl9pPr>
          </a:lstStyle>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2 consecutive</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failed probes →</a:t>
            </a:r>
          </a:p>
        </p:txBody>
      </p:sp>
      <p:sp>
        <p:nvSpPr>
          <p:cNvPr id="6" name="text-5">
            <a:extLst xmlns:a="http://schemas.openxmlformats.org/drawingml/2006/main">
              <a:ext uri="{FF2B5EF4-FFF2-40B4-BE49-F238E27FC236}">
                <a16:creationId xmlns:a16="http://schemas.microsoft.com/office/drawing/2014/main" id="{8A6CF329-BAFD-4A97-9B5A-8D0DC27E247D}"/>
              </a:ext>
            </a:extLst>
          </p:cNvPr>
          <p:cNvSpPr>
            <a:spLocks xmlns:a="http://schemas.openxmlformats.org/drawingml/2006/main" noGrp="1"/>
          </p:cNvSpPr>
          <p:nvPr/>
        </p:nvSpPr>
        <p:spPr>
          <a:xfrm xmlns:a="http://schemas.openxmlformats.org/drawingml/2006/main">
            <a:off x="8324850" y="31051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42F40"/>
                </a:solidFill>
                <a:latin typeface="Arial"/>
                <a:ea typeface="Arial"/>
                <a:cs typeface="Arial"/>
              </a:defRPr>
            </a:defPPr>
            <a:lvl1pPr algn="l">
              <a:buNone/>
              <a:defRPr sz="2625" b="1">
                <a:solidFill>
                  <a:srgbClr val="FFC28B"/>
                </a:solidFill>
                <a:latin typeface="Arial"/>
                <a:ea typeface="Arial"/>
                <a:cs typeface="Arial"/>
              </a:defRPr>
            </a:lvl1pPr>
            <a:lvl2pPr algn="l">
              <a:buNone/>
              <a:defRPr sz="2625" b="1">
                <a:solidFill>
                  <a:srgbClr val="FFC28B"/>
                </a:solidFill>
                <a:latin typeface="Arial"/>
                <a:ea typeface="Arial"/>
                <a:cs typeface="Arial"/>
              </a:defRPr>
            </a:lvl2pPr>
            <a:lvl3pPr algn="l">
              <a:buNone/>
              <a:defRPr sz="2625" b="1">
                <a:solidFill>
                  <a:srgbClr val="FFC28B"/>
                </a:solidFill>
                <a:latin typeface="Arial"/>
                <a:ea typeface="Arial"/>
                <a:cs typeface="Arial"/>
              </a:defRPr>
            </a:lvl3pPr>
            <a:lvl4pPr algn="l">
              <a:buNone/>
              <a:defRPr sz="2625" b="1">
                <a:solidFill>
                  <a:srgbClr val="FFC28B"/>
                </a:solidFill>
                <a:latin typeface="Arial"/>
                <a:ea typeface="Arial"/>
                <a:cs typeface="Arial"/>
              </a:defRPr>
            </a:lvl4pPr>
            <a:lvl5pPr algn="l">
              <a:buNone/>
              <a:defRPr sz="2625" b="1">
                <a:solidFill>
                  <a:srgbClr val="FFC28B"/>
                </a:solidFill>
                <a:latin typeface="Arial"/>
                <a:ea typeface="Arial"/>
                <a:cs typeface="Arial"/>
              </a:defRPr>
            </a:lvl5pPr>
            <a:lvl6pPr algn="l">
              <a:buNone/>
              <a:defRPr sz="2625" b="1">
                <a:solidFill>
                  <a:srgbClr val="FFC28B"/>
                </a:solidFill>
                <a:latin typeface="Arial"/>
                <a:ea typeface="Arial"/>
                <a:cs typeface="Arial"/>
              </a:defRPr>
            </a:lvl6pPr>
            <a:lvl7pPr algn="l">
              <a:buNone/>
              <a:defRPr sz="2625" b="1">
                <a:solidFill>
                  <a:srgbClr val="FFC28B"/>
                </a:solidFill>
                <a:latin typeface="Arial"/>
                <a:ea typeface="Arial"/>
                <a:cs typeface="Arial"/>
              </a:defRPr>
            </a:lvl7pPr>
            <a:lvl8pPr algn="l">
              <a:buNone/>
              <a:defRPr sz="2625" b="1">
                <a:solidFill>
                  <a:srgbClr val="FFC28B"/>
                </a:solidFill>
                <a:latin typeface="Arial"/>
                <a:ea typeface="Arial"/>
                <a:cs typeface="Arial"/>
              </a:defRPr>
            </a:lvl8pPr>
            <a:lvl9pPr algn="l">
              <a:buNone/>
              <a:defRPr sz="2625" b="1">
                <a:solidFill>
                  <a:srgbClr val="FFC28B"/>
                </a:solidFill>
                <a:latin typeface="Arial"/>
                <a:ea typeface="Arial"/>
                <a:cs typeface="Arial"/>
              </a:defRPr>
            </a:lvl9pPr>
          </a:lstStyle>
          <a:p xmlns:a="http://schemas.openxmlformats.org/drawingml/2006/main">
            <a:pPr algn="l">
              <a:buNone/>
              <a:defRPr sz="2625" b="1">
                <a:solidFill>
                  <a:srgbClr val="142F40"/>
                </a:solidFill>
                <a:latin typeface="Arial"/>
                <a:ea typeface="Arial"/>
                <a:cs typeface="Arial"/>
              </a:defRPr>
            </a:pPr>
            <a:r>
              <a:rPr sz="2625" b="1">
                <a:solidFill>
                  <a:srgbClr val="142F40"/>
                </a:solidFill>
                <a:latin typeface="Arial"/>
                <a:ea typeface="Arial"/>
                <a:cs typeface="Arial"/>
              </a:rPr>
              <a:t>UNHEALTHY</a:t>
            </a:r>
          </a:p>
        </p:txBody>
      </p:sp>
      <p:sp>
        <p:nvSpPr>
          <p:cNvPr id="7" name="text-6">
            <a:extLst xmlns:a="http://schemas.openxmlformats.org/drawingml/2006/main">
              <a:ext uri="{FF2B5EF4-FFF2-40B4-BE49-F238E27FC236}">
                <a16:creationId xmlns:a16="http://schemas.microsoft.com/office/drawing/2014/main" id="{CCAB916A-AA84-4781-8DD6-E0AAE21AA294}"/>
              </a:ext>
            </a:extLst>
          </p:cNvPr>
          <p:cNvSpPr>
            <a:spLocks xmlns:a="http://schemas.openxmlformats.org/drawingml/2006/main" noGrp="1"/>
          </p:cNvSpPr>
          <p:nvPr/>
        </p:nvSpPr>
        <p:spPr>
          <a:xfrm xmlns:a="http://schemas.openxmlformats.org/drawingml/2006/main">
            <a:off x="647700" y="36576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C4DCE1"/>
                </a:solidFill>
                <a:latin typeface="Arial"/>
                <a:ea typeface="Arial"/>
                <a:cs typeface="Arial"/>
              </a:defRPr>
            </a:lvl1pPr>
            <a:lvl2pPr algn="l">
              <a:buNone/>
              <a:defRPr sz="1875" b="0">
                <a:solidFill>
                  <a:srgbClr val="C4DCE1"/>
                </a:solidFill>
                <a:latin typeface="Arial"/>
                <a:ea typeface="Arial"/>
                <a:cs typeface="Arial"/>
              </a:defRPr>
            </a:lvl2pPr>
            <a:lvl3pPr algn="l">
              <a:buNone/>
              <a:defRPr sz="1875" b="0">
                <a:solidFill>
                  <a:srgbClr val="C4DCE1"/>
                </a:solidFill>
                <a:latin typeface="Arial"/>
                <a:ea typeface="Arial"/>
                <a:cs typeface="Arial"/>
              </a:defRPr>
            </a:lvl3pPr>
            <a:lvl4pPr algn="l">
              <a:buNone/>
              <a:defRPr sz="1875" b="0">
                <a:solidFill>
                  <a:srgbClr val="C4DCE1"/>
                </a:solidFill>
                <a:latin typeface="Arial"/>
                <a:ea typeface="Arial"/>
                <a:cs typeface="Arial"/>
              </a:defRPr>
            </a:lvl4pPr>
            <a:lvl5pPr algn="l">
              <a:buNone/>
              <a:defRPr sz="1875" b="0">
                <a:solidFill>
                  <a:srgbClr val="C4DCE1"/>
                </a:solidFill>
                <a:latin typeface="Arial"/>
                <a:ea typeface="Arial"/>
                <a:cs typeface="Arial"/>
              </a:defRPr>
            </a:lvl5pPr>
            <a:lvl6pPr algn="l">
              <a:buNone/>
              <a:defRPr sz="1875" b="0">
                <a:solidFill>
                  <a:srgbClr val="C4DCE1"/>
                </a:solidFill>
                <a:latin typeface="Arial"/>
                <a:ea typeface="Arial"/>
                <a:cs typeface="Arial"/>
              </a:defRPr>
            </a:lvl6pPr>
            <a:lvl7pPr algn="l">
              <a:buNone/>
              <a:defRPr sz="1875" b="0">
                <a:solidFill>
                  <a:srgbClr val="C4DCE1"/>
                </a:solidFill>
                <a:latin typeface="Arial"/>
                <a:ea typeface="Arial"/>
                <a:cs typeface="Arial"/>
              </a:defRPr>
            </a:lvl7pPr>
            <a:lvl8pPr algn="l">
              <a:buNone/>
              <a:defRPr sz="1875" b="0">
                <a:solidFill>
                  <a:srgbClr val="C4DCE1"/>
                </a:solidFill>
                <a:latin typeface="Arial"/>
                <a:ea typeface="Arial"/>
                <a:cs typeface="Arial"/>
              </a:defRPr>
            </a:lvl8pPr>
            <a:lvl9pPr algn="l">
              <a:buNone/>
              <a:defRPr sz="1875" b="0">
                <a:solidFill>
                  <a:srgbClr val="C4DCE1"/>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Eligible for requests</a:t>
            </a:r>
          </a:p>
        </p:txBody>
      </p:sp>
      <p:sp>
        <p:nvSpPr>
          <p:cNvPr id="8" name="text-7">
            <a:extLst xmlns:a="http://schemas.openxmlformats.org/drawingml/2006/main">
              <a:ext uri="{FF2B5EF4-FFF2-40B4-BE49-F238E27FC236}">
                <a16:creationId xmlns:a16="http://schemas.microsoft.com/office/drawing/2014/main" id="{62F169EC-84F4-40AF-8FFD-3FD0C7091975}"/>
              </a:ext>
            </a:extLst>
          </p:cNvPr>
          <p:cNvSpPr>
            <a:spLocks xmlns:a="http://schemas.openxmlformats.org/drawingml/2006/main" noGrp="1"/>
          </p:cNvSpPr>
          <p:nvPr/>
        </p:nvSpPr>
        <p:spPr>
          <a:xfrm xmlns:a="http://schemas.openxmlformats.org/drawingml/2006/main">
            <a:off x="8324850" y="3657600"/>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C4DCE1"/>
                </a:solidFill>
                <a:latin typeface="Arial"/>
                <a:ea typeface="Arial"/>
                <a:cs typeface="Arial"/>
              </a:defRPr>
            </a:lvl1pPr>
            <a:lvl2pPr algn="l">
              <a:buNone/>
              <a:defRPr sz="1875" b="0">
                <a:solidFill>
                  <a:srgbClr val="C4DCE1"/>
                </a:solidFill>
                <a:latin typeface="Arial"/>
                <a:ea typeface="Arial"/>
                <a:cs typeface="Arial"/>
              </a:defRPr>
            </a:lvl2pPr>
            <a:lvl3pPr algn="l">
              <a:buNone/>
              <a:defRPr sz="1875" b="0">
                <a:solidFill>
                  <a:srgbClr val="C4DCE1"/>
                </a:solidFill>
                <a:latin typeface="Arial"/>
                <a:ea typeface="Arial"/>
                <a:cs typeface="Arial"/>
              </a:defRPr>
            </a:lvl3pPr>
            <a:lvl4pPr algn="l">
              <a:buNone/>
              <a:defRPr sz="1875" b="0">
                <a:solidFill>
                  <a:srgbClr val="C4DCE1"/>
                </a:solidFill>
                <a:latin typeface="Arial"/>
                <a:ea typeface="Arial"/>
                <a:cs typeface="Arial"/>
              </a:defRPr>
            </a:lvl4pPr>
            <a:lvl5pPr algn="l">
              <a:buNone/>
              <a:defRPr sz="1875" b="0">
                <a:solidFill>
                  <a:srgbClr val="C4DCE1"/>
                </a:solidFill>
                <a:latin typeface="Arial"/>
                <a:ea typeface="Arial"/>
                <a:cs typeface="Arial"/>
              </a:defRPr>
            </a:lvl5pPr>
            <a:lvl6pPr algn="l">
              <a:buNone/>
              <a:defRPr sz="1875" b="0">
                <a:solidFill>
                  <a:srgbClr val="C4DCE1"/>
                </a:solidFill>
                <a:latin typeface="Arial"/>
                <a:ea typeface="Arial"/>
                <a:cs typeface="Arial"/>
              </a:defRPr>
            </a:lvl6pPr>
            <a:lvl7pPr algn="l">
              <a:buNone/>
              <a:defRPr sz="1875" b="0">
                <a:solidFill>
                  <a:srgbClr val="C4DCE1"/>
                </a:solidFill>
                <a:latin typeface="Arial"/>
                <a:ea typeface="Arial"/>
                <a:cs typeface="Arial"/>
              </a:defRPr>
            </a:lvl7pPr>
            <a:lvl8pPr algn="l">
              <a:buNone/>
              <a:defRPr sz="1875" b="0">
                <a:solidFill>
                  <a:srgbClr val="C4DCE1"/>
                </a:solidFill>
                <a:latin typeface="Arial"/>
                <a:ea typeface="Arial"/>
                <a:cs typeface="Arial"/>
              </a:defRPr>
            </a:lvl8pPr>
            <a:lvl9pPr algn="l">
              <a:buNone/>
              <a:defRPr sz="1875" b="0">
                <a:solidFill>
                  <a:srgbClr val="C4DCE1"/>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Excluded from selection</a:t>
            </a:r>
          </a:p>
        </p:txBody>
      </p:sp>
      <p:sp>
        <p:nvSpPr>
          <p:cNvPr id="9" name="text-8">
            <a:extLst xmlns:a="http://schemas.openxmlformats.org/drawingml/2006/main">
              <a:ext uri="{FF2B5EF4-FFF2-40B4-BE49-F238E27FC236}">
                <a16:creationId xmlns:a16="http://schemas.microsoft.com/office/drawing/2014/main" id="{B302D325-D946-4769-A252-9641CA56C490}"/>
              </a:ext>
            </a:extLst>
          </p:cNvPr>
          <p:cNvSpPr>
            <a:spLocks xmlns:a="http://schemas.openxmlformats.org/drawingml/2006/main" noGrp="1"/>
          </p:cNvSpPr>
          <p:nvPr/>
        </p:nvSpPr>
        <p:spPr>
          <a:xfrm xmlns:a="http://schemas.openxmlformats.org/drawingml/2006/main">
            <a:off x="647700" y="44577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F40"/>
                </a:solidFill>
                <a:latin typeface="Arial"/>
                <a:ea typeface="Arial"/>
                <a:cs typeface="Arial"/>
              </a:defRPr>
            </a:defPPr>
            <a:lvl1pPr algn="l">
              <a:buNone/>
              <a:defRPr sz="2100" b="0">
                <a:solidFill>
                  <a:srgbClr val="FFFFFF"/>
                </a:solidFill>
                <a:latin typeface="Arial"/>
                <a:ea typeface="Arial"/>
                <a:cs typeface="Arial"/>
              </a:defRPr>
            </a:lvl1pPr>
            <a:lvl2pPr algn="l">
              <a:buNone/>
              <a:defRPr sz="2100" b="0">
                <a:solidFill>
                  <a:srgbClr val="FFFFFF"/>
                </a:solidFill>
                <a:latin typeface="Arial"/>
                <a:ea typeface="Arial"/>
                <a:cs typeface="Arial"/>
              </a:defRPr>
            </a:lvl2pPr>
            <a:lvl3pPr algn="l">
              <a:buNone/>
              <a:defRPr sz="2100" b="0">
                <a:solidFill>
                  <a:srgbClr val="FFFFFF"/>
                </a:solidFill>
                <a:latin typeface="Arial"/>
                <a:ea typeface="Arial"/>
                <a:cs typeface="Arial"/>
              </a:defRPr>
            </a:lvl3pPr>
            <a:lvl4pPr algn="l">
              <a:buNone/>
              <a:defRPr sz="2100" b="0">
                <a:solidFill>
                  <a:srgbClr val="FFFFFF"/>
                </a:solidFill>
                <a:latin typeface="Arial"/>
                <a:ea typeface="Arial"/>
                <a:cs typeface="Arial"/>
              </a:defRPr>
            </a:lvl4pPr>
            <a:lvl5pPr algn="l">
              <a:buNone/>
              <a:defRPr sz="2100" b="0">
                <a:solidFill>
                  <a:srgbClr val="FFFFFF"/>
                </a:solidFill>
                <a:latin typeface="Arial"/>
                <a:ea typeface="Arial"/>
                <a:cs typeface="Arial"/>
              </a:defRPr>
            </a:lvl5pPr>
            <a:lvl6pPr algn="l">
              <a:buNone/>
              <a:defRPr sz="2100" b="0">
                <a:solidFill>
                  <a:srgbClr val="FFFFFF"/>
                </a:solidFill>
                <a:latin typeface="Arial"/>
                <a:ea typeface="Arial"/>
                <a:cs typeface="Arial"/>
              </a:defRPr>
            </a:lvl6pPr>
            <a:lvl7pPr algn="l">
              <a:buNone/>
              <a:defRPr sz="2100" b="0">
                <a:solidFill>
                  <a:srgbClr val="FFFFFF"/>
                </a:solidFill>
                <a:latin typeface="Arial"/>
                <a:ea typeface="Arial"/>
                <a:cs typeface="Arial"/>
              </a:defRPr>
            </a:lvl7pPr>
            <a:lvl8pPr algn="l">
              <a:buNone/>
              <a:defRPr sz="2100" b="0">
                <a:solidFill>
                  <a:srgbClr val="FFFFFF"/>
                </a:solidFill>
                <a:latin typeface="Arial"/>
                <a:ea typeface="Arial"/>
                <a:cs typeface="Arial"/>
              </a:defRPr>
            </a:lvl8pPr>
            <a:lvl9pPr algn="l">
              <a:buNone/>
              <a:defRPr sz="2100" b="0">
                <a:solidFill>
                  <a:srgbClr val="FFFFFF"/>
                </a:solidFill>
                <a:latin typeface="Arial"/>
                <a:ea typeface="Arial"/>
                <a:cs typeface="Arial"/>
              </a:defRPr>
            </a:lvl9pPr>
          </a:lstStyle>
          <a:p xmlns:a="http://schemas.openxmlformats.org/drawingml/2006/main">
            <a:pPr algn="l">
              <a:buNone/>
              <a:defRPr sz="2100" b="0">
                <a:solidFill>
                  <a:srgbClr val="142F40"/>
                </a:solidFill>
                <a:latin typeface="Arial"/>
                <a:ea typeface="Arial"/>
                <a:cs typeface="Arial"/>
              </a:defRPr>
            </a:pPr>
            <a:r>
              <a:rPr sz="2100" b="0">
                <a:solidFill>
                  <a:srgbClr val="142F40"/>
                </a:solidFill>
                <a:latin typeface="Arial"/>
                <a:ea typeface="Arial"/>
                <a:cs typeface="Arial"/>
              </a:rPr>
              <a:t>Recovery: 2 consecutive successful probes restore eligibility.</a:t>
            </a:r>
          </a:p>
        </p:txBody>
      </p:sp>
      <p:sp>
        <p:nvSpPr>
          <p:cNvPr id="10" name="text-9">
            <a:extLst xmlns:a="http://schemas.openxmlformats.org/drawingml/2006/main">
              <a:ext uri="{FF2B5EF4-FFF2-40B4-BE49-F238E27FC236}">
                <a16:creationId xmlns:a16="http://schemas.microsoft.com/office/drawing/2014/main" id="{3D119382-592B-4D36-8651-FC03214AD5BB}"/>
              </a:ext>
            </a:extLst>
          </p:cNvPr>
          <p:cNvSpPr>
            <a:spLocks xmlns:a="http://schemas.openxmlformats.org/drawingml/2006/main" noGrp="1"/>
          </p:cNvSpPr>
          <p:nvPr/>
        </p:nvSpPr>
        <p:spPr>
          <a:xfrm xmlns:a="http://schemas.openxmlformats.org/drawingml/2006/main">
            <a:off x="647700" y="5381625"/>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87D5CA"/>
                </a:solidFill>
                <a:latin typeface="Arial"/>
                <a:ea typeface="Arial"/>
                <a:cs typeface="Arial"/>
              </a:defRPr>
            </a:lvl1pPr>
            <a:lvl2pPr algn="l">
              <a:buNone/>
              <a:defRPr sz="2025" b="1">
                <a:solidFill>
                  <a:srgbClr val="87D5CA"/>
                </a:solidFill>
                <a:latin typeface="Arial"/>
                <a:ea typeface="Arial"/>
                <a:cs typeface="Arial"/>
              </a:defRPr>
            </a:lvl2pPr>
            <a:lvl3pPr algn="l">
              <a:buNone/>
              <a:defRPr sz="2025" b="1">
                <a:solidFill>
                  <a:srgbClr val="87D5CA"/>
                </a:solidFill>
                <a:latin typeface="Arial"/>
                <a:ea typeface="Arial"/>
                <a:cs typeface="Arial"/>
              </a:defRPr>
            </a:lvl3pPr>
            <a:lvl4pPr algn="l">
              <a:buNone/>
              <a:defRPr sz="2025" b="1">
                <a:solidFill>
                  <a:srgbClr val="87D5CA"/>
                </a:solidFill>
                <a:latin typeface="Arial"/>
                <a:ea typeface="Arial"/>
                <a:cs typeface="Arial"/>
              </a:defRPr>
            </a:lvl4pPr>
            <a:lvl5pPr algn="l">
              <a:buNone/>
              <a:defRPr sz="2025" b="1">
                <a:solidFill>
                  <a:srgbClr val="87D5CA"/>
                </a:solidFill>
                <a:latin typeface="Arial"/>
                <a:ea typeface="Arial"/>
                <a:cs typeface="Arial"/>
              </a:defRPr>
            </a:lvl5pPr>
            <a:lvl6pPr algn="l">
              <a:buNone/>
              <a:defRPr sz="2025" b="1">
                <a:solidFill>
                  <a:srgbClr val="87D5CA"/>
                </a:solidFill>
                <a:latin typeface="Arial"/>
                <a:ea typeface="Arial"/>
                <a:cs typeface="Arial"/>
              </a:defRPr>
            </a:lvl6pPr>
            <a:lvl7pPr algn="l">
              <a:buNone/>
              <a:defRPr sz="2025" b="1">
                <a:solidFill>
                  <a:srgbClr val="87D5CA"/>
                </a:solidFill>
                <a:latin typeface="Arial"/>
                <a:ea typeface="Arial"/>
                <a:cs typeface="Arial"/>
              </a:defRPr>
            </a:lvl7pPr>
            <a:lvl8pPr algn="l">
              <a:buNone/>
              <a:defRPr sz="2025" b="1">
                <a:solidFill>
                  <a:srgbClr val="87D5CA"/>
                </a:solidFill>
                <a:latin typeface="Arial"/>
                <a:ea typeface="Arial"/>
                <a:cs typeface="Arial"/>
              </a:defRPr>
            </a:lvl8pPr>
            <a:lvl9pPr algn="l">
              <a:buNone/>
              <a:defRPr sz="2025" b="1">
                <a:solidFill>
                  <a:srgbClr val="87D5CA"/>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Live demo: Stop backend 2 → wait → Send traffic → Start → wait</a:t>
            </a:r>
          </a:p>
        </p:txBody>
      </p:sp>
    </p:spTree>
    <p:extLst>
      <p:ext uri="{BB962C8B-B14F-4D97-AF65-F5344CB8AC3E}">
        <p14:creationId xmlns:p14="http://schemas.microsoft.com/office/powerpoint/2010/main" val="6442367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1732B78-23AB-40EE-86C0-BF2ABAD7BFDD}"/>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Handling failures without corrupting HTTP</a:t>
            </a:r>
          </a:p>
        </p:txBody>
      </p:sp>
      <p:sp>
        <p:nvSpPr>
          <p:cNvPr id="2" name="text-1">
            <a:extLst xmlns:a="http://schemas.openxmlformats.org/drawingml/2006/main">
              <a:ext uri="{FF2B5EF4-FFF2-40B4-BE49-F238E27FC236}">
                <a16:creationId xmlns:a16="http://schemas.microsoft.com/office/drawing/2014/main" id="{41060AA2-B13B-4BF9-A1EB-BD4D241FB1A1}"/>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E3062727-CAE7-43DD-A213-BF15FAAABF17}"/>
              </a:ext>
            </a:extLst>
          </p:cNvPr>
          <p:cNvGraphicFramePr/>
          <p:nvPr/>
        </p:nvGraphicFramePr>
        <p:xfrm>
          <a:off xmlns:a="http://schemas.openxmlformats.org/drawingml/2006/main" x="647700" y="1714500"/>
          <a:ext xmlns:a="http://schemas.openxmlformats.org/drawingml/2006/main" cx="10896600" cy="3686175"/>
        </p:xfrm>
        <a:graphic xmlns:a="http://schemas.openxmlformats.org/drawingml/2006/main">
          <a:graphicData uri="http://schemas.openxmlformats.org/drawingml/2006/table">
            <a:tbl>
              <a:tblPr firstRow="0" bandRow="0"/>
              <a:tblGrid>
                <a:gridCol w="5905500"/>
                <a:gridCol w="4991100"/>
              </a:tblGrid>
              <a:tr h="533400">
                <a:tc>
                  <a:txBody>
                    <a:bodyPr/>
                    <a:lstStyle/>
                    <a:p>
                      <a:r>
                        <a:rPr sz="1800" b="1">
                          <a:solidFill>
                            <a:srgbClr val="142F40"/>
                          </a:solidFill>
                          <a:latin typeface="Arial"/>
                          <a:ea typeface="Arial"/>
                          <a:cs typeface="Arial"/>
                        </a:rPr>
                        <a:t>Situation</a:t>
                      </a:r>
                    </a:p>
                  </a:txBody>
                  <a:tcPr marL="152400" marR="133350" marT="133350" marB="114300" anchor="ctr">
                    <a:lnL w="6668">
                      <a:solidFill>
                        <a:srgbClr val="D7E2E6"/>
                      </a:solidFill>
                      <a:prstDash val="solid"/>
                    </a:lnL>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800" b="1">
                          <a:solidFill>
                            <a:srgbClr val="142F40"/>
                          </a:solidFill>
                          <a:latin typeface="Arial"/>
                          <a:ea typeface="Arial"/>
                          <a:cs typeface="Arial"/>
                        </a:rPr>
                        <a:t>Client-visible behavior</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r>
              <a:tr h="790575">
                <a:tc>
                  <a:txBody>
                    <a:bodyPr/>
                    <a:lstStyle/>
                    <a:p>
                      <a:r>
                        <a:rPr sz="1875" b="0">
                          <a:solidFill>
                            <a:srgbClr val="142F40"/>
                          </a:solidFill>
                          <a:latin typeface="Arial"/>
                          <a:ea typeface="Arial"/>
                          <a:cs typeface="Arial"/>
                        </a:rPr>
                        <a:t>Backend connection or response fails</a:t>
                      </a:r>
                    </a:p>
                    <a:p>
                      <a:r>
                        <a:rPr sz="1875" b="0">
                          <a:solidFill>
                            <a:srgbClr val="142F40"/>
                          </a:solidFill>
                          <a:latin typeface="Arial"/>
                          <a:ea typeface="Arial"/>
                          <a:cs typeface="Arial"/>
                        </a:rPr>
                        <a:t>before response headers are sent</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502 Bad Gateway</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790575">
                <a:tc>
                  <a:txBody>
                    <a:bodyPr/>
                    <a:lstStyle/>
                    <a:p>
                      <a:r>
                        <a:rPr sz="1875" b="0">
                          <a:solidFill>
                            <a:srgbClr val="142F40"/>
                          </a:solidFill>
                          <a:latin typeface="Arial"/>
                          <a:ea typeface="Arial"/>
                          <a:cs typeface="Arial"/>
                        </a:rPr>
                        <a:t>Backend phase exceeds its deadline</a:t>
                      </a:r>
                    </a:p>
                    <a:p>
                      <a:r>
                        <a:rPr sz="1875" b="0">
                          <a:solidFill>
                            <a:srgbClr val="142F40"/>
                          </a:solidFill>
                          <a:latin typeface="Arial"/>
                          <a:ea typeface="Arial"/>
                          <a:cs typeface="Arial"/>
                        </a:rPr>
                        <a:t>before response headers are sent</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504 Gateway Timeout</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714375">
                <a:tc>
                  <a:txBody>
                    <a:bodyPr/>
                    <a:lstStyle/>
                    <a:p>
                      <a:r>
                        <a:rPr sz="1875" b="0">
                          <a:solidFill>
                            <a:srgbClr val="142F40"/>
                          </a:solidFill>
                          <a:latin typeface="Arial"/>
                          <a:ea typeface="Arial"/>
                          <a:cs typeface="Arial"/>
                        </a:rPr>
                        <a:t>Matched pool has no eligible backend</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503 Service Unavailable</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857250">
                <a:tc>
                  <a:txBody>
                    <a:bodyPr/>
                    <a:lstStyle/>
                    <a:p>
                      <a:r>
                        <a:rPr sz="1875" b="0">
                          <a:solidFill>
                            <a:srgbClr val="142F40"/>
                          </a:solidFill>
                          <a:latin typeface="Arial"/>
                          <a:ea typeface="Arial"/>
                          <a:cs typeface="Arial"/>
                        </a:rPr>
                        <a:t>Body ends early after headers were sent</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Close the incomplete response;</a:t>
                      </a:r>
                    </a:p>
                    <a:p>
                      <a:r>
                        <a:rPr sz="1875" b="0">
                          <a:solidFill>
                            <a:srgbClr val="142F40"/>
                          </a:solidFill>
                          <a:latin typeface="Arial"/>
                          <a:ea typeface="Arial"/>
                          <a:cs typeface="Arial"/>
                        </a:rPr>
                        <a:t>record a failed transfer</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04B23DDE-464B-41F8-A058-5F38E5062456}"/>
              </a:ext>
            </a:extLst>
          </p:cNvPr>
          <p:cNvSpPr>
            <a:spLocks xmlns:a="http://schemas.openxmlformats.org/drawingml/2006/main" noGrp="1"/>
          </p:cNvSpPr>
          <p:nvPr/>
        </p:nvSpPr>
        <p:spPr>
          <a:xfrm xmlns:a="http://schemas.openxmlformats.org/drawingml/2006/main">
            <a:off x="647700" y="5734050"/>
            <a:ext cx="108870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7B75"/>
                </a:solidFill>
                <a:latin typeface="Arial"/>
                <a:ea typeface="Arial"/>
                <a:cs typeface="Arial"/>
              </a:defRPr>
            </a:defPPr>
            <a:lvl1pPr algn="l">
              <a:buNone/>
              <a:defRPr sz="1950" b="1">
                <a:solidFill>
                  <a:srgbClr val="137B75"/>
                </a:solidFill>
                <a:latin typeface="Arial"/>
                <a:ea typeface="Arial"/>
                <a:cs typeface="Arial"/>
              </a:defRPr>
            </a:lvl1pPr>
            <a:lvl2pPr algn="l">
              <a:buNone/>
              <a:defRPr sz="1950" b="1">
                <a:solidFill>
                  <a:srgbClr val="137B75"/>
                </a:solidFill>
                <a:latin typeface="Arial"/>
                <a:ea typeface="Arial"/>
                <a:cs typeface="Arial"/>
              </a:defRPr>
            </a:lvl2pPr>
            <a:lvl3pPr algn="l">
              <a:buNone/>
              <a:defRPr sz="1950" b="1">
                <a:solidFill>
                  <a:srgbClr val="137B75"/>
                </a:solidFill>
                <a:latin typeface="Arial"/>
                <a:ea typeface="Arial"/>
                <a:cs typeface="Arial"/>
              </a:defRPr>
            </a:lvl3pPr>
            <a:lvl4pPr algn="l">
              <a:buNone/>
              <a:defRPr sz="1950" b="1">
                <a:solidFill>
                  <a:srgbClr val="137B75"/>
                </a:solidFill>
                <a:latin typeface="Arial"/>
                <a:ea typeface="Arial"/>
                <a:cs typeface="Arial"/>
              </a:defRPr>
            </a:lvl4pPr>
            <a:lvl5pPr algn="l">
              <a:buNone/>
              <a:defRPr sz="1950" b="1">
                <a:solidFill>
                  <a:srgbClr val="137B75"/>
                </a:solidFill>
                <a:latin typeface="Arial"/>
                <a:ea typeface="Arial"/>
                <a:cs typeface="Arial"/>
              </a:defRPr>
            </a:lvl5pPr>
            <a:lvl6pPr algn="l">
              <a:buNone/>
              <a:defRPr sz="1950" b="1">
                <a:solidFill>
                  <a:srgbClr val="137B75"/>
                </a:solidFill>
                <a:latin typeface="Arial"/>
                <a:ea typeface="Arial"/>
                <a:cs typeface="Arial"/>
              </a:defRPr>
            </a:lvl6pPr>
            <a:lvl7pPr algn="l">
              <a:buNone/>
              <a:defRPr sz="1950" b="1">
                <a:solidFill>
                  <a:srgbClr val="137B75"/>
                </a:solidFill>
                <a:latin typeface="Arial"/>
                <a:ea typeface="Arial"/>
                <a:cs typeface="Arial"/>
              </a:defRPr>
            </a:lvl7pPr>
            <a:lvl8pPr algn="l">
              <a:buNone/>
              <a:defRPr sz="1950" b="1">
                <a:solidFill>
                  <a:srgbClr val="137B75"/>
                </a:solidFill>
                <a:latin typeface="Arial"/>
                <a:ea typeface="Arial"/>
                <a:cs typeface="Arial"/>
              </a:defRPr>
            </a:lvl8pPr>
            <a:lvl9pPr algn="l">
              <a:buNone/>
              <a:defRPr sz="1950" b="1">
                <a:solidFill>
                  <a:srgbClr val="137B75"/>
                </a:solidFill>
                <a:latin typeface="Arial"/>
                <a:ea typeface="Arial"/>
                <a:cs typeface="Arial"/>
              </a:defRPr>
            </a:lvl9pPr>
          </a:lstStyle>
          <a:p xmlns:a="http://schemas.openxmlformats.org/drawingml/2006/main">
            <a:pPr algn="l">
              <a:buNone/>
              <a:defRPr sz="1950" b="1">
                <a:solidFill>
                  <a:srgbClr val="137B75"/>
                </a:solidFill>
                <a:latin typeface="Arial"/>
                <a:ea typeface="Arial"/>
                <a:cs typeface="Arial"/>
              </a:defRPr>
            </a:pPr>
            <a:r>
              <a:rPr sz="1950" b="1">
                <a:solidFill>
                  <a:srgbClr val="137B75"/>
                </a:solidFill>
                <a:latin typeface="Arial"/>
                <a:ea typeface="Arial"/>
                <a:cs typeface="Arial"/>
              </a:rPr>
              <a:t>/truncate: HTTP 200 header received, but only 16 of 64 body bytes arrive.</a:t>
            </a:r>
          </a:p>
        </p:txBody>
      </p:sp>
    </p:spTree>
    <p:extLst>
      <p:ext uri="{BB962C8B-B14F-4D97-AF65-F5344CB8AC3E}">
        <p14:creationId xmlns:p14="http://schemas.microsoft.com/office/powerpoint/2010/main" val="16952209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AD9AB481-181B-4A2B-937D-B851C2703A74}"/>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Traffic Lab: live demonstration</a:t>
            </a:r>
          </a:p>
        </p:txBody>
      </p:sp>
      <p:sp>
        <p:nvSpPr>
          <p:cNvPr id="2" name="text-1">
            <a:extLst xmlns:a="http://schemas.openxmlformats.org/drawingml/2006/main">
              <a:ext uri="{FF2B5EF4-FFF2-40B4-BE49-F238E27FC236}">
                <a16:creationId xmlns:a16="http://schemas.microsoft.com/office/drawing/2014/main" id="{EB6C26D6-3D07-49C7-9C2C-43308E964A39}"/>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10</a:t>
            </a:r>
          </a:p>
        </p:txBody>
      </p:sp>
      <p:sp>
        <p:nvSpPr>
          <p:cNvPr id="3" name="text-2">
            <a:extLst xmlns:a="http://schemas.openxmlformats.org/drawingml/2006/main">
              <a:ext uri="{FF2B5EF4-FFF2-40B4-BE49-F238E27FC236}">
                <a16:creationId xmlns:a16="http://schemas.microsoft.com/office/drawing/2014/main" id="{702D48C0-B8E0-489A-ABC4-E6873FEED2A5}"/>
              </a:ext>
            </a:extLst>
          </p:cNvPr>
          <p:cNvSpPr>
            <a:spLocks xmlns:a="http://schemas.openxmlformats.org/drawingml/2006/main" noGrp="1"/>
          </p:cNvSpPr>
          <p:nvPr/>
        </p:nvSpPr>
        <p:spPr>
          <a:xfrm xmlns:a="http://schemas.openxmlformats.org/drawingml/2006/main">
            <a:off x="647700" y="1543050"/>
            <a:ext cx="6429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7B75"/>
                </a:solidFill>
                <a:latin typeface="Consolas"/>
                <a:ea typeface="Consolas"/>
                <a:cs typeface="Consolas"/>
              </a:defRPr>
            </a:defPPr>
            <a:lvl1pPr algn="l">
              <a:buNone/>
              <a:defRPr sz="2550" b="1">
                <a:solidFill>
                  <a:srgbClr val="137B75"/>
                </a:solidFill>
                <a:latin typeface="Consolas"/>
                <a:ea typeface="Consolas"/>
                <a:cs typeface="Consolas"/>
              </a:defRPr>
            </a:lvl1pPr>
            <a:lvl2pPr algn="l">
              <a:buNone/>
              <a:defRPr sz="2550" b="1">
                <a:solidFill>
                  <a:srgbClr val="137B75"/>
                </a:solidFill>
                <a:latin typeface="Consolas"/>
                <a:ea typeface="Consolas"/>
                <a:cs typeface="Consolas"/>
              </a:defRPr>
            </a:lvl2pPr>
            <a:lvl3pPr algn="l">
              <a:buNone/>
              <a:defRPr sz="2550" b="1">
                <a:solidFill>
                  <a:srgbClr val="137B75"/>
                </a:solidFill>
                <a:latin typeface="Consolas"/>
                <a:ea typeface="Consolas"/>
                <a:cs typeface="Consolas"/>
              </a:defRPr>
            </a:lvl3pPr>
            <a:lvl4pPr algn="l">
              <a:buNone/>
              <a:defRPr sz="2550" b="1">
                <a:solidFill>
                  <a:srgbClr val="137B75"/>
                </a:solidFill>
                <a:latin typeface="Consolas"/>
                <a:ea typeface="Consolas"/>
                <a:cs typeface="Consolas"/>
              </a:defRPr>
            </a:lvl4pPr>
            <a:lvl5pPr algn="l">
              <a:buNone/>
              <a:defRPr sz="2550" b="1">
                <a:solidFill>
                  <a:srgbClr val="137B75"/>
                </a:solidFill>
                <a:latin typeface="Consolas"/>
                <a:ea typeface="Consolas"/>
                <a:cs typeface="Consolas"/>
              </a:defRPr>
            </a:lvl5pPr>
            <a:lvl6pPr algn="l">
              <a:buNone/>
              <a:defRPr sz="2550" b="1">
                <a:solidFill>
                  <a:srgbClr val="137B75"/>
                </a:solidFill>
                <a:latin typeface="Consolas"/>
                <a:ea typeface="Consolas"/>
                <a:cs typeface="Consolas"/>
              </a:defRPr>
            </a:lvl6pPr>
            <a:lvl7pPr algn="l">
              <a:buNone/>
              <a:defRPr sz="2550" b="1">
                <a:solidFill>
                  <a:srgbClr val="137B75"/>
                </a:solidFill>
                <a:latin typeface="Consolas"/>
                <a:ea typeface="Consolas"/>
                <a:cs typeface="Consolas"/>
              </a:defRPr>
            </a:lvl7pPr>
            <a:lvl8pPr algn="l">
              <a:buNone/>
              <a:defRPr sz="2550" b="1">
                <a:solidFill>
                  <a:srgbClr val="137B75"/>
                </a:solidFill>
                <a:latin typeface="Consolas"/>
                <a:ea typeface="Consolas"/>
                <a:cs typeface="Consolas"/>
              </a:defRPr>
            </a:lvl8pPr>
            <a:lvl9pPr algn="l">
              <a:buNone/>
              <a:defRPr sz="2550" b="1">
                <a:solidFill>
                  <a:srgbClr val="137B75"/>
                </a:solidFill>
                <a:latin typeface="Consolas"/>
                <a:ea typeface="Consolas"/>
                <a:cs typeface="Consolas"/>
              </a:defRPr>
            </a:lvl9pPr>
          </a:lstStyle>
          <a:p xmlns:a="http://schemas.openxmlformats.org/drawingml/2006/main">
            <a:pPr algn="l">
              <a:buNone/>
              <a:defRPr sz="2550" b="1">
                <a:solidFill>
                  <a:srgbClr val="137B75"/>
                </a:solidFill>
                <a:latin typeface="Consolas"/>
                <a:ea typeface="Consolas"/>
                <a:cs typeface="Consolas"/>
              </a:defRPr>
            </a:pPr>
            <a:r>
              <a:rPr sz="2550" b="1">
                <a:solidFill>
                  <a:srgbClr val="137B75"/>
                </a:solidFill>
                <a:latin typeface="Consolas"/>
                <a:ea typeface="Consolas"/>
                <a:cs typeface="Consolas"/>
              </a:rPr>
              <a:t>python demo_app.py</a:t>
            </a:r>
          </a:p>
        </p:txBody>
      </p:sp>
      <p:sp>
        <p:nvSpPr>
          <p:cNvPr id="4" name="text-3">
            <a:extLst xmlns:a="http://schemas.openxmlformats.org/drawingml/2006/main">
              <a:ext uri="{FF2B5EF4-FFF2-40B4-BE49-F238E27FC236}">
                <a16:creationId xmlns:a16="http://schemas.microsoft.com/office/drawing/2014/main" id="{221C6EB3-17A3-434C-AAA4-66B23E0F6957}"/>
              </a:ext>
            </a:extLst>
          </p:cNvPr>
          <p:cNvSpPr>
            <a:spLocks xmlns:a="http://schemas.openxmlformats.org/drawingml/2006/main" noGrp="1"/>
          </p:cNvSpPr>
          <p:nvPr/>
        </p:nvSpPr>
        <p:spPr>
          <a:xfrm xmlns:a="http://schemas.openxmlformats.org/drawingml/2006/main">
            <a:off x="647700" y="21240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F40"/>
                </a:solidFill>
                <a:latin typeface="Arial"/>
                <a:ea typeface="Arial"/>
                <a:cs typeface="Arial"/>
              </a:defRPr>
            </a:defPPr>
            <a:lvl1pPr algn="l">
              <a:buNone/>
              <a:defRPr sz="2025" b="0">
                <a:solidFill>
                  <a:srgbClr val="142F40"/>
                </a:solidFill>
                <a:latin typeface="Arial"/>
                <a:ea typeface="Arial"/>
                <a:cs typeface="Arial"/>
              </a:defRPr>
            </a:lvl1pPr>
            <a:lvl2pPr algn="l">
              <a:buNone/>
              <a:defRPr sz="2025" b="0">
                <a:solidFill>
                  <a:srgbClr val="142F40"/>
                </a:solidFill>
                <a:latin typeface="Arial"/>
                <a:ea typeface="Arial"/>
                <a:cs typeface="Arial"/>
              </a:defRPr>
            </a:lvl2pPr>
            <a:lvl3pPr algn="l">
              <a:buNone/>
              <a:defRPr sz="2025" b="0">
                <a:solidFill>
                  <a:srgbClr val="142F40"/>
                </a:solidFill>
                <a:latin typeface="Arial"/>
                <a:ea typeface="Arial"/>
                <a:cs typeface="Arial"/>
              </a:defRPr>
            </a:lvl3pPr>
            <a:lvl4pPr algn="l">
              <a:buNone/>
              <a:defRPr sz="2025" b="0">
                <a:solidFill>
                  <a:srgbClr val="142F40"/>
                </a:solidFill>
                <a:latin typeface="Arial"/>
                <a:ea typeface="Arial"/>
                <a:cs typeface="Arial"/>
              </a:defRPr>
            </a:lvl4pPr>
            <a:lvl5pPr algn="l">
              <a:buNone/>
              <a:defRPr sz="2025" b="0">
                <a:solidFill>
                  <a:srgbClr val="142F40"/>
                </a:solidFill>
                <a:latin typeface="Arial"/>
                <a:ea typeface="Arial"/>
                <a:cs typeface="Arial"/>
              </a:defRPr>
            </a:lvl5pPr>
            <a:lvl6pPr algn="l">
              <a:buNone/>
              <a:defRPr sz="2025" b="0">
                <a:solidFill>
                  <a:srgbClr val="142F40"/>
                </a:solidFill>
                <a:latin typeface="Arial"/>
                <a:ea typeface="Arial"/>
                <a:cs typeface="Arial"/>
              </a:defRPr>
            </a:lvl6pPr>
            <a:lvl7pPr algn="l">
              <a:buNone/>
              <a:defRPr sz="2025" b="0">
                <a:solidFill>
                  <a:srgbClr val="142F40"/>
                </a:solidFill>
                <a:latin typeface="Arial"/>
                <a:ea typeface="Arial"/>
                <a:cs typeface="Arial"/>
              </a:defRPr>
            </a:lvl7pPr>
            <a:lvl8pPr algn="l">
              <a:buNone/>
              <a:defRPr sz="2025" b="0">
                <a:solidFill>
                  <a:srgbClr val="142F40"/>
                </a:solidFill>
                <a:latin typeface="Arial"/>
                <a:ea typeface="Arial"/>
                <a:cs typeface="Arial"/>
              </a:defRPr>
            </a:lvl8pPr>
            <a:lvl9pPr algn="l">
              <a:buNone/>
              <a:defRPr sz="2025" b="0">
                <a:solidFill>
                  <a:srgbClr val="142F40"/>
                </a:solidFill>
                <a:latin typeface="Arial"/>
                <a:ea typeface="Arial"/>
                <a:cs typeface="Arial"/>
              </a:defRPr>
            </a:lvl9pPr>
          </a:lstStyle>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Open http://127.0.0.1:8090</a:t>
            </a:r>
          </a:p>
        </p:txBody>
      </p:sp>
      <p:sp>
        <p:nvSpPr>
          <p:cNvPr id="5" name="text-4">
            <a:extLst xmlns:a="http://schemas.openxmlformats.org/drawingml/2006/main">
              <a:ext uri="{FF2B5EF4-FFF2-40B4-BE49-F238E27FC236}">
                <a16:creationId xmlns:a16="http://schemas.microsoft.com/office/drawing/2014/main" id="{04795499-9313-4DB0-B86C-C44AC3E6C410}"/>
              </a:ext>
            </a:extLst>
          </p:cNvPr>
          <p:cNvSpPr>
            <a:spLocks xmlns:a="http://schemas.openxmlformats.org/drawingml/2006/main" noGrp="1"/>
          </p:cNvSpPr>
          <p:nvPr/>
        </p:nvSpPr>
        <p:spPr>
          <a:xfrm xmlns:a="http://schemas.openxmlformats.org/drawingml/2006/main">
            <a:off x="647700" y="29051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142F40"/>
                </a:solidFill>
                <a:latin typeface="Arial"/>
                <a:ea typeface="Arial"/>
                <a:cs typeface="Arial"/>
              </a:defRPr>
            </a:lvl1pPr>
            <a:lvl2pPr algn="l">
              <a:buNone/>
              <a:defRPr sz="1875" b="0">
                <a:solidFill>
                  <a:srgbClr val="142F40"/>
                </a:solidFill>
                <a:latin typeface="Arial"/>
                <a:ea typeface="Arial"/>
                <a:cs typeface="Arial"/>
              </a:defRPr>
            </a:lvl2pPr>
            <a:lvl3pPr algn="l">
              <a:buNone/>
              <a:defRPr sz="1875" b="0">
                <a:solidFill>
                  <a:srgbClr val="142F40"/>
                </a:solidFill>
                <a:latin typeface="Arial"/>
                <a:ea typeface="Arial"/>
                <a:cs typeface="Arial"/>
              </a:defRPr>
            </a:lvl3pPr>
            <a:lvl4pPr algn="l">
              <a:buNone/>
              <a:defRPr sz="1875" b="0">
                <a:solidFill>
                  <a:srgbClr val="142F40"/>
                </a:solidFill>
                <a:latin typeface="Arial"/>
                <a:ea typeface="Arial"/>
                <a:cs typeface="Arial"/>
              </a:defRPr>
            </a:lvl4pPr>
            <a:lvl5pPr algn="l">
              <a:buNone/>
              <a:defRPr sz="1875" b="0">
                <a:solidFill>
                  <a:srgbClr val="142F40"/>
                </a:solidFill>
                <a:latin typeface="Arial"/>
                <a:ea typeface="Arial"/>
                <a:cs typeface="Arial"/>
              </a:defRPr>
            </a:lvl5pPr>
            <a:lvl6pPr algn="l">
              <a:buNone/>
              <a:defRPr sz="1875" b="0">
                <a:solidFill>
                  <a:srgbClr val="142F40"/>
                </a:solidFill>
                <a:latin typeface="Arial"/>
                <a:ea typeface="Arial"/>
                <a:cs typeface="Arial"/>
              </a:defRPr>
            </a:lvl6pPr>
            <a:lvl7pPr algn="l">
              <a:buNone/>
              <a:defRPr sz="1875" b="0">
                <a:solidFill>
                  <a:srgbClr val="142F40"/>
                </a:solidFill>
                <a:latin typeface="Arial"/>
                <a:ea typeface="Arial"/>
                <a:cs typeface="Arial"/>
              </a:defRPr>
            </a:lvl7pPr>
            <a:lvl8pPr algn="l">
              <a:buNone/>
              <a:defRPr sz="1875" b="0">
                <a:solidFill>
                  <a:srgbClr val="142F40"/>
                </a:solidFill>
                <a:latin typeface="Arial"/>
                <a:ea typeface="Arial"/>
                <a:cs typeface="Arial"/>
              </a:defRPr>
            </a:lvl8pPr>
            <a:lvl9pPr algn="l">
              <a:buNone/>
              <a:defRPr sz="1875" b="0">
                <a:solidFill>
                  <a:srgbClr val="142F40"/>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1   Take turns: round-robin</a:t>
            </a:r>
          </a:p>
        </p:txBody>
      </p:sp>
      <p:sp>
        <p:nvSpPr>
          <p:cNvPr id="6" name="text-5">
            <a:extLst xmlns:a="http://schemas.openxmlformats.org/drawingml/2006/main">
              <a:ext uri="{FF2B5EF4-FFF2-40B4-BE49-F238E27FC236}">
                <a16:creationId xmlns:a16="http://schemas.microsoft.com/office/drawing/2014/main" id="{9FB89E44-DF02-4E90-B73B-5FB82034BA8B}"/>
              </a:ext>
            </a:extLst>
          </p:cNvPr>
          <p:cNvSpPr>
            <a:spLocks xmlns:a="http://schemas.openxmlformats.org/drawingml/2006/main" noGrp="1"/>
          </p:cNvSpPr>
          <p:nvPr/>
        </p:nvSpPr>
        <p:spPr>
          <a:xfrm xmlns:a="http://schemas.openxmlformats.org/drawingml/2006/main">
            <a:off x="647700" y="33432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142F40"/>
                </a:solidFill>
                <a:latin typeface="Arial"/>
                <a:ea typeface="Arial"/>
                <a:cs typeface="Arial"/>
              </a:defRPr>
            </a:lvl1pPr>
            <a:lvl2pPr algn="l">
              <a:buNone/>
              <a:defRPr sz="1875" b="0">
                <a:solidFill>
                  <a:srgbClr val="142F40"/>
                </a:solidFill>
                <a:latin typeface="Arial"/>
                <a:ea typeface="Arial"/>
                <a:cs typeface="Arial"/>
              </a:defRPr>
            </a:lvl2pPr>
            <a:lvl3pPr algn="l">
              <a:buNone/>
              <a:defRPr sz="1875" b="0">
                <a:solidFill>
                  <a:srgbClr val="142F40"/>
                </a:solidFill>
                <a:latin typeface="Arial"/>
                <a:ea typeface="Arial"/>
                <a:cs typeface="Arial"/>
              </a:defRPr>
            </a:lvl3pPr>
            <a:lvl4pPr algn="l">
              <a:buNone/>
              <a:defRPr sz="1875" b="0">
                <a:solidFill>
                  <a:srgbClr val="142F40"/>
                </a:solidFill>
                <a:latin typeface="Arial"/>
                <a:ea typeface="Arial"/>
                <a:cs typeface="Arial"/>
              </a:defRPr>
            </a:lvl4pPr>
            <a:lvl5pPr algn="l">
              <a:buNone/>
              <a:defRPr sz="1875" b="0">
                <a:solidFill>
                  <a:srgbClr val="142F40"/>
                </a:solidFill>
                <a:latin typeface="Arial"/>
                <a:ea typeface="Arial"/>
                <a:cs typeface="Arial"/>
              </a:defRPr>
            </a:lvl5pPr>
            <a:lvl6pPr algn="l">
              <a:buNone/>
              <a:defRPr sz="1875" b="0">
                <a:solidFill>
                  <a:srgbClr val="142F40"/>
                </a:solidFill>
                <a:latin typeface="Arial"/>
                <a:ea typeface="Arial"/>
                <a:cs typeface="Arial"/>
              </a:defRPr>
            </a:lvl6pPr>
            <a:lvl7pPr algn="l">
              <a:buNone/>
              <a:defRPr sz="1875" b="0">
                <a:solidFill>
                  <a:srgbClr val="142F40"/>
                </a:solidFill>
                <a:latin typeface="Arial"/>
                <a:ea typeface="Arial"/>
                <a:cs typeface="Arial"/>
              </a:defRPr>
            </a:lvl7pPr>
            <a:lvl8pPr algn="l">
              <a:buNone/>
              <a:defRPr sz="1875" b="0">
                <a:solidFill>
                  <a:srgbClr val="142F40"/>
                </a:solidFill>
                <a:latin typeface="Arial"/>
                <a:ea typeface="Arial"/>
                <a:cs typeface="Arial"/>
              </a:defRPr>
            </a:lvl8pPr>
            <a:lvl9pPr algn="l">
              <a:buNone/>
              <a:defRPr sz="1875" b="0">
                <a:solidFill>
                  <a:srgbClr val="142F40"/>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2   Give capacity a weight: 3:2:1</a:t>
            </a:r>
          </a:p>
        </p:txBody>
      </p:sp>
      <p:sp>
        <p:nvSpPr>
          <p:cNvPr id="7" name="text-6">
            <a:extLst xmlns:a="http://schemas.openxmlformats.org/drawingml/2006/main">
              <a:ext uri="{FF2B5EF4-FFF2-40B4-BE49-F238E27FC236}">
                <a16:creationId xmlns:a16="http://schemas.microsoft.com/office/drawing/2014/main" id="{227D58F6-2422-4A83-AEAF-27B229192F41}"/>
              </a:ext>
            </a:extLst>
          </p:cNvPr>
          <p:cNvSpPr>
            <a:spLocks xmlns:a="http://schemas.openxmlformats.org/drawingml/2006/main" noGrp="1"/>
          </p:cNvSpPr>
          <p:nvPr/>
        </p:nvSpPr>
        <p:spPr>
          <a:xfrm xmlns:a="http://schemas.openxmlformats.org/drawingml/2006/main">
            <a:off x="647700" y="37814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142F40"/>
                </a:solidFill>
                <a:latin typeface="Arial"/>
                <a:ea typeface="Arial"/>
                <a:cs typeface="Arial"/>
              </a:defRPr>
            </a:lvl1pPr>
            <a:lvl2pPr algn="l">
              <a:buNone/>
              <a:defRPr sz="1875" b="0">
                <a:solidFill>
                  <a:srgbClr val="142F40"/>
                </a:solidFill>
                <a:latin typeface="Arial"/>
                <a:ea typeface="Arial"/>
                <a:cs typeface="Arial"/>
              </a:defRPr>
            </a:lvl2pPr>
            <a:lvl3pPr algn="l">
              <a:buNone/>
              <a:defRPr sz="1875" b="0">
                <a:solidFill>
                  <a:srgbClr val="142F40"/>
                </a:solidFill>
                <a:latin typeface="Arial"/>
                <a:ea typeface="Arial"/>
                <a:cs typeface="Arial"/>
              </a:defRPr>
            </a:lvl3pPr>
            <a:lvl4pPr algn="l">
              <a:buNone/>
              <a:defRPr sz="1875" b="0">
                <a:solidFill>
                  <a:srgbClr val="142F40"/>
                </a:solidFill>
                <a:latin typeface="Arial"/>
                <a:ea typeface="Arial"/>
                <a:cs typeface="Arial"/>
              </a:defRPr>
            </a:lvl4pPr>
            <a:lvl5pPr algn="l">
              <a:buNone/>
              <a:defRPr sz="1875" b="0">
                <a:solidFill>
                  <a:srgbClr val="142F40"/>
                </a:solidFill>
                <a:latin typeface="Arial"/>
                <a:ea typeface="Arial"/>
                <a:cs typeface="Arial"/>
              </a:defRPr>
            </a:lvl5pPr>
            <a:lvl6pPr algn="l">
              <a:buNone/>
              <a:defRPr sz="1875" b="0">
                <a:solidFill>
                  <a:srgbClr val="142F40"/>
                </a:solidFill>
                <a:latin typeface="Arial"/>
                <a:ea typeface="Arial"/>
                <a:cs typeface="Arial"/>
              </a:defRPr>
            </a:lvl6pPr>
            <a:lvl7pPr algn="l">
              <a:buNone/>
              <a:defRPr sz="1875" b="0">
                <a:solidFill>
                  <a:srgbClr val="142F40"/>
                </a:solidFill>
                <a:latin typeface="Arial"/>
                <a:ea typeface="Arial"/>
                <a:cs typeface="Arial"/>
              </a:defRPr>
            </a:lvl7pPr>
            <a:lvl8pPr algn="l">
              <a:buNone/>
              <a:defRPr sz="1875" b="0">
                <a:solidFill>
                  <a:srgbClr val="142F40"/>
                </a:solidFill>
                <a:latin typeface="Arial"/>
                <a:ea typeface="Arial"/>
                <a:cs typeface="Arial"/>
              </a:defRPr>
            </a:lvl8pPr>
            <a:lvl9pPr algn="l">
              <a:buNone/>
              <a:defRPr sz="1875" b="0">
                <a:solidFill>
                  <a:srgbClr val="142F40"/>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3   Keep a busy server free</a:t>
            </a:r>
          </a:p>
        </p:txBody>
      </p:sp>
      <p:sp>
        <p:nvSpPr>
          <p:cNvPr id="8" name="text-7">
            <a:extLst xmlns:a="http://schemas.openxmlformats.org/drawingml/2006/main">
              <a:ext uri="{FF2B5EF4-FFF2-40B4-BE49-F238E27FC236}">
                <a16:creationId xmlns:a16="http://schemas.microsoft.com/office/drawing/2014/main" id="{95770A62-F56F-4CEB-98CE-2170CAB2ADAE}"/>
              </a:ext>
            </a:extLst>
          </p:cNvPr>
          <p:cNvSpPr>
            <a:spLocks xmlns:a="http://schemas.openxmlformats.org/drawingml/2006/main" noGrp="1"/>
          </p:cNvSpPr>
          <p:nvPr/>
        </p:nvSpPr>
        <p:spPr>
          <a:xfrm xmlns:a="http://schemas.openxmlformats.org/drawingml/2006/main">
            <a:off x="647700" y="42195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142F40"/>
                </a:solidFill>
                <a:latin typeface="Arial"/>
                <a:ea typeface="Arial"/>
                <a:cs typeface="Arial"/>
              </a:defRPr>
            </a:lvl1pPr>
            <a:lvl2pPr algn="l">
              <a:buNone/>
              <a:defRPr sz="1875" b="0">
                <a:solidFill>
                  <a:srgbClr val="142F40"/>
                </a:solidFill>
                <a:latin typeface="Arial"/>
                <a:ea typeface="Arial"/>
                <a:cs typeface="Arial"/>
              </a:defRPr>
            </a:lvl2pPr>
            <a:lvl3pPr algn="l">
              <a:buNone/>
              <a:defRPr sz="1875" b="0">
                <a:solidFill>
                  <a:srgbClr val="142F40"/>
                </a:solidFill>
                <a:latin typeface="Arial"/>
                <a:ea typeface="Arial"/>
                <a:cs typeface="Arial"/>
              </a:defRPr>
            </a:lvl3pPr>
            <a:lvl4pPr algn="l">
              <a:buNone/>
              <a:defRPr sz="1875" b="0">
                <a:solidFill>
                  <a:srgbClr val="142F40"/>
                </a:solidFill>
                <a:latin typeface="Arial"/>
                <a:ea typeface="Arial"/>
                <a:cs typeface="Arial"/>
              </a:defRPr>
            </a:lvl4pPr>
            <a:lvl5pPr algn="l">
              <a:buNone/>
              <a:defRPr sz="1875" b="0">
                <a:solidFill>
                  <a:srgbClr val="142F40"/>
                </a:solidFill>
                <a:latin typeface="Arial"/>
                <a:ea typeface="Arial"/>
                <a:cs typeface="Arial"/>
              </a:defRPr>
            </a:lvl5pPr>
            <a:lvl6pPr algn="l">
              <a:buNone/>
              <a:defRPr sz="1875" b="0">
                <a:solidFill>
                  <a:srgbClr val="142F40"/>
                </a:solidFill>
                <a:latin typeface="Arial"/>
                <a:ea typeface="Arial"/>
                <a:cs typeface="Arial"/>
              </a:defRPr>
            </a:lvl6pPr>
            <a:lvl7pPr algn="l">
              <a:buNone/>
              <a:defRPr sz="1875" b="0">
                <a:solidFill>
                  <a:srgbClr val="142F40"/>
                </a:solidFill>
                <a:latin typeface="Arial"/>
                <a:ea typeface="Arial"/>
                <a:cs typeface="Arial"/>
              </a:defRPr>
            </a:lvl7pPr>
            <a:lvl8pPr algn="l">
              <a:buNone/>
              <a:defRPr sz="1875" b="0">
                <a:solidFill>
                  <a:srgbClr val="142F40"/>
                </a:solidFill>
                <a:latin typeface="Arial"/>
                <a:ea typeface="Arial"/>
                <a:cs typeface="Arial"/>
              </a:defRPr>
            </a:lvl8pPr>
            <a:lvl9pPr algn="l">
              <a:buNone/>
              <a:defRPr sz="1875" b="0">
                <a:solidFill>
                  <a:srgbClr val="142F40"/>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4   Route API and static requests</a:t>
            </a:r>
          </a:p>
        </p:txBody>
      </p:sp>
      <p:sp>
        <p:nvSpPr>
          <p:cNvPr id="9" name="text-8">
            <a:extLst xmlns:a="http://schemas.openxmlformats.org/drawingml/2006/main">
              <a:ext uri="{FF2B5EF4-FFF2-40B4-BE49-F238E27FC236}">
                <a16:creationId xmlns:a16="http://schemas.microsoft.com/office/drawing/2014/main" id="{20DC2FC0-A07F-4E29-B360-125F4AECDCBB}"/>
              </a:ext>
            </a:extLst>
          </p:cNvPr>
          <p:cNvSpPr>
            <a:spLocks xmlns:a="http://schemas.openxmlformats.org/drawingml/2006/main" noGrp="1"/>
          </p:cNvSpPr>
          <p:nvPr/>
        </p:nvSpPr>
        <p:spPr>
          <a:xfrm xmlns:a="http://schemas.openxmlformats.org/drawingml/2006/main">
            <a:off x="647700" y="46577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142F40"/>
                </a:solidFill>
                <a:latin typeface="Arial"/>
                <a:ea typeface="Arial"/>
                <a:cs typeface="Arial"/>
              </a:defRPr>
            </a:lvl1pPr>
            <a:lvl2pPr algn="l">
              <a:buNone/>
              <a:defRPr sz="1875" b="0">
                <a:solidFill>
                  <a:srgbClr val="142F40"/>
                </a:solidFill>
                <a:latin typeface="Arial"/>
                <a:ea typeface="Arial"/>
                <a:cs typeface="Arial"/>
              </a:defRPr>
            </a:lvl2pPr>
            <a:lvl3pPr algn="l">
              <a:buNone/>
              <a:defRPr sz="1875" b="0">
                <a:solidFill>
                  <a:srgbClr val="142F40"/>
                </a:solidFill>
                <a:latin typeface="Arial"/>
                <a:ea typeface="Arial"/>
                <a:cs typeface="Arial"/>
              </a:defRPr>
            </a:lvl3pPr>
            <a:lvl4pPr algn="l">
              <a:buNone/>
              <a:defRPr sz="1875" b="0">
                <a:solidFill>
                  <a:srgbClr val="142F40"/>
                </a:solidFill>
                <a:latin typeface="Arial"/>
                <a:ea typeface="Arial"/>
                <a:cs typeface="Arial"/>
              </a:defRPr>
            </a:lvl4pPr>
            <a:lvl5pPr algn="l">
              <a:buNone/>
              <a:defRPr sz="1875" b="0">
                <a:solidFill>
                  <a:srgbClr val="142F40"/>
                </a:solidFill>
                <a:latin typeface="Arial"/>
                <a:ea typeface="Arial"/>
                <a:cs typeface="Arial"/>
              </a:defRPr>
            </a:lvl5pPr>
            <a:lvl6pPr algn="l">
              <a:buNone/>
              <a:defRPr sz="1875" b="0">
                <a:solidFill>
                  <a:srgbClr val="142F40"/>
                </a:solidFill>
                <a:latin typeface="Arial"/>
                <a:ea typeface="Arial"/>
                <a:cs typeface="Arial"/>
              </a:defRPr>
            </a:lvl6pPr>
            <a:lvl7pPr algn="l">
              <a:buNone/>
              <a:defRPr sz="1875" b="0">
                <a:solidFill>
                  <a:srgbClr val="142F40"/>
                </a:solidFill>
                <a:latin typeface="Arial"/>
                <a:ea typeface="Arial"/>
                <a:cs typeface="Arial"/>
              </a:defRPr>
            </a:lvl7pPr>
            <a:lvl8pPr algn="l">
              <a:buNone/>
              <a:defRPr sz="1875" b="0">
                <a:solidFill>
                  <a:srgbClr val="142F40"/>
                </a:solidFill>
                <a:latin typeface="Arial"/>
                <a:ea typeface="Arial"/>
                <a:cs typeface="Arial"/>
              </a:defRPr>
            </a:lvl8pPr>
            <a:lvl9pPr algn="l">
              <a:buNone/>
              <a:defRPr sz="1875" b="0">
                <a:solidFill>
                  <a:srgbClr val="142F40"/>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5   Stop and restart backend 2</a:t>
            </a:r>
          </a:p>
        </p:txBody>
      </p:sp>
      <p:sp>
        <p:nvSpPr>
          <p:cNvPr id="10" name="text-9">
            <a:extLst xmlns:a="http://schemas.openxmlformats.org/drawingml/2006/main">
              <a:ext uri="{FF2B5EF4-FFF2-40B4-BE49-F238E27FC236}">
                <a16:creationId xmlns:a16="http://schemas.microsoft.com/office/drawing/2014/main" id="{2ABEB385-BAF3-496F-A7B6-D92C5498E4D2}"/>
              </a:ext>
            </a:extLst>
          </p:cNvPr>
          <p:cNvSpPr>
            <a:spLocks xmlns:a="http://schemas.openxmlformats.org/drawingml/2006/main" noGrp="1"/>
          </p:cNvSpPr>
          <p:nvPr/>
        </p:nvSpPr>
        <p:spPr>
          <a:xfrm xmlns:a="http://schemas.openxmlformats.org/drawingml/2006/main">
            <a:off x="647700" y="50958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Arial"/>
                <a:ea typeface="Arial"/>
                <a:cs typeface="Arial"/>
              </a:defRPr>
            </a:defPPr>
            <a:lvl1pPr algn="l">
              <a:buNone/>
              <a:defRPr sz="1875" b="0">
                <a:solidFill>
                  <a:srgbClr val="142F40"/>
                </a:solidFill>
                <a:latin typeface="Arial"/>
                <a:ea typeface="Arial"/>
                <a:cs typeface="Arial"/>
              </a:defRPr>
            </a:lvl1pPr>
            <a:lvl2pPr algn="l">
              <a:buNone/>
              <a:defRPr sz="1875" b="0">
                <a:solidFill>
                  <a:srgbClr val="142F40"/>
                </a:solidFill>
                <a:latin typeface="Arial"/>
                <a:ea typeface="Arial"/>
                <a:cs typeface="Arial"/>
              </a:defRPr>
            </a:lvl2pPr>
            <a:lvl3pPr algn="l">
              <a:buNone/>
              <a:defRPr sz="1875" b="0">
                <a:solidFill>
                  <a:srgbClr val="142F40"/>
                </a:solidFill>
                <a:latin typeface="Arial"/>
                <a:ea typeface="Arial"/>
                <a:cs typeface="Arial"/>
              </a:defRPr>
            </a:lvl3pPr>
            <a:lvl4pPr algn="l">
              <a:buNone/>
              <a:defRPr sz="1875" b="0">
                <a:solidFill>
                  <a:srgbClr val="142F40"/>
                </a:solidFill>
                <a:latin typeface="Arial"/>
                <a:ea typeface="Arial"/>
                <a:cs typeface="Arial"/>
              </a:defRPr>
            </a:lvl4pPr>
            <a:lvl5pPr algn="l">
              <a:buNone/>
              <a:defRPr sz="1875" b="0">
                <a:solidFill>
                  <a:srgbClr val="142F40"/>
                </a:solidFill>
                <a:latin typeface="Arial"/>
                <a:ea typeface="Arial"/>
                <a:cs typeface="Arial"/>
              </a:defRPr>
            </a:lvl5pPr>
            <a:lvl6pPr algn="l">
              <a:buNone/>
              <a:defRPr sz="1875" b="0">
                <a:solidFill>
                  <a:srgbClr val="142F40"/>
                </a:solidFill>
                <a:latin typeface="Arial"/>
                <a:ea typeface="Arial"/>
                <a:cs typeface="Arial"/>
              </a:defRPr>
            </a:lvl6pPr>
            <a:lvl7pPr algn="l">
              <a:buNone/>
              <a:defRPr sz="1875" b="0">
                <a:solidFill>
                  <a:srgbClr val="142F40"/>
                </a:solidFill>
                <a:latin typeface="Arial"/>
                <a:ea typeface="Arial"/>
                <a:cs typeface="Arial"/>
              </a:defRPr>
            </a:lvl7pPr>
            <a:lvl8pPr algn="l">
              <a:buNone/>
              <a:defRPr sz="1875" b="0">
                <a:solidFill>
                  <a:srgbClr val="142F40"/>
                </a:solidFill>
                <a:latin typeface="Arial"/>
                <a:ea typeface="Arial"/>
                <a:cs typeface="Arial"/>
              </a:defRPr>
            </a:lvl8pPr>
            <a:lvl9pPr algn="l">
              <a:buNone/>
              <a:defRPr sz="1875" b="0">
                <a:solidFill>
                  <a:srgbClr val="142F40"/>
                </a:solidFill>
                <a:latin typeface="Arial"/>
                <a:ea typeface="Arial"/>
                <a:cs typeface="Arial"/>
              </a:defRPr>
            </a:lvl9pPr>
          </a:lstStyle>
          <a:p xmlns:a="http://schemas.openxmlformats.org/drawingml/2006/main">
            <a:pPr algn="l">
              <a:buNone/>
              <a:defRPr sz="1875" b="0">
                <a:solidFill>
                  <a:srgbClr val="142F40"/>
                </a:solidFill>
                <a:latin typeface="Arial"/>
                <a:ea typeface="Arial"/>
                <a:cs typeface="Arial"/>
              </a:defRPr>
            </a:pPr>
            <a:r>
              <a:rPr sz="1875" b="0">
                <a:solidFill>
                  <a:srgbClr val="142F40"/>
                </a:solidFill>
                <a:latin typeface="Arial"/>
                <a:ea typeface="Arial"/>
                <a:cs typeface="Arial"/>
              </a:rPr>
              <a:t>6   Send /truncate; inspect the log</a:t>
            </a:r>
          </a:p>
        </p:txBody>
      </p:sp>
      <p:sp>
        <p:nvSpPr>
          <p:cNvPr id="11" name="text-10">
            <a:extLst xmlns:a="http://schemas.openxmlformats.org/drawingml/2006/main">
              <a:ext uri="{FF2B5EF4-FFF2-40B4-BE49-F238E27FC236}">
                <a16:creationId xmlns:a16="http://schemas.microsoft.com/office/drawing/2014/main" id="{CE3CB7A0-D340-4E58-AA2D-CC5C8AB6E3DE}"/>
              </a:ext>
            </a:extLst>
          </p:cNvPr>
          <p:cNvSpPr>
            <a:spLocks xmlns:a="http://schemas.openxmlformats.org/drawingml/2006/main" noGrp="1"/>
          </p:cNvSpPr>
          <p:nvPr/>
        </p:nvSpPr>
        <p:spPr>
          <a:xfrm xmlns:a="http://schemas.openxmlformats.org/drawingml/2006/main">
            <a:off x="647700" y="5695950"/>
            <a:ext cx="657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37B75"/>
                </a:solidFill>
                <a:latin typeface="Arial"/>
                <a:ea typeface="Arial"/>
                <a:cs typeface="Arial"/>
              </a:defRPr>
            </a:defPPr>
            <a:lvl1pPr algn="l">
              <a:buNone/>
              <a:defRPr sz="1725" b="1">
                <a:solidFill>
                  <a:srgbClr val="137B75"/>
                </a:solidFill>
                <a:latin typeface="Arial"/>
                <a:ea typeface="Arial"/>
                <a:cs typeface="Arial"/>
              </a:defRPr>
            </a:lvl1pPr>
            <a:lvl2pPr algn="l">
              <a:buNone/>
              <a:defRPr sz="1725" b="1">
                <a:solidFill>
                  <a:srgbClr val="137B75"/>
                </a:solidFill>
                <a:latin typeface="Arial"/>
                <a:ea typeface="Arial"/>
                <a:cs typeface="Arial"/>
              </a:defRPr>
            </a:lvl2pPr>
            <a:lvl3pPr algn="l">
              <a:buNone/>
              <a:defRPr sz="1725" b="1">
                <a:solidFill>
                  <a:srgbClr val="137B75"/>
                </a:solidFill>
                <a:latin typeface="Arial"/>
                <a:ea typeface="Arial"/>
                <a:cs typeface="Arial"/>
              </a:defRPr>
            </a:lvl3pPr>
            <a:lvl4pPr algn="l">
              <a:buNone/>
              <a:defRPr sz="1725" b="1">
                <a:solidFill>
                  <a:srgbClr val="137B75"/>
                </a:solidFill>
                <a:latin typeface="Arial"/>
                <a:ea typeface="Arial"/>
                <a:cs typeface="Arial"/>
              </a:defRPr>
            </a:lvl4pPr>
            <a:lvl5pPr algn="l">
              <a:buNone/>
              <a:defRPr sz="1725" b="1">
                <a:solidFill>
                  <a:srgbClr val="137B75"/>
                </a:solidFill>
                <a:latin typeface="Arial"/>
                <a:ea typeface="Arial"/>
                <a:cs typeface="Arial"/>
              </a:defRPr>
            </a:lvl5pPr>
            <a:lvl6pPr algn="l">
              <a:buNone/>
              <a:defRPr sz="1725" b="1">
                <a:solidFill>
                  <a:srgbClr val="137B75"/>
                </a:solidFill>
                <a:latin typeface="Arial"/>
                <a:ea typeface="Arial"/>
                <a:cs typeface="Arial"/>
              </a:defRPr>
            </a:lvl6pPr>
            <a:lvl7pPr algn="l">
              <a:buNone/>
              <a:defRPr sz="1725" b="1">
                <a:solidFill>
                  <a:srgbClr val="137B75"/>
                </a:solidFill>
                <a:latin typeface="Arial"/>
                <a:ea typeface="Arial"/>
                <a:cs typeface="Arial"/>
              </a:defRPr>
            </a:lvl7pPr>
            <a:lvl8pPr algn="l">
              <a:buNone/>
              <a:defRPr sz="1725" b="1">
                <a:solidFill>
                  <a:srgbClr val="137B75"/>
                </a:solidFill>
                <a:latin typeface="Arial"/>
                <a:ea typeface="Arial"/>
                <a:cs typeface="Arial"/>
              </a:defRPr>
            </a:lvl8pPr>
            <a:lvl9pPr algn="l">
              <a:buNone/>
              <a:defRPr sz="1725" b="1">
                <a:solidFill>
                  <a:srgbClr val="137B75"/>
                </a:solidFill>
                <a:latin typeface="Arial"/>
                <a:ea typeface="Arial"/>
                <a:cs typeface="Arial"/>
              </a:defRPr>
            </a:lvl9pPr>
          </a:lstStyle>
          <a:p xmlns:a="http://schemas.openxmlformats.org/drawingml/2006/main">
            <a:pPr algn="l">
              <a:buNone/>
              <a:defRPr sz="1725" b="1">
                <a:solidFill>
                  <a:srgbClr val="137B75"/>
                </a:solidFill>
                <a:latin typeface="Arial"/>
                <a:ea typeface="Arial"/>
                <a:cs typeface="Arial"/>
              </a:defRPr>
            </a:pPr>
            <a:r>
              <a:rPr sz="1725" b="1">
                <a:solidFill>
                  <a:srgbClr val="137B75"/>
                </a:solidFill>
                <a:latin typeface="Arial"/>
                <a:ea typeface="Arial"/>
                <a:cs typeface="Arial"/>
              </a:rPr>
              <a:t>Use manual Send traffic for the failure demo.</a:t>
            </a:r>
          </a:p>
          <a:p xmlns:a="http://schemas.openxmlformats.org/drawingml/2006/main">
            <a:pPr algn="l">
              <a:buNone/>
              <a:defRPr sz="1725" b="1">
                <a:solidFill>
                  <a:srgbClr val="137B75"/>
                </a:solidFill>
                <a:latin typeface="Arial"/>
                <a:ea typeface="Arial"/>
                <a:cs typeface="Arial"/>
              </a:defRPr>
            </a:pPr>
            <a:r>
              <a:rPr sz="1725" b="1">
                <a:solidFill>
                  <a:srgbClr val="137B75"/>
                </a:solidFill>
                <a:latin typeface="Arial"/>
                <a:ea typeface="Arial"/>
                <a:cs typeface="Arial"/>
              </a:rPr>
              <a:t>Guided experiments restore all servers.</a:t>
            </a:r>
          </a:p>
        </p:txBody>
      </p:sp>
      <p:pic>
        <p:nvPicPr>
          <p:cNvPr id="12" name="">
            <a:extLst xmlns:a="http://schemas.openxmlformats.org/drawingml/2006/main">
              <a:ext uri="{FF2B5EF4-FFF2-40B4-BE49-F238E27FC236}">
                <a16:creationId xmlns:a16="http://schemas.microsoft.com/office/drawing/2014/main" id="{EA0CE6F9-D20A-40BF-9983-4C176E07BE6A}"/>
              </a:ext>
            </a:extLst>
          </p:cNvPr>
          <p:cNvPicPr>
            <a:picLocks xmlns:a="http://schemas.openxmlformats.org/drawingml/2006/main" noChangeAspect="1"/>
          </p:cNvPicPr>
          <p:nvPr/>
        </p:nvPicPr>
        <p:blipFill>
          <a:blip xmlns:r="http://schemas.openxmlformats.org/officeDocument/2006/relationships" xmlns:a="http://schemas.openxmlformats.org/drawingml/2006/main" r:embed="R72473716d4ca4885"/>
          <a:stretch xmlns:a="http://schemas.openxmlformats.org/drawingml/2006/main"/>
        </p:blipFill>
        <p:spPr>
          <a:xfrm xmlns:a="http://schemas.openxmlformats.org/drawingml/2006/main">
            <a:off x="7591425" y="1530614"/>
            <a:ext cx="3952875" cy="4406373"/>
          </a:xfrm>
          <a:prstGeom xmlns:a="http://schemas.openxmlformats.org/drawingml/2006/main" prst="rect">
            <a:avLst/>
          </a:prstGeom>
        </p:spPr>
      </p:pic>
      <p:sp>
        <p:nvSpPr>
          <p:cNvPr id="13" name="text-11">
            <a:extLst xmlns:a="http://schemas.openxmlformats.org/drawingml/2006/main">
              <a:ext uri="{FF2B5EF4-FFF2-40B4-BE49-F238E27FC236}">
                <a16:creationId xmlns:a16="http://schemas.microsoft.com/office/drawing/2014/main" id="{A86BDBC8-A525-4FF5-B732-A7FD8C823DE9}"/>
              </a:ext>
            </a:extLst>
          </p:cNvPr>
          <p:cNvSpPr>
            <a:spLocks xmlns:a="http://schemas.openxmlformats.org/drawingml/2006/main" noGrp="1"/>
          </p:cNvSpPr>
          <p:nvPr/>
        </p:nvSpPr>
        <p:spPr>
          <a:xfrm xmlns:a="http://schemas.openxmlformats.org/drawingml/2006/main">
            <a:off x="7620000" y="6067425"/>
            <a:ext cx="395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46673"/>
                </a:solidFill>
                <a:latin typeface="Arial"/>
                <a:ea typeface="Arial"/>
                <a:cs typeface="Arial"/>
              </a:defRPr>
            </a:defPPr>
            <a:lvl1pPr algn="l">
              <a:buNone/>
              <a:defRPr sz="1350" b="0">
                <a:solidFill>
                  <a:srgbClr val="546673"/>
                </a:solidFill>
                <a:latin typeface="Arial"/>
                <a:ea typeface="Arial"/>
                <a:cs typeface="Arial"/>
              </a:defRPr>
            </a:lvl1pPr>
            <a:lvl2pPr algn="l">
              <a:buNone/>
              <a:defRPr sz="1350" b="0">
                <a:solidFill>
                  <a:srgbClr val="546673"/>
                </a:solidFill>
                <a:latin typeface="Arial"/>
                <a:ea typeface="Arial"/>
                <a:cs typeface="Arial"/>
              </a:defRPr>
            </a:lvl2pPr>
            <a:lvl3pPr algn="l">
              <a:buNone/>
              <a:defRPr sz="1350" b="0">
                <a:solidFill>
                  <a:srgbClr val="546673"/>
                </a:solidFill>
                <a:latin typeface="Arial"/>
                <a:ea typeface="Arial"/>
                <a:cs typeface="Arial"/>
              </a:defRPr>
            </a:lvl3pPr>
            <a:lvl4pPr algn="l">
              <a:buNone/>
              <a:defRPr sz="1350" b="0">
                <a:solidFill>
                  <a:srgbClr val="546673"/>
                </a:solidFill>
                <a:latin typeface="Arial"/>
                <a:ea typeface="Arial"/>
                <a:cs typeface="Arial"/>
              </a:defRPr>
            </a:lvl4pPr>
            <a:lvl5pPr algn="l">
              <a:buNone/>
              <a:defRPr sz="1350" b="0">
                <a:solidFill>
                  <a:srgbClr val="546673"/>
                </a:solidFill>
                <a:latin typeface="Arial"/>
                <a:ea typeface="Arial"/>
                <a:cs typeface="Arial"/>
              </a:defRPr>
            </a:lvl5pPr>
            <a:lvl6pPr algn="l">
              <a:buNone/>
              <a:defRPr sz="1350" b="0">
                <a:solidFill>
                  <a:srgbClr val="546673"/>
                </a:solidFill>
                <a:latin typeface="Arial"/>
                <a:ea typeface="Arial"/>
                <a:cs typeface="Arial"/>
              </a:defRPr>
            </a:lvl6pPr>
            <a:lvl7pPr algn="l">
              <a:buNone/>
              <a:defRPr sz="1350" b="0">
                <a:solidFill>
                  <a:srgbClr val="546673"/>
                </a:solidFill>
                <a:latin typeface="Arial"/>
                <a:ea typeface="Arial"/>
                <a:cs typeface="Arial"/>
              </a:defRPr>
            </a:lvl7pPr>
            <a:lvl8pPr algn="l">
              <a:buNone/>
              <a:defRPr sz="1350" b="0">
                <a:solidFill>
                  <a:srgbClr val="546673"/>
                </a:solidFill>
                <a:latin typeface="Arial"/>
                <a:ea typeface="Arial"/>
                <a:cs typeface="Arial"/>
              </a:defRPr>
            </a:lvl8pPr>
            <a:lvl9pPr algn="l">
              <a:buNone/>
              <a:defRPr sz="1350" b="0">
                <a:solidFill>
                  <a:srgbClr val="546673"/>
                </a:solidFill>
                <a:latin typeface="Arial"/>
                <a:ea typeface="Arial"/>
                <a:cs typeface="Arial"/>
              </a:defRPr>
            </a:lvl9pPr>
          </a:lstStyle>
          <a:p xmlns:a="http://schemas.openxmlformats.org/drawingml/2006/main">
            <a:pPr algn="l">
              <a:buNone/>
              <a:defRPr sz="1350" b="0">
                <a:solidFill>
                  <a:srgbClr val="546673"/>
                </a:solidFill>
                <a:latin typeface="Arial"/>
                <a:ea typeface="Arial"/>
                <a:cs typeface="Arial"/>
              </a:defRPr>
            </a:pPr>
            <a:r>
              <a:rPr sz="1350" b="0">
                <a:solidFill>
                  <a:srgbClr val="546673"/>
                </a:solidFill>
                <a:latin typeface="Arial"/>
                <a:ea typeface="Arial"/>
                <a:cs typeface="Arial"/>
              </a:rPr>
              <a:t>Recorded weighted run · counts 6 / 4 / 2</a:t>
            </a:r>
          </a:p>
        </p:txBody>
      </p:sp>
    </p:spTree>
    <p:extLst>
      <p:ext uri="{BB962C8B-B14F-4D97-AF65-F5344CB8AC3E}">
        <p14:creationId xmlns:p14="http://schemas.microsoft.com/office/powerpoint/2010/main" val="12965476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55AFA09-3F79-44D5-B898-38F63521E252}"/>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Recorded results</a:t>
            </a:r>
          </a:p>
        </p:txBody>
      </p:sp>
      <p:sp>
        <p:nvSpPr>
          <p:cNvPr id="2" name="text-1">
            <a:extLst xmlns:a="http://schemas.openxmlformats.org/drawingml/2006/main">
              <a:ext uri="{FF2B5EF4-FFF2-40B4-BE49-F238E27FC236}">
                <a16:creationId xmlns:a16="http://schemas.microsoft.com/office/drawing/2014/main" id="{31BEC637-4A1A-44E4-9B5E-3C406DA65372}"/>
              </a:ext>
            </a:extLst>
          </p:cNvPr>
          <p:cNvSpPr>
            <a:spLocks xmlns:a="http://schemas.openxmlformats.org/drawingml/2006/main" noGrp="1"/>
          </p:cNvSpPr>
          <p:nvPr/>
        </p:nvSpPr>
        <p:spPr>
          <a:xfrm xmlns:a="http://schemas.openxmlformats.org/drawingml/2006/main">
            <a:off x="628650" y="114300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Controlled local runs on Windows with Python 3.13.0</a:t>
            </a:r>
          </a:p>
        </p:txBody>
      </p:sp>
      <p:sp>
        <p:nvSpPr>
          <p:cNvPr id="3" name="text-2">
            <a:extLst xmlns:a="http://schemas.openxmlformats.org/drawingml/2006/main">
              <a:ext uri="{FF2B5EF4-FFF2-40B4-BE49-F238E27FC236}">
                <a16:creationId xmlns:a16="http://schemas.microsoft.com/office/drawing/2014/main" id="{B5FACF6A-E994-4212-97C6-3502E20036F2}"/>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803846D6-6784-4541-9B9E-2533B15ED3A7}"/>
              </a:ext>
            </a:extLst>
          </p:cNvPr>
          <p:cNvSpPr>
            <a:spLocks xmlns:a="http://schemas.openxmlformats.org/drawingml/2006/main" noGrp="1"/>
          </p:cNvSpPr>
          <p:nvPr/>
        </p:nvSpPr>
        <p:spPr>
          <a:xfrm xmlns:a="http://schemas.openxmlformats.org/drawingml/2006/main">
            <a:off x="647700" y="1857375"/>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F40"/>
                </a:solidFill>
                <a:latin typeface="Arial"/>
                <a:ea typeface="Arial"/>
                <a:cs typeface="Arial"/>
              </a:defRPr>
            </a:defPPr>
            <a:lvl1pPr algn="l">
              <a:buNone/>
              <a:defRPr sz="2100" b="1">
                <a:solidFill>
                  <a:srgbClr val="142F40"/>
                </a:solidFill>
                <a:latin typeface="Arial"/>
                <a:ea typeface="Arial"/>
                <a:cs typeface="Arial"/>
              </a:defRPr>
            </a:lvl1pPr>
            <a:lvl2pPr algn="l">
              <a:buNone/>
              <a:defRPr sz="2100" b="1">
                <a:solidFill>
                  <a:srgbClr val="142F40"/>
                </a:solidFill>
                <a:latin typeface="Arial"/>
                <a:ea typeface="Arial"/>
                <a:cs typeface="Arial"/>
              </a:defRPr>
            </a:lvl2pPr>
            <a:lvl3pPr algn="l">
              <a:buNone/>
              <a:defRPr sz="2100" b="1">
                <a:solidFill>
                  <a:srgbClr val="142F40"/>
                </a:solidFill>
                <a:latin typeface="Arial"/>
                <a:ea typeface="Arial"/>
                <a:cs typeface="Arial"/>
              </a:defRPr>
            </a:lvl3pPr>
            <a:lvl4pPr algn="l">
              <a:buNone/>
              <a:defRPr sz="2100" b="1">
                <a:solidFill>
                  <a:srgbClr val="142F40"/>
                </a:solidFill>
                <a:latin typeface="Arial"/>
                <a:ea typeface="Arial"/>
                <a:cs typeface="Arial"/>
              </a:defRPr>
            </a:lvl4pPr>
            <a:lvl5pPr algn="l">
              <a:buNone/>
              <a:defRPr sz="2100" b="1">
                <a:solidFill>
                  <a:srgbClr val="142F40"/>
                </a:solidFill>
                <a:latin typeface="Arial"/>
                <a:ea typeface="Arial"/>
                <a:cs typeface="Arial"/>
              </a:defRPr>
            </a:lvl5pPr>
            <a:lvl6pPr algn="l">
              <a:buNone/>
              <a:defRPr sz="2100" b="1">
                <a:solidFill>
                  <a:srgbClr val="142F40"/>
                </a:solidFill>
                <a:latin typeface="Arial"/>
                <a:ea typeface="Arial"/>
                <a:cs typeface="Arial"/>
              </a:defRPr>
            </a:lvl6pPr>
            <a:lvl7pPr algn="l">
              <a:buNone/>
              <a:defRPr sz="2100" b="1">
                <a:solidFill>
                  <a:srgbClr val="142F40"/>
                </a:solidFill>
                <a:latin typeface="Arial"/>
                <a:ea typeface="Arial"/>
                <a:cs typeface="Arial"/>
              </a:defRPr>
            </a:lvl7pPr>
            <a:lvl8pPr algn="l">
              <a:buNone/>
              <a:defRPr sz="2100" b="1">
                <a:solidFill>
                  <a:srgbClr val="142F40"/>
                </a:solidFill>
                <a:latin typeface="Arial"/>
                <a:ea typeface="Arial"/>
                <a:cs typeface="Arial"/>
              </a:defRPr>
            </a:lvl8pPr>
            <a:lvl9pPr algn="l">
              <a:buNone/>
              <a:defRPr sz="2100" b="1">
                <a:solidFill>
                  <a:srgbClr val="142F40"/>
                </a:solidFill>
                <a:latin typeface="Arial"/>
                <a:ea typeface="Arial"/>
                <a:cs typeface="Arial"/>
              </a:defRPr>
            </a:lvl9pPr>
          </a:lstStyle>
          <a:p xmlns:a="http://schemas.openxmlformats.org/drawingml/2006/main">
            <a:pPr algn="l">
              <a:buNone/>
              <a:defRPr sz="2100" b="1">
                <a:solidFill>
                  <a:srgbClr val="142F40"/>
                </a:solidFill>
                <a:latin typeface="Arial"/>
                <a:ea typeface="Arial"/>
                <a:cs typeface="Arial"/>
              </a:defRPr>
            </a:pPr>
            <a:r>
              <a:rPr sz="2100" b="1">
                <a:solidFill>
                  <a:srgbClr val="142F40"/>
                </a:solidFill>
                <a:latin typeface="Arial"/>
                <a:ea typeface="Arial"/>
                <a:cs typeface="Arial"/>
              </a:rPr>
              <a:t>Requests completed per backend</a:t>
            </a:r>
          </a:p>
        </p:txBody>
      </p:sp>
      <p:graphicFrame>
        <p:nvGraphicFramePr>
          <p:cNvPr id="5" name="Chart">
            <a:extLst xmlns:a="http://schemas.openxmlformats.org/drawingml/2006/main">
              <a:ext uri="{FF2B5EF4-FFF2-40B4-BE49-F238E27FC236}">
                <a16:creationId xmlns:a16="http://schemas.microsoft.com/office/drawing/2014/main" id="{DF221897-8B66-4159-AF1C-EA532BA7251A}"/>
              </a:ext>
            </a:extLst>
          </p:cNvPr>
          <p:cNvGraphicFramePr/>
          <p:nvPr/>
        </p:nvGraphicFramePr>
        <p:xfrm>
          <a:off xmlns:a="http://schemas.openxmlformats.org/drawingml/2006/main" x="619125" y="2371725"/>
          <a:ext xmlns:a="http://schemas.openxmlformats.org/drawingml/2006/main" cx="6953250" cy="3209925"/>
        </p:xfrm>
        <a:graphic xmlns:a="http://schemas.openxmlformats.org/drawingml/2006/main">
          <a:graphicData uri="http://schemas.openxmlformats.org/drawingml/2006/chart">
            <c:chart xmlns:r="http://schemas.openxmlformats.org/officeDocument/2006/relationships" xmlns:c="http://schemas.openxmlformats.org/drawingml/2006/chart" r:id="R4920ece87ec54876"/>
          </a:graphicData>
        </a:graphic>
      </p:graphicFrame>
      <p:sp>
        <p:nvSpPr>
          <p:cNvPr id="6" name="text-4">
            <a:extLst xmlns:a="http://schemas.openxmlformats.org/drawingml/2006/main">
              <a:ext uri="{FF2B5EF4-FFF2-40B4-BE49-F238E27FC236}">
                <a16:creationId xmlns:a16="http://schemas.microsoft.com/office/drawing/2014/main" id="{FAC02018-21A5-4CA1-B9B7-090AD30FB3BC}"/>
              </a:ext>
            </a:extLst>
          </p:cNvPr>
          <p:cNvSpPr>
            <a:spLocks xmlns:a="http://schemas.openxmlformats.org/drawingml/2006/main" noGrp="1"/>
          </p:cNvSpPr>
          <p:nvPr/>
        </p:nvSpPr>
        <p:spPr>
          <a:xfrm xmlns:a="http://schemas.openxmlformats.org/drawingml/2006/main">
            <a:off x="8258175" y="1809750"/>
            <a:ext cx="2905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137B75"/>
                </a:solidFill>
                <a:latin typeface="Arial"/>
                <a:ea typeface="Arial"/>
                <a:cs typeface="Arial"/>
              </a:defRPr>
            </a:defPPr>
            <a:lvl1pPr algn="l">
              <a:buNone/>
              <a:defRPr sz="6825" b="1">
                <a:solidFill>
                  <a:srgbClr val="137B75"/>
                </a:solidFill>
                <a:latin typeface="Arial"/>
                <a:ea typeface="Arial"/>
                <a:cs typeface="Arial"/>
              </a:defRPr>
            </a:lvl1pPr>
            <a:lvl2pPr algn="l">
              <a:buNone/>
              <a:defRPr sz="6825" b="1">
                <a:solidFill>
                  <a:srgbClr val="137B75"/>
                </a:solidFill>
                <a:latin typeface="Arial"/>
                <a:ea typeface="Arial"/>
                <a:cs typeface="Arial"/>
              </a:defRPr>
            </a:lvl2pPr>
            <a:lvl3pPr algn="l">
              <a:buNone/>
              <a:defRPr sz="6825" b="1">
                <a:solidFill>
                  <a:srgbClr val="137B75"/>
                </a:solidFill>
                <a:latin typeface="Arial"/>
                <a:ea typeface="Arial"/>
                <a:cs typeface="Arial"/>
              </a:defRPr>
            </a:lvl3pPr>
            <a:lvl4pPr algn="l">
              <a:buNone/>
              <a:defRPr sz="6825" b="1">
                <a:solidFill>
                  <a:srgbClr val="137B75"/>
                </a:solidFill>
                <a:latin typeface="Arial"/>
                <a:ea typeface="Arial"/>
                <a:cs typeface="Arial"/>
              </a:defRPr>
            </a:lvl4pPr>
            <a:lvl5pPr algn="l">
              <a:buNone/>
              <a:defRPr sz="6825" b="1">
                <a:solidFill>
                  <a:srgbClr val="137B75"/>
                </a:solidFill>
                <a:latin typeface="Arial"/>
                <a:ea typeface="Arial"/>
                <a:cs typeface="Arial"/>
              </a:defRPr>
            </a:lvl5pPr>
            <a:lvl6pPr algn="l">
              <a:buNone/>
              <a:defRPr sz="6825" b="1">
                <a:solidFill>
                  <a:srgbClr val="137B75"/>
                </a:solidFill>
                <a:latin typeface="Arial"/>
                <a:ea typeface="Arial"/>
                <a:cs typeface="Arial"/>
              </a:defRPr>
            </a:lvl6pPr>
            <a:lvl7pPr algn="l">
              <a:buNone/>
              <a:defRPr sz="6825" b="1">
                <a:solidFill>
                  <a:srgbClr val="137B75"/>
                </a:solidFill>
                <a:latin typeface="Arial"/>
                <a:ea typeface="Arial"/>
                <a:cs typeface="Arial"/>
              </a:defRPr>
            </a:lvl7pPr>
            <a:lvl8pPr algn="l">
              <a:buNone/>
              <a:defRPr sz="6825" b="1">
                <a:solidFill>
                  <a:srgbClr val="137B75"/>
                </a:solidFill>
                <a:latin typeface="Arial"/>
                <a:ea typeface="Arial"/>
                <a:cs typeface="Arial"/>
              </a:defRPr>
            </a:lvl8pPr>
            <a:lvl9pPr algn="l">
              <a:buNone/>
              <a:defRPr sz="6825" b="1">
                <a:solidFill>
                  <a:srgbClr val="137B75"/>
                </a:solidFill>
                <a:latin typeface="Arial"/>
                <a:ea typeface="Arial"/>
                <a:cs typeface="Arial"/>
              </a:defRPr>
            </a:lvl9pPr>
          </a:lstStyle>
          <a:p xmlns:a="http://schemas.openxmlformats.org/drawingml/2006/main">
            <a:pPr algn="l">
              <a:buNone/>
              <a:defRPr sz="6825" b="1">
                <a:solidFill>
                  <a:srgbClr val="137B75"/>
                </a:solidFill>
                <a:latin typeface="Arial"/>
                <a:ea typeface="Arial"/>
                <a:cs typeface="Arial"/>
              </a:defRPr>
            </a:pPr>
            <a:r>
              <a:rPr sz="6825" b="1">
                <a:solidFill>
                  <a:srgbClr val="137B75"/>
                </a:solidFill>
                <a:latin typeface="Arial"/>
                <a:ea typeface="Arial"/>
                <a:cs typeface="Arial"/>
              </a:rPr>
              <a:t>60</a:t>
            </a:r>
          </a:p>
        </p:txBody>
      </p:sp>
      <p:sp>
        <p:nvSpPr>
          <p:cNvPr id="7" name="text-5">
            <a:extLst xmlns:a="http://schemas.openxmlformats.org/drawingml/2006/main">
              <a:ext uri="{FF2B5EF4-FFF2-40B4-BE49-F238E27FC236}">
                <a16:creationId xmlns:a16="http://schemas.microsoft.com/office/drawing/2014/main" id="{772EB569-8698-40C7-83FC-F04D1473766A}"/>
              </a:ext>
            </a:extLst>
          </p:cNvPr>
          <p:cNvSpPr>
            <a:spLocks xmlns:a="http://schemas.openxmlformats.org/drawingml/2006/main" noGrp="1"/>
          </p:cNvSpPr>
          <p:nvPr/>
        </p:nvSpPr>
        <p:spPr>
          <a:xfrm xmlns:a="http://schemas.openxmlformats.org/drawingml/2006/main">
            <a:off x="8258175" y="2924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40"/>
                </a:solidFill>
                <a:latin typeface="Arial"/>
                <a:ea typeface="Arial"/>
                <a:cs typeface="Arial"/>
              </a:defRPr>
            </a:defPPr>
            <a:lvl1pPr algn="l">
              <a:buNone/>
              <a:defRPr sz="2025" b="1">
                <a:solidFill>
                  <a:srgbClr val="142F40"/>
                </a:solidFill>
                <a:latin typeface="Arial"/>
                <a:ea typeface="Arial"/>
                <a:cs typeface="Arial"/>
              </a:defRPr>
            </a:lvl1pPr>
            <a:lvl2pPr algn="l">
              <a:buNone/>
              <a:defRPr sz="2025" b="1">
                <a:solidFill>
                  <a:srgbClr val="142F40"/>
                </a:solidFill>
                <a:latin typeface="Arial"/>
                <a:ea typeface="Arial"/>
                <a:cs typeface="Arial"/>
              </a:defRPr>
            </a:lvl2pPr>
            <a:lvl3pPr algn="l">
              <a:buNone/>
              <a:defRPr sz="2025" b="1">
                <a:solidFill>
                  <a:srgbClr val="142F40"/>
                </a:solidFill>
                <a:latin typeface="Arial"/>
                <a:ea typeface="Arial"/>
                <a:cs typeface="Arial"/>
              </a:defRPr>
            </a:lvl3pPr>
            <a:lvl4pPr algn="l">
              <a:buNone/>
              <a:defRPr sz="2025" b="1">
                <a:solidFill>
                  <a:srgbClr val="142F40"/>
                </a:solidFill>
                <a:latin typeface="Arial"/>
                <a:ea typeface="Arial"/>
                <a:cs typeface="Arial"/>
              </a:defRPr>
            </a:lvl4pPr>
            <a:lvl5pPr algn="l">
              <a:buNone/>
              <a:defRPr sz="2025" b="1">
                <a:solidFill>
                  <a:srgbClr val="142F40"/>
                </a:solidFill>
                <a:latin typeface="Arial"/>
                <a:ea typeface="Arial"/>
                <a:cs typeface="Arial"/>
              </a:defRPr>
            </a:lvl5pPr>
            <a:lvl6pPr algn="l">
              <a:buNone/>
              <a:defRPr sz="2025" b="1">
                <a:solidFill>
                  <a:srgbClr val="142F40"/>
                </a:solidFill>
                <a:latin typeface="Arial"/>
                <a:ea typeface="Arial"/>
                <a:cs typeface="Arial"/>
              </a:defRPr>
            </a:lvl6pPr>
            <a:lvl7pPr algn="l">
              <a:buNone/>
              <a:defRPr sz="2025" b="1">
                <a:solidFill>
                  <a:srgbClr val="142F40"/>
                </a:solidFill>
                <a:latin typeface="Arial"/>
                <a:ea typeface="Arial"/>
                <a:cs typeface="Arial"/>
              </a:defRPr>
            </a:lvl7pPr>
            <a:lvl8pPr algn="l">
              <a:buNone/>
              <a:defRPr sz="2025" b="1">
                <a:solidFill>
                  <a:srgbClr val="142F40"/>
                </a:solidFill>
                <a:latin typeface="Arial"/>
                <a:ea typeface="Arial"/>
                <a:cs typeface="Arial"/>
              </a:defRPr>
            </a:lvl8pPr>
            <a:lvl9pPr algn="l">
              <a:buNone/>
              <a:defRPr sz="2025" b="1">
                <a:solidFill>
                  <a:srgbClr val="142F40"/>
                </a:solidFill>
                <a:latin typeface="Arial"/>
                <a:ea typeface="Arial"/>
                <a:cs typeface="Arial"/>
              </a:defRPr>
            </a:lvl9pPr>
          </a:lstStyle>
          <a:p xmlns:a="http://schemas.openxmlformats.org/drawingml/2006/main">
            <a:pPr algn="l">
              <a:buNone/>
              <a:defRPr sz="2025" b="1">
                <a:solidFill>
                  <a:srgbClr val="142F40"/>
                </a:solidFill>
                <a:latin typeface="Arial"/>
                <a:ea typeface="Arial"/>
                <a:cs typeface="Arial"/>
              </a:defRPr>
            </a:pPr>
            <a:r>
              <a:rPr sz="2025" b="1">
                <a:solidFill>
                  <a:srgbClr val="142F40"/>
                </a:solidFill>
                <a:latin typeface="Arial"/>
                <a:ea typeface="Arial"/>
                <a:cs typeface="Arial"/>
              </a:rPr>
              <a:t>automated tests passed</a:t>
            </a:r>
          </a:p>
        </p:txBody>
      </p:sp>
      <p:sp>
        <p:nvSpPr>
          <p:cNvPr id="8" name="text-6">
            <a:extLst xmlns:a="http://schemas.openxmlformats.org/drawingml/2006/main">
              <a:ext uri="{FF2B5EF4-FFF2-40B4-BE49-F238E27FC236}">
                <a16:creationId xmlns:a16="http://schemas.microsoft.com/office/drawing/2014/main" id="{D07B3036-E523-48B3-9F73-0EFE0FEE2243}"/>
              </a:ext>
            </a:extLst>
          </p:cNvPr>
          <p:cNvSpPr>
            <a:spLocks xmlns:a="http://schemas.openxmlformats.org/drawingml/2006/main" noGrp="1"/>
          </p:cNvSpPr>
          <p:nvPr/>
        </p:nvSpPr>
        <p:spPr>
          <a:xfrm xmlns:a="http://schemas.openxmlformats.org/drawingml/2006/main">
            <a:off x="8258175" y="3905250"/>
            <a:ext cx="32575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F40"/>
                </a:solidFill>
                <a:latin typeface="Arial"/>
                <a:ea typeface="Arial"/>
                <a:cs typeface="Arial"/>
              </a:defRPr>
            </a:defPPr>
            <a:lvl1pPr algn="l">
              <a:buNone/>
              <a:defRPr sz="1800" b="0">
                <a:solidFill>
                  <a:srgbClr val="142F40"/>
                </a:solidFill>
                <a:latin typeface="Arial"/>
                <a:ea typeface="Arial"/>
                <a:cs typeface="Arial"/>
              </a:defRPr>
            </a:lvl1pPr>
            <a:lvl2pPr algn="l">
              <a:buNone/>
              <a:defRPr sz="1800" b="0">
                <a:solidFill>
                  <a:srgbClr val="142F40"/>
                </a:solidFill>
                <a:latin typeface="Arial"/>
                <a:ea typeface="Arial"/>
                <a:cs typeface="Arial"/>
              </a:defRPr>
            </a:lvl2pPr>
            <a:lvl3pPr algn="l">
              <a:buNone/>
              <a:defRPr sz="1800" b="0">
                <a:solidFill>
                  <a:srgbClr val="142F40"/>
                </a:solidFill>
                <a:latin typeface="Arial"/>
                <a:ea typeface="Arial"/>
                <a:cs typeface="Arial"/>
              </a:defRPr>
            </a:lvl3pPr>
            <a:lvl4pPr algn="l">
              <a:buNone/>
              <a:defRPr sz="1800" b="0">
                <a:solidFill>
                  <a:srgbClr val="142F40"/>
                </a:solidFill>
                <a:latin typeface="Arial"/>
                <a:ea typeface="Arial"/>
                <a:cs typeface="Arial"/>
              </a:defRPr>
            </a:lvl4pPr>
            <a:lvl5pPr algn="l">
              <a:buNone/>
              <a:defRPr sz="1800" b="0">
                <a:solidFill>
                  <a:srgbClr val="142F40"/>
                </a:solidFill>
                <a:latin typeface="Arial"/>
                <a:ea typeface="Arial"/>
                <a:cs typeface="Arial"/>
              </a:defRPr>
            </a:lvl5pPr>
            <a:lvl6pPr algn="l">
              <a:buNone/>
              <a:defRPr sz="1800" b="0">
                <a:solidFill>
                  <a:srgbClr val="142F40"/>
                </a:solidFill>
                <a:latin typeface="Arial"/>
                <a:ea typeface="Arial"/>
                <a:cs typeface="Arial"/>
              </a:defRPr>
            </a:lvl6pPr>
            <a:lvl7pPr algn="l">
              <a:buNone/>
              <a:defRPr sz="1800" b="0">
                <a:solidFill>
                  <a:srgbClr val="142F40"/>
                </a:solidFill>
                <a:latin typeface="Arial"/>
                <a:ea typeface="Arial"/>
                <a:cs typeface="Arial"/>
              </a:defRPr>
            </a:lvl7pPr>
            <a:lvl8pPr algn="l">
              <a:buNone/>
              <a:defRPr sz="1800" b="0">
                <a:solidFill>
                  <a:srgbClr val="142F40"/>
                </a:solidFill>
                <a:latin typeface="Arial"/>
                <a:ea typeface="Arial"/>
                <a:cs typeface="Arial"/>
              </a:defRPr>
            </a:lvl8pPr>
            <a:lvl9pPr algn="l">
              <a:buNone/>
              <a:defRPr sz="1800" b="0">
                <a:solidFill>
                  <a:srgbClr val="142F40"/>
                </a:solidFill>
                <a:latin typeface="Arial"/>
                <a:ea typeface="Arial"/>
                <a:cs typeface="Arial"/>
              </a:defRPr>
            </a:lvl9pPr>
          </a:lstStyle>
          <a:p xmlns:a="http://schemas.openxmlformats.org/drawingml/2006/main">
            <a:pPr algn="l">
              <a:buNone/>
              <a:defRPr sz="1800" b="0">
                <a:solidFill>
                  <a:srgbClr val="142F40"/>
                </a:solidFill>
                <a:latin typeface="Arial"/>
                <a:ea typeface="Arial"/>
                <a:cs typeface="Arial"/>
              </a:defRPr>
            </a:pPr>
            <a:r>
              <a:rPr sz="1800" b="0">
                <a:solidFill>
                  <a:srgbClr val="142F40"/>
                </a:solidFill>
                <a:latin typeface="Arial"/>
                <a:ea typeface="Arial"/>
                <a:cs typeface="Arial"/>
              </a:rPr>
              <a:t>Busy server avoided</a:t>
            </a:r>
          </a:p>
          <a:p xmlns:a="http://schemas.openxmlformats.org/drawingml/2006/main">
            <a:pPr algn="l">
              <a:buNone/>
              <a:defRPr sz="1800" b="0">
                <a:solidFill>
                  <a:srgbClr val="142F40"/>
                </a:solidFill>
                <a:latin typeface="Arial"/>
                <a:ea typeface="Arial"/>
                <a:cs typeface="Arial"/>
              </a:defRPr>
            </a:pPr>
            <a:r>
              <a:rPr sz="1800" b="0">
                <a:solidFill>
                  <a:srgbClr val="142F40"/>
                </a:solidFill>
                <a:latin typeface="Arial"/>
                <a:ea typeface="Arial"/>
                <a:cs typeface="Arial"/>
              </a:rPr>
              <a:t>Failure and recovery verified</a:t>
            </a:r>
          </a:p>
          <a:p xmlns:a="http://schemas.openxmlformats.org/drawingml/2006/main">
            <a:pPr algn="l">
              <a:buNone/>
              <a:defRPr sz="1800" b="0">
                <a:solidFill>
                  <a:srgbClr val="142F40"/>
                </a:solidFill>
                <a:latin typeface="Arial"/>
                <a:ea typeface="Arial"/>
                <a:cs typeface="Arial"/>
              </a:defRPr>
            </a:pPr>
            <a:r>
              <a:rPr sz="1800" b="0">
                <a:solidFill>
                  <a:srgbClr val="142F40"/>
                </a:solidFill>
                <a:latin typeface="Arial"/>
                <a:ea typeface="Arial"/>
                <a:cs typeface="Arial"/>
              </a:rPr>
              <a:t>Incomplete body detected</a:t>
            </a:r>
          </a:p>
          <a:p xmlns:a="http://schemas.openxmlformats.org/drawingml/2006/main">
            <a:pPr algn="l">
              <a:buNone/>
              <a:defRPr sz="1800" b="0">
                <a:solidFill>
                  <a:srgbClr val="142F40"/>
                </a:solidFill>
                <a:latin typeface="Arial"/>
                <a:ea typeface="Arial"/>
                <a:cs typeface="Arial"/>
              </a:defRPr>
            </a:pPr>
            <a:r>
              <a:rPr sz="1800" b="0">
                <a:solidFill>
                  <a:srgbClr val="142F40"/>
                </a:solidFill>
                <a:latin typeface="Arial"/>
                <a:ea typeface="Arial"/>
                <a:cs typeface="Arial"/>
              </a:rPr>
              <a:t>All-down monitoring available</a:t>
            </a:r>
          </a:p>
        </p:txBody>
      </p:sp>
      <p:sp>
        <p:nvSpPr>
          <p:cNvPr id="9" name="text-7">
            <a:extLst xmlns:a="http://schemas.openxmlformats.org/drawingml/2006/main">
              <a:ext uri="{FF2B5EF4-FFF2-40B4-BE49-F238E27FC236}">
                <a16:creationId xmlns:a16="http://schemas.microsoft.com/office/drawing/2014/main" id="{5CD8F1AF-66E7-4F10-BFD8-D143A4AF04F0}"/>
              </a:ext>
            </a:extLst>
          </p:cNvPr>
          <p:cNvSpPr>
            <a:spLocks xmlns:a="http://schemas.openxmlformats.org/drawingml/2006/main" noGrp="1"/>
          </p:cNvSpPr>
          <p:nvPr/>
        </p:nvSpPr>
        <p:spPr>
          <a:xfrm xmlns:a="http://schemas.openxmlformats.org/drawingml/2006/main">
            <a:off x="647700" y="594360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46673"/>
                </a:solidFill>
                <a:latin typeface="Arial"/>
                <a:ea typeface="Arial"/>
                <a:cs typeface="Arial"/>
              </a:defRPr>
            </a:defPPr>
            <a:lvl1pPr algn="l">
              <a:buNone/>
              <a:defRPr sz="1725" b="0">
                <a:solidFill>
                  <a:srgbClr val="546673"/>
                </a:solidFill>
                <a:latin typeface="Arial"/>
                <a:ea typeface="Arial"/>
                <a:cs typeface="Arial"/>
              </a:defRPr>
            </a:lvl1pPr>
            <a:lvl2pPr algn="l">
              <a:buNone/>
              <a:defRPr sz="1725" b="0">
                <a:solidFill>
                  <a:srgbClr val="546673"/>
                </a:solidFill>
                <a:latin typeface="Arial"/>
                <a:ea typeface="Arial"/>
                <a:cs typeface="Arial"/>
              </a:defRPr>
            </a:lvl2pPr>
            <a:lvl3pPr algn="l">
              <a:buNone/>
              <a:defRPr sz="1725" b="0">
                <a:solidFill>
                  <a:srgbClr val="546673"/>
                </a:solidFill>
                <a:latin typeface="Arial"/>
                <a:ea typeface="Arial"/>
                <a:cs typeface="Arial"/>
              </a:defRPr>
            </a:lvl3pPr>
            <a:lvl4pPr algn="l">
              <a:buNone/>
              <a:defRPr sz="1725" b="0">
                <a:solidFill>
                  <a:srgbClr val="546673"/>
                </a:solidFill>
                <a:latin typeface="Arial"/>
                <a:ea typeface="Arial"/>
                <a:cs typeface="Arial"/>
              </a:defRPr>
            </a:lvl4pPr>
            <a:lvl5pPr algn="l">
              <a:buNone/>
              <a:defRPr sz="1725" b="0">
                <a:solidFill>
                  <a:srgbClr val="546673"/>
                </a:solidFill>
                <a:latin typeface="Arial"/>
                <a:ea typeface="Arial"/>
                <a:cs typeface="Arial"/>
              </a:defRPr>
            </a:lvl5pPr>
            <a:lvl6pPr algn="l">
              <a:buNone/>
              <a:defRPr sz="1725" b="0">
                <a:solidFill>
                  <a:srgbClr val="546673"/>
                </a:solidFill>
                <a:latin typeface="Arial"/>
                <a:ea typeface="Arial"/>
                <a:cs typeface="Arial"/>
              </a:defRPr>
            </a:lvl6pPr>
            <a:lvl7pPr algn="l">
              <a:buNone/>
              <a:defRPr sz="1725" b="0">
                <a:solidFill>
                  <a:srgbClr val="546673"/>
                </a:solidFill>
                <a:latin typeface="Arial"/>
                <a:ea typeface="Arial"/>
                <a:cs typeface="Arial"/>
              </a:defRPr>
            </a:lvl7pPr>
            <a:lvl8pPr algn="l">
              <a:buNone/>
              <a:defRPr sz="1725" b="0">
                <a:solidFill>
                  <a:srgbClr val="546673"/>
                </a:solidFill>
                <a:latin typeface="Arial"/>
                <a:ea typeface="Arial"/>
                <a:cs typeface="Arial"/>
              </a:defRPr>
            </a:lvl8pPr>
            <a:lvl9pPr algn="l">
              <a:buNone/>
              <a:defRPr sz="1725" b="0">
                <a:solidFill>
                  <a:srgbClr val="546673"/>
                </a:solidFill>
                <a:latin typeface="Arial"/>
                <a:ea typeface="Arial"/>
                <a:cs typeface="Arial"/>
              </a:defRPr>
            </a:lvl9pPr>
          </a:lstStyle>
          <a:p xmlns:a="http://schemas.openxmlformats.org/drawingml/2006/main">
            <a:pPr algn="l">
              <a:buNone/>
              <a:defRPr sz="1725" b="0">
                <a:solidFill>
                  <a:srgbClr val="546673"/>
                </a:solidFill>
                <a:latin typeface="Arial"/>
                <a:ea typeface="Arial"/>
                <a:cs typeface="Arial"/>
              </a:defRPr>
            </a:pPr>
            <a:r>
              <a:rPr sz="1725" b="0">
                <a:solidFill>
                  <a:srgbClr val="546673"/>
                </a:solidFill>
                <a:latin typeface="Arial"/>
                <a:ea typeface="Arial"/>
                <a:cs typeface="Arial"/>
              </a:rPr>
              <a:t>Different request totals are intentional. These checks establish behavior, not throughput.</a:t>
            </a:r>
          </a:p>
        </p:txBody>
      </p:sp>
    </p:spTree>
    <p:extLst>
      <p:ext uri="{BB962C8B-B14F-4D97-AF65-F5344CB8AC3E}">
        <p14:creationId xmlns:p14="http://schemas.microsoft.com/office/powerpoint/2010/main" val="11728811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27B8CB0-383B-44E6-B64F-78F4477B30E3}"/>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Engineering challenges and design choices</a:t>
            </a:r>
          </a:p>
        </p:txBody>
      </p:sp>
      <p:sp>
        <p:nvSpPr>
          <p:cNvPr id="2" name="text-1">
            <a:extLst xmlns:a="http://schemas.openxmlformats.org/drawingml/2006/main">
              <a:ext uri="{FF2B5EF4-FFF2-40B4-BE49-F238E27FC236}">
                <a16:creationId xmlns:a16="http://schemas.microsoft.com/office/drawing/2014/main" id="{5DE6FC09-51DC-4BD0-8F27-907D9467B976}"/>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959A7AB6-9209-4072-BBC4-6CFDBFE37508}"/>
              </a:ext>
            </a:extLst>
          </p:cNvPr>
          <p:cNvGraphicFramePr/>
          <p:nvPr/>
        </p:nvGraphicFramePr>
        <p:xfrm>
          <a:off xmlns:a="http://schemas.openxmlformats.org/drawingml/2006/main" x="647700" y="1743075"/>
          <a:ext xmlns:a="http://schemas.openxmlformats.org/drawingml/2006/main" cx="10896600" cy="4162425"/>
        </p:xfrm>
        <a:graphic xmlns:a="http://schemas.openxmlformats.org/drawingml/2006/main">
          <a:graphicData uri="http://schemas.openxmlformats.org/drawingml/2006/table">
            <a:tbl>
              <a:tblPr firstRow="0" bandRow="0"/>
              <a:tblGrid>
                <a:gridCol w="4762500"/>
                <a:gridCol w="6134100"/>
              </a:tblGrid>
              <a:tr h="542925">
                <a:tc>
                  <a:txBody>
                    <a:bodyPr/>
                    <a:lstStyle/>
                    <a:p>
                      <a:r>
                        <a:rPr sz="1800" b="1">
                          <a:solidFill>
                            <a:srgbClr val="142F40"/>
                          </a:solidFill>
                          <a:latin typeface="Arial"/>
                          <a:ea typeface="Arial"/>
                          <a:cs typeface="Arial"/>
                        </a:rPr>
                        <a:t>Challenge</a:t>
                      </a:r>
                    </a:p>
                  </a:txBody>
                  <a:tcPr marL="152400" marR="133350" marT="133350" marB="114300" anchor="ctr">
                    <a:lnL w="6668">
                      <a:solidFill>
                        <a:srgbClr val="D7E2E6"/>
                      </a:solidFill>
                      <a:prstDash val="solid"/>
                    </a:lnL>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800" b="1">
                          <a:solidFill>
                            <a:srgbClr val="142F40"/>
                          </a:solidFill>
                          <a:latin typeface="Arial"/>
                          <a:ea typeface="Arial"/>
                          <a:cs typeface="Arial"/>
                        </a:rPr>
                        <a:t>Implemented decision</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r>
              <a:tr h="904875">
                <a:tc>
                  <a:txBody>
                    <a:bodyPr/>
                    <a:lstStyle/>
                    <a:p>
                      <a:r>
                        <a:rPr sz="1875" b="0">
                          <a:solidFill>
                            <a:srgbClr val="142F40"/>
                          </a:solidFill>
                          <a:latin typeface="Arial"/>
                          <a:ea typeface="Arial"/>
                          <a:cs typeface="Arial"/>
                        </a:rPr>
                        <a:t>TCP reads do not define HTTP messages</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Parse bounded headers and Content-Length;</a:t>
                      </a:r>
                    </a:p>
                    <a:p>
                      <a:r>
                        <a:rPr sz="1875" b="0">
                          <a:solidFill>
                            <a:srgbClr val="142F40"/>
                          </a:solidFill>
                          <a:latin typeface="Arial"/>
                          <a:ea typeface="Arial"/>
                          <a:cs typeface="Arial"/>
                        </a:rPr>
                        <a:t>reject unsupported framing.</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904875">
                <a:tc>
                  <a:txBody>
                    <a:bodyPr/>
                    <a:lstStyle/>
                    <a:p>
                      <a:r>
                        <a:rPr sz="1875" b="0">
                          <a:solidFill>
                            <a:srgbClr val="142F40"/>
                          </a:solidFill>
                          <a:latin typeface="Arial"/>
                          <a:ea typeface="Arial"/>
                          <a:cs typeface="Arial"/>
                        </a:rPr>
                        <a:t>Concurrent requests share backend state</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Reserve active count before awaiting I/O;</a:t>
                      </a:r>
                    </a:p>
                    <a:p>
                      <a:r>
                        <a:rPr sz="1875" b="0">
                          <a:solidFill>
                            <a:srgbClr val="142F40"/>
                          </a:solidFill>
                          <a:latin typeface="Arial"/>
                          <a:ea typeface="Arial"/>
                          <a:cs typeface="Arial"/>
                        </a:rPr>
                        <a:t>release it in finally after cleanup.</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904875">
                <a:tc>
                  <a:txBody>
                    <a:bodyPr/>
                    <a:lstStyle/>
                    <a:p>
                      <a:r>
                        <a:rPr sz="1875" b="0">
                          <a:solidFill>
                            <a:srgbClr val="142F40"/>
                          </a:solidFill>
                          <a:latin typeface="Arial"/>
                          <a:ea typeface="Arial"/>
                          <a:cs typeface="Arial"/>
                        </a:rPr>
                        <a:t>A temporary probe failure may be noise</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Require consecutive failures and successes</a:t>
                      </a:r>
                    </a:p>
                    <a:p>
                      <a:r>
                        <a:rPr sz="1875" b="0">
                          <a:solidFill>
                            <a:srgbClr val="142F40"/>
                          </a:solidFill>
                          <a:latin typeface="Arial"/>
                          <a:ea typeface="Arial"/>
                          <a:cs typeface="Arial"/>
                        </a:rPr>
                        <a:t>before changing established health state.</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904875">
                <a:tc>
                  <a:txBody>
                    <a:bodyPr/>
                    <a:lstStyle/>
                    <a:p>
                      <a:r>
                        <a:rPr sz="1875" b="0">
                          <a:solidFill>
                            <a:srgbClr val="142F40"/>
                          </a:solidFill>
                          <a:latin typeface="Arial"/>
                          <a:ea typeface="Arial"/>
                          <a:cs typeface="Arial"/>
                        </a:rPr>
                        <a:t>Failure can occur after HTTP 200 is sent</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Detect truncation, close the stream,</a:t>
                      </a:r>
                    </a:p>
                    <a:p>
                      <a:r>
                        <a:rPr sz="1875" b="0">
                          <a:solidFill>
                            <a:srgbClr val="142F40"/>
                          </a:solidFill>
                          <a:latin typeface="Arial"/>
                          <a:ea typeface="Arial"/>
                          <a:cs typeface="Arial"/>
                        </a:rPr>
                        <a:t>and distinguish status from completion.</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945E7E8-7983-4265-BB78-63B48537AAC6}"/>
              </a:ext>
            </a:extLst>
          </p:cNvPr>
          <p:cNvSpPr>
            <a:spLocks xmlns:a="http://schemas.openxmlformats.org/drawingml/2006/main" noGrp="1"/>
          </p:cNvSpPr>
          <p:nvPr/>
        </p:nvSpPr>
        <p:spPr>
          <a:xfrm xmlns:a="http://schemas.openxmlformats.org/drawingml/2006/main">
            <a:off x="647700" y="6067425"/>
            <a:ext cx="1083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37B75"/>
                </a:solidFill>
                <a:latin typeface="Arial"/>
                <a:ea typeface="Arial"/>
                <a:cs typeface="Arial"/>
              </a:defRPr>
            </a:defPPr>
            <a:lvl1pPr algn="l">
              <a:buNone/>
              <a:defRPr sz="1725" b="1">
                <a:solidFill>
                  <a:srgbClr val="137B75"/>
                </a:solidFill>
                <a:latin typeface="Arial"/>
                <a:ea typeface="Arial"/>
                <a:cs typeface="Arial"/>
              </a:defRPr>
            </a:lvl1pPr>
            <a:lvl2pPr algn="l">
              <a:buNone/>
              <a:defRPr sz="1725" b="1">
                <a:solidFill>
                  <a:srgbClr val="137B75"/>
                </a:solidFill>
                <a:latin typeface="Arial"/>
                <a:ea typeface="Arial"/>
                <a:cs typeface="Arial"/>
              </a:defRPr>
            </a:lvl2pPr>
            <a:lvl3pPr algn="l">
              <a:buNone/>
              <a:defRPr sz="1725" b="1">
                <a:solidFill>
                  <a:srgbClr val="137B75"/>
                </a:solidFill>
                <a:latin typeface="Arial"/>
                <a:ea typeface="Arial"/>
                <a:cs typeface="Arial"/>
              </a:defRPr>
            </a:lvl3pPr>
            <a:lvl4pPr algn="l">
              <a:buNone/>
              <a:defRPr sz="1725" b="1">
                <a:solidFill>
                  <a:srgbClr val="137B75"/>
                </a:solidFill>
                <a:latin typeface="Arial"/>
                <a:ea typeface="Arial"/>
                <a:cs typeface="Arial"/>
              </a:defRPr>
            </a:lvl4pPr>
            <a:lvl5pPr algn="l">
              <a:buNone/>
              <a:defRPr sz="1725" b="1">
                <a:solidFill>
                  <a:srgbClr val="137B75"/>
                </a:solidFill>
                <a:latin typeface="Arial"/>
                <a:ea typeface="Arial"/>
                <a:cs typeface="Arial"/>
              </a:defRPr>
            </a:lvl5pPr>
            <a:lvl6pPr algn="l">
              <a:buNone/>
              <a:defRPr sz="1725" b="1">
                <a:solidFill>
                  <a:srgbClr val="137B75"/>
                </a:solidFill>
                <a:latin typeface="Arial"/>
                <a:ea typeface="Arial"/>
                <a:cs typeface="Arial"/>
              </a:defRPr>
            </a:lvl6pPr>
            <a:lvl7pPr algn="l">
              <a:buNone/>
              <a:defRPr sz="1725" b="1">
                <a:solidFill>
                  <a:srgbClr val="137B75"/>
                </a:solidFill>
                <a:latin typeface="Arial"/>
                <a:ea typeface="Arial"/>
                <a:cs typeface="Arial"/>
              </a:defRPr>
            </a:lvl7pPr>
            <a:lvl8pPr algn="l">
              <a:buNone/>
              <a:defRPr sz="1725" b="1">
                <a:solidFill>
                  <a:srgbClr val="137B75"/>
                </a:solidFill>
                <a:latin typeface="Arial"/>
                <a:ea typeface="Arial"/>
                <a:cs typeface="Arial"/>
              </a:defRPr>
            </a:lvl8pPr>
            <a:lvl9pPr algn="l">
              <a:buNone/>
              <a:defRPr sz="1725" b="1">
                <a:solidFill>
                  <a:srgbClr val="137B75"/>
                </a:solidFill>
                <a:latin typeface="Arial"/>
                <a:ea typeface="Arial"/>
                <a:cs typeface="Arial"/>
              </a:defRPr>
            </a:lvl9pPr>
          </a:lstStyle>
          <a:p xmlns:a="http://schemas.openxmlformats.org/drawingml/2006/main">
            <a:pPr algn="l">
              <a:buNone/>
              <a:defRPr sz="1725" b="1">
                <a:solidFill>
                  <a:srgbClr val="137B75"/>
                </a:solidFill>
                <a:latin typeface="Arial"/>
                <a:ea typeface="Arial"/>
                <a:cs typeface="Arial"/>
              </a:defRPr>
            </a:pPr>
            <a:r>
              <a:rPr sz="1725" b="1">
                <a:solidFill>
                  <a:srgbClr val="137B75"/>
                </a:solidFill>
                <a:latin typeface="Arial"/>
                <a:ea typeface="Arial"/>
                <a:cs typeface="Arial"/>
              </a:rPr>
              <a:t>JSON logs connect each request to its client, path, backend, outcome and duration.</a:t>
            </a:r>
          </a:p>
        </p:txBody>
      </p:sp>
    </p:spTree>
    <p:extLst>
      <p:ext uri="{BB962C8B-B14F-4D97-AF65-F5344CB8AC3E}">
        <p14:creationId xmlns:p14="http://schemas.microsoft.com/office/powerpoint/2010/main" val="18547007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FEF0F55-C618-4B51-8786-28A6365EA135}"/>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FFFFFF"/>
                </a:solidFill>
                <a:latin typeface="Arial"/>
                <a:ea typeface="Arial"/>
                <a:cs typeface="Arial"/>
              </a:defRPr>
            </a:lvl1pPr>
            <a:lvl2pPr algn="l">
              <a:buNone/>
              <a:defRPr sz="3300" b="1">
                <a:solidFill>
                  <a:srgbClr val="FFFFFF"/>
                </a:solidFill>
                <a:latin typeface="Arial"/>
                <a:ea typeface="Arial"/>
                <a:cs typeface="Arial"/>
              </a:defRPr>
            </a:lvl2pPr>
            <a:lvl3pPr algn="l">
              <a:buNone/>
              <a:defRPr sz="3300" b="1">
                <a:solidFill>
                  <a:srgbClr val="FFFFFF"/>
                </a:solidFill>
                <a:latin typeface="Arial"/>
                <a:ea typeface="Arial"/>
                <a:cs typeface="Arial"/>
              </a:defRPr>
            </a:lvl3pPr>
            <a:lvl4pPr algn="l">
              <a:buNone/>
              <a:defRPr sz="3300" b="1">
                <a:solidFill>
                  <a:srgbClr val="FFFFFF"/>
                </a:solidFill>
                <a:latin typeface="Arial"/>
                <a:ea typeface="Arial"/>
                <a:cs typeface="Arial"/>
              </a:defRPr>
            </a:lvl4pPr>
            <a:lvl5pPr algn="l">
              <a:buNone/>
              <a:defRPr sz="3300" b="1">
                <a:solidFill>
                  <a:srgbClr val="FFFFFF"/>
                </a:solidFill>
                <a:latin typeface="Arial"/>
                <a:ea typeface="Arial"/>
                <a:cs typeface="Arial"/>
              </a:defRPr>
            </a:lvl5pPr>
            <a:lvl6pPr algn="l">
              <a:buNone/>
              <a:defRPr sz="3300" b="1">
                <a:solidFill>
                  <a:srgbClr val="FFFFFF"/>
                </a:solidFill>
                <a:latin typeface="Arial"/>
                <a:ea typeface="Arial"/>
                <a:cs typeface="Arial"/>
              </a:defRPr>
            </a:lvl6pPr>
            <a:lvl7pPr algn="l">
              <a:buNone/>
              <a:defRPr sz="3300" b="1">
                <a:solidFill>
                  <a:srgbClr val="FFFFFF"/>
                </a:solidFill>
                <a:latin typeface="Arial"/>
                <a:ea typeface="Arial"/>
                <a:cs typeface="Arial"/>
              </a:defRPr>
            </a:lvl7pPr>
            <a:lvl8pPr algn="l">
              <a:buNone/>
              <a:defRPr sz="3300" b="1">
                <a:solidFill>
                  <a:srgbClr val="FFFFFF"/>
                </a:solidFill>
                <a:latin typeface="Arial"/>
                <a:ea typeface="Arial"/>
                <a:cs typeface="Arial"/>
              </a:defRPr>
            </a:lvl8pPr>
            <a:lvl9pPr algn="l">
              <a:buNone/>
              <a:defRPr sz="3300" b="1">
                <a:solidFill>
                  <a:srgbClr val="FFFFFF"/>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Conclusions and future work</a:t>
            </a:r>
          </a:p>
        </p:txBody>
      </p:sp>
      <p:sp>
        <p:nvSpPr>
          <p:cNvPr id="2" name="text-1">
            <a:extLst xmlns:a="http://schemas.openxmlformats.org/drawingml/2006/main">
              <a:ext uri="{FF2B5EF4-FFF2-40B4-BE49-F238E27FC236}">
                <a16:creationId xmlns:a16="http://schemas.microsoft.com/office/drawing/2014/main" id="{1E52FE5E-DB7A-4478-A9BE-C20180364DD1}"/>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142F40"/>
                </a:solidFill>
                <a:latin typeface="Arial"/>
                <a:ea typeface="Arial"/>
                <a:cs typeface="Arial"/>
              </a:defRPr>
            </a:defPPr>
            <a:lvl1pPr algn="r">
              <a:buNone/>
              <a:defRPr sz="1200" b="0">
                <a:solidFill>
                  <a:srgbClr val="B5CFD7"/>
                </a:solidFill>
                <a:latin typeface="Arial"/>
                <a:ea typeface="Arial"/>
                <a:cs typeface="Arial"/>
              </a:defRPr>
            </a:lvl1pPr>
            <a:lvl2pPr algn="r">
              <a:buNone/>
              <a:defRPr sz="1200" b="0">
                <a:solidFill>
                  <a:srgbClr val="B5CFD7"/>
                </a:solidFill>
                <a:latin typeface="Arial"/>
                <a:ea typeface="Arial"/>
                <a:cs typeface="Arial"/>
              </a:defRPr>
            </a:lvl2pPr>
            <a:lvl3pPr algn="r">
              <a:buNone/>
              <a:defRPr sz="1200" b="0">
                <a:solidFill>
                  <a:srgbClr val="B5CFD7"/>
                </a:solidFill>
                <a:latin typeface="Arial"/>
                <a:ea typeface="Arial"/>
                <a:cs typeface="Arial"/>
              </a:defRPr>
            </a:lvl3pPr>
            <a:lvl4pPr algn="r">
              <a:buNone/>
              <a:defRPr sz="1200" b="0">
                <a:solidFill>
                  <a:srgbClr val="B5CFD7"/>
                </a:solidFill>
                <a:latin typeface="Arial"/>
                <a:ea typeface="Arial"/>
                <a:cs typeface="Arial"/>
              </a:defRPr>
            </a:lvl4pPr>
            <a:lvl5pPr algn="r">
              <a:buNone/>
              <a:defRPr sz="1200" b="0">
                <a:solidFill>
                  <a:srgbClr val="B5CFD7"/>
                </a:solidFill>
                <a:latin typeface="Arial"/>
                <a:ea typeface="Arial"/>
                <a:cs typeface="Arial"/>
              </a:defRPr>
            </a:lvl5pPr>
            <a:lvl6pPr algn="r">
              <a:buNone/>
              <a:defRPr sz="1200" b="0">
                <a:solidFill>
                  <a:srgbClr val="B5CFD7"/>
                </a:solidFill>
                <a:latin typeface="Arial"/>
                <a:ea typeface="Arial"/>
                <a:cs typeface="Arial"/>
              </a:defRPr>
            </a:lvl6pPr>
            <a:lvl7pPr algn="r">
              <a:buNone/>
              <a:defRPr sz="1200" b="0">
                <a:solidFill>
                  <a:srgbClr val="B5CFD7"/>
                </a:solidFill>
                <a:latin typeface="Arial"/>
                <a:ea typeface="Arial"/>
                <a:cs typeface="Arial"/>
              </a:defRPr>
            </a:lvl7pPr>
            <a:lvl8pPr algn="r">
              <a:buNone/>
              <a:defRPr sz="1200" b="0">
                <a:solidFill>
                  <a:srgbClr val="B5CFD7"/>
                </a:solidFill>
                <a:latin typeface="Arial"/>
                <a:ea typeface="Arial"/>
                <a:cs typeface="Arial"/>
              </a:defRPr>
            </a:lvl8pPr>
            <a:lvl9pPr algn="r">
              <a:buNone/>
              <a:defRPr sz="1200" b="0">
                <a:solidFill>
                  <a:srgbClr val="B5CFD7"/>
                </a:solidFill>
                <a:latin typeface="Arial"/>
                <a:ea typeface="Arial"/>
                <a:cs typeface="Arial"/>
              </a:defRPr>
            </a:lvl9pPr>
          </a:lstStyle>
          <a:p xmlns:a="http://schemas.openxmlformats.org/drawingml/2006/main">
            <a:pPr algn="r">
              <a:buNone/>
              <a:defRPr sz="1200" b="0">
                <a:solidFill>
                  <a:srgbClr val="142F40"/>
                </a:solidFill>
                <a:latin typeface="Arial"/>
                <a:ea typeface="Arial"/>
                <a:cs typeface="Arial"/>
              </a:defRPr>
            </a:pPr>
            <a:r>
              <a:rPr sz="1200" b="0">
                <a:solidFill>
                  <a:srgbClr val="142F40"/>
                </a:solidFill>
                <a:latin typeface="Arial"/>
                <a:ea typeface="Arial"/>
                <a:cs typeface="Arial"/>
              </a:rPr>
              <a:t>13</a:t>
            </a:r>
          </a:p>
        </p:txBody>
      </p:sp>
      <p:sp>
        <p:nvSpPr>
          <p:cNvPr id="3" name="text-2">
            <a:extLst xmlns:a="http://schemas.openxmlformats.org/drawingml/2006/main">
              <a:ext uri="{FF2B5EF4-FFF2-40B4-BE49-F238E27FC236}">
                <a16:creationId xmlns:a16="http://schemas.microsoft.com/office/drawing/2014/main" id="{D0D39B5A-EEDA-4089-AA79-315D5F95379B}"/>
              </a:ext>
            </a:extLst>
          </p:cNvPr>
          <p:cNvSpPr>
            <a:spLocks xmlns:a="http://schemas.openxmlformats.org/drawingml/2006/main" noGrp="1"/>
          </p:cNvSpPr>
          <p:nvPr/>
        </p:nvSpPr>
        <p:spPr>
          <a:xfrm xmlns:a="http://schemas.openxmlformats.org/drawingml/2006/main">
            <a:off x="647700" y="1571625"/>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F40"/>
                </a:solidFill>
                <a:latin typeface="Arial"/>
                <a:ea typeface="Arial"/>
                <a:cs typeface="Arial"/>
              </a:defRPr>
            </a:defPPr>
            <a:lvl1pPr algn="l">
              <a:buNone/>
              <a:defRPr sz="3000" b="1">
                <a:solidFill>
                  <a:srgbClr val="FFFFFF"/>
                </a:solidFill>
                <a:latin typeface="Arial"/>
                <a:ea typeface="Arial"/>
                <a:cs typeface="Arial"/>
              </a:defRPr>
            </a:lvl1pPr>
            <a:lvl2pPr algn="l">
              <a:buNone/>
              <a:defRPr sz="3000" b="1">
                <a:solidFill>
                  <a:srgbClr val="FFFFFF"/>
                </a:solidFill>
                <a:latin typeface="Arial"/>
                <a:ea typeface="Arial"/>
                <a:cs typeface="Arial"/>
              </a:defRPr>
            </a:lvl2pPr>
            <a:lvl3pPr algn="l">
              <a:buNone/>
              <a:defRPr sz="3000" b="1">
                <a:solidFill>
                  <a:srgbClr val="FFFFFF"/>
                </a:solidFill>
                <a:latin typeface="Arial"/>
                <a:ea typeface="Arial"/>
                <a:cs typeface="Arial"/>
              </a:defRPr>
            </a:lvl3pPr>
            <a:lvl4pPr algn="l">
              <a:buNone/>
              <a:defRPr sz="3000" b="1">
                <a:solidFill>
                  <a:srgbClr val="FFFFFF"/>
                </a:solidFill>
                <a:latin typeface="Arial"/>
                <a:ea typeface="Arial"/>
                <a:cs typeface="Arial"/>
              </a:defRPr>
            </a:lvl4pPr>
            <a:lvl5pPr algn="l">
              <a:buNone/>
              <a:defRPr sz="3000" b="1">
                <a:solidFill>
                  <a:srgbClr val="FFFFFF"/>
                </a:solidFill>
                <a:latin typeface="Arial"/>
                <a:ea typeface="Arial"/>
                <a:cs typeface="Arial"/>
              </a:defRPr>
            </a:lvl5pPr>
            <a:lvl6pPr algn="l">
              <a:buNone/>
              <a:defRPr sz="3000" b="1">
                <a:solidFill>
                  <a:srgbClr val="FFFFFF"/>
                </a:solidFill>
                <a:latin typeface="Arial"/>
                <a:ea typeface="Arial"/>
                <a:cs typeface="Arial"/>
              </a:defRPr>
            </a:lvl6pPr>
            <a:lvl7pPr algn="l">
              <a:buNone/>
              <a:defRPr sz="3000" b="1">
                <a:solidFill>
                  <a:srgbClr val="FFFFFF"/>
                </a:solidFill>
                <a:latin typeface="Arial"/>
                <a:ea typeface="Arial"/>
                <a:cs typeface="Arial"/>
              </a:defRPr>
            </a:lvl7pPr>
            <a:lvl8pPr algn="l">
              <a:buNone/>
              <a:defRPr sz="3000" b="1">
                <a:solidFill>
                  <a:srgbClr val="FFFFFF"/>
                </a:solidFill>
                <a:latin typeface="Arial"/>
                <a:ea typeface="Arial"/>
                <a:cs typeface="Arial"/>
              </a:defRPr>
            </a:lvl8pPr>
            <a:lvl9pPr algn="l">
              <a:buNone/>
              <a:defRPr sz="3000" b="1">
                <a:solidFill>
                  <a:srgbClr val="FFFFFF"/>
                </a:solidFill>
                <a:latin typeface="Arial"/>
                <a:ea typeface="Arial"/>
                <a:cs typeface="Arial"/>
              </a:defRPr>
            </a:lvl9pPr>
          </a:lstStyle>
          <a:p xmlns:a="http://schemas.openxmlformats.org/drawingml/2006/main">
            <a:pPr algn="l">
              <a:buNone/>
              <a:defRPr sz="3000" b="1">
                <a:solidFill>
                  <a:srgbClr val="142F40"/>
                </a:solidFill>
                <a:latin typeface="Arial"/>
                <a:ea typeface="Arial"/>
                <a:cs typeface="Arial"/>
              </a:defRPr>
            </a:pPr>
            <a:r>
              <a:rPr sz="3000" b="1">
                <a:solidFill>
                  <a:srgbClr val="142F40"/>
                </a:solidFill>
                <a:latin typeface="Arial"/>
                <a:ea typeface="Arial"/>
                <a:cs typeface="Arial"/>
              </a:rPr>
              <a:t>A working HTTP load balancer with</a:t>
            </a:r>
          </a:p>
          <a:p xmlns:a="http://schemas.openxmlformats.org/drawingml/2006/main">
            <a:pPr algn="l">
              <a:buNone/>
              <a:defRPr sz="3000" b="1">
                <a:solidFill>
                  <a:srgbClr val="142F40"/>
                </a:solidFill>
                <a:latin typeface="Arial"/>
                <a:ea typeface="Arial"/>
                <a:cs typeface="Arial"/>
              </a:defRPr>
            </a:pPr>
            <a:r>
              <a:rPr sz="3000" b="1">
                <a:solidFill>
                  <a:srgbClr val="142F40"/>
                </a:solidFill>
                <a:latin typeface="Arial"/>
                <a:ea typeface="Arial"/>
                <a:cs typeface="Arial"/>
              </a:rPr>
              <a:t>observable routing and failure behavior.</a:t>
            </a:r>
          </a:p>
        </p:txBody>
      </p:sp>
      <p:sp>
        <p:nvSpPr>
          <p:cNvPr id="4" name="text-3">
            <a:extLst xmlns:a="http://schemas.openxmlformats.org/drawingml/2006/main">
              <a:ext uri="{FF2B5EF4-FFF2-40B4-BE49-F238E27FC236}">
                <a16:creationId xmlns:a16="http://schemas.microsoft.com/office/drawing/2014/main" id="{DC61A15F-D48B-4349-8023-E5F28E2D7697}"/>
              </a:ext>
            </a:extLst>
          </p:cNvPr>
          <p:cNvSpPr>
            <a:spLocks xmlns:a="http://schemas.openxmlformats.org/drawingml/2006/main" noGrp="1"/>
          </p:cNvSpPr>
          <p:nvPr/>
        </p:nvSpPr>
        <p:spPr>
          <a:xfrm xmlns:a="http://schemas.openxmlformats.org/drawingml/2006/main">
            <a:off x="647700" y="32575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F40"/>
                </a:solidFill>
                <a:latin typeface="Arial"/>
                <a:ea typeface="Arial"/>
                <a:cs typeface="Arial"/>
              </a:defRPr>
            </a:defPPr>
            <a:lvl1pPr algn="l">
              <a:buNone/>
              <a:defRPr sz="2250" b="1">
                <a:solidFill>
                  <a:srgbClr val="87D5CA"/>
                </a:solidFill>
                <a:latin typeface="Arial"/>
                <a:ea typeface="Arial"/>
                <a:cs typeface="Arial"/>
              </a:defRPr>
            </a:lvl1pPr>
            <a:lvl2pPr algn="l">
              <a:buNone/>
              <a:defRPr sz="2250" b="1">
                <a:solidFill>
                  <a:srgbClr val="87D5CA"/>
                </a:solidFill>
                <a:latin typeface="Arial"/>
                <a:ea typeface="Arial"/>
                <a:cs typeface="Arial"/>
              </a:defRPr>
            </a:lvl2pPr>
            <a:lvl3pPr algn="l">
              <a:buNone/>
              <a:defRPr sz="2250" b="1">
                <a:solidFill>
                  <a:srgbClr val="87D5CA"/>
                </a:solidFill>
                <a:latin typeface="Arial"/>
                <a:ea typeface="Arial"/>
                <a:cs typeface="Arial"/>
              </a:defRPr>
            </a:lvl3pPr>
            <a:lvl4pPr algn="l">
              <a:buNone/>
              <a:defRPr sz="2250" b="1">
                <a:solidFill>
                  <a:srgbClr val="87D5CA"/>
                </a:solidFill>
                <a:latin typeface="Arial"/>
                <a:ea typeface="Arial"/>
                <a:cs typeface="Arial"/>
              </a:defRPr>
            </a:lvl4pPr>
            <a:lvl5pPr algn="l">
              <a:buNone/>
              <a:defRPr sz="2250" b="1">
                <a:solidFill>
                  <a:srgbClr val="87D5CA"/>
                </a:solidFill>
                <a:latin typeface="Arial"/>
                <a:ea typeface="Arial"/>
                <a:cs typeface="Arial"/>
              </a:defRPr>
            </a:lvl5pPr>
            <a:lvl6pPr algn="l">
              <a:buNone/>
              <a:defRPr sz="2250" b="1">
                <a:solidFill>
                  <a:srgbClr val="87D5CA"/>
                </a:solidFill>
                <a:latin typeface="Arial"/>
                <a:ea typeface="Arial"/>
                <a:cs typeface="Arial"/>
              </a:defRPr>
            </a:lvl6pPr>
            <a:lvl7pPr algn="l">
              <a:buNone/>
              <a:defRPr sz="2250" b="1">
                <a:solidFill>
                  <a:srgbClr val="87D5CA"/>
                </a:solidFill>
                <a:latin typeface="Arial"/>
                <a:ea typeface="Arial"/>
                <a:cs typeface="Arial"/>
              </a:defRPr>
            </a:lvl7pPr>
            <a:lvl8pPr algn="l">
              <a:buNone/>
              <a:defRPr sz="2250" b="1">
                <a:solidFill>
                  <a:srgbClr val="87D5CA"/>
                </a:solidFill>
                <a:latin typeface="Arial"/>
                <a:ea typeface="Arial"/>
                <a:cs typeface="Arial"/>
              </a:defRPr>
            </a:lvl8pPr>
            <a:lvl9pPr algn="l">
              <a:buNone/>
              <a:defRPr sz="2250" b="1">
                <a:solidFill>
                  <a:srgbClr val="87D5CA"/>
                </a:solidFill>
                <a:latin typeface="Arial"/>
                <a:ea typeface="Arial"/>
                <a:cs typeface="Arial"/>
              </a:defRPr>
            </a:lvl9pPr>
          </a:lstStyle>
          <a:p xmlns:a="http://schemas.openxmlformats.org/drawingml/2006/main">
            <a:pPr algn="l">
              <a:buNone/>
              <a:defRPr sz="2250" b="1">
                <a:solidFill>
                  <a:srgbClr val="142F40"/>
                </a:solidFill>
                <a:latin typeface="Arial"/>
                <a:ea typeface="Arial"/>
                <a:cs typeface="Arial"/>
              </a:defRPr>
            </a:pPr>
            <a:r>
              <a:rPr sz="2250" b="1">
                <a:solidFill>
                  <a:srgbClr val="142F40"/>
                </a:solidFill>
                <a:latin typeface="Arial"/>
                <a:ea typeface="Arial"/>
                <a:cs typeface="Arial"/>
              </a:rPr>
              <a:t>Implemented</a:t>
            </a:r>
          </a:p>
        </p:txBody>
      </p:sp>
      <p:sp>
        <p:nvSpPr>
          <p:cNvPr id="5" name="text-4">
            <a:extLst xmlns:a="http://schemas.openxmlformats.org/drawingml/2006/main">
              <a:ext uri="{FF2B5EF4-FFF2-40B4-BE49-F238E27FC236}">
                <a16:creationId xmlns:a16="http://schemas.microsoft.com/office/drawing/2014/main" id="{26CFC660-D167-4BA8-8C93-E89FDFEAC0AA}"/>
              </a:ext>
            </a:extLst>
          </p:cNvPr>
          <p:cNvSpPr>
            <a:spLocks xmlns:a="http://schemas.openxmlformats.org/drawingml/2006/main" noGrp="1"/>
          </p:cNvSpPr>
          <p:nvPr/>
        </p:nvSpPr>
        <p:spPr>
          <a:xfrm xmlns:a="http://schemas.openxmlformats.org/drawingml/2006/main">
            <a:off x="647700" y="3829050"/>
            <a:ext cx="5048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F40"/>
                </a:solidFill>
                <a:latin typeface="Arial"/>
                <a:ea typeface="Arial"/>
                <a:cs typeface="Arial"/>
              </a:defRPr>
            </a:defPPr>
            <a:lvl1pPr algn="l">
              <a:buNone/>
              <a:defRPr sz="2025" b="0">
                <a:solidFill>
                  <a:srgbClr val="FFFFFF"/>
                </a:solidFill>
                <a:latin typeface="Arial"/>
                <a:ea typeface="Arial"/>
                <a:cs typeface="Arial"/>
              </a:defRPr>
            </a:lvl1pPr>
            <a:lvl2pPr algn="l">
              <a:buNone/>
              <a:defRPr sz="2025" b="0">
                <a:solidFill>
                  <a:srgbClr val="FFFFFF"/>
                </a:solidFill>
                <a:latin typeface="Arial"/>
                <a:ea typeface="Arial"/>
                <a:cs typeface="Arial"/>
              </a:defRPr>
            </a:lvl2pPr>
            <a:lvl3pPr algn="l">
              <a:buNone/>
              <a:defRPr sz="2025" b="0">
                <a:solidFill>
                  <a:srgbClr val="FFFFFF"/>
                </a:solidFill>
                <a:latin typeface="Arial"/>
                <a:ea typeface="Arial"/>
                <a:cs typeface="Arial"/>
              </a:defRPr>
            </a:lvl3pPr>
            <a:lvl4pPr algn="l">
              <a:buNone/>
              <a:defRPr sz="2025" b="0">
                <a:solidFill>
                  <a:srgbClr val="FFFFFF"/>
                </a:solidFill>
                <a:latin typeface="Arial"/>
                <a:ea typeface="Arial"/>
                <a:cs typeface="Arial"/>
              </a:defRPr>
            </a:lvl4pPr>
            <a:lvl5pPr algn="l">
              <a:buNone/>
              <a:defRPr sz="2025" b="0">
                <a:solidFill>
                  <a:srgbClr val="FFFFFF"/>
                </a:solidFill>
                <a:latin typeface="Arial"/>
                <a:ea typeface="Arial"/>
                <a:cs typeface="Arial"/>
              </a:defRPr>
            </a:lvl5pPr>
            <a:lvl6pPr algn="l">
              <a:buNone/>
              <a:defRPr sz="2025" b="0">
                <a:solidFill>
                  <a:srgbClr val="FFFFFF"/>
                </a:solidFill>
                <a:latin typeface="Arial"/>
                <a:ea typeface="Arial"/>
                <a:cs typeface="Arial"/>
              </a:defRPr>
            </a:lvl6pPr>
            <a:lvl7pPr algn="l">
              <a:buNone/>
              <a:defRPr sz="2025" b="0">
                <a:solidFill>
                  <a:srgbClr val="FFFFFF"/>
                </a:solidFill>
                <a:latin typeface="Arial"/>
                <a:ea typeface="Arial"/>
                <a:cs typeface="Arial"/>
              </a:defRPr>
            </a:lvl7pPr>
            <a:lvl8pPr algn="l">
              <a:buNone/>
              <a:defRPr sz="2025" b="0">
                <a:solidFill>
                  <a:srgbClr val="FFFFFF"/>
                </a:solidFill>
                <a:latin typeface="Arial"/>
                <a:ea typeface="Arial"/>
                <a:cs typeface="Arial"/>
              </a:defRPr>
            </a:lvl8pPr>
            <a:lvl9pPr algn="l">
              <a:buNone/>
              <a:defRPr sz="2025" b="0">
                <a:solidFill>
                  <a:srgbClr val="FFFFFF"/>
                </a:solidFill>
                <a:latin typeface="Arial"/>
                <a:ea typeface="Arial"/>
                <a:cs typeface="Arial"/>
              </a:defRPr>
            </a:lvl9pPr>
          </a:lstStyle>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Three algorithms and path pools</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Active health checks and recovery</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Live statistics and JSON logs</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A repeatable browser demonstration</a:t>
            </a:r>
          </a:p>
        </p:txBody>
      </p:sp>
      <p:sp>
        <p:nvSpPr>
          <p:cNvPr id="6" name="text-5">
            <a:extLst xmlns:a="http://schemas.openxmlformats.org/drawingml/2006/main">
              <a:ext uri="{FF2B5EF4-FFF2-40B4-BE49-F238E27FC236}">
                <a16:creationId xmlns:a16="http://schemas.microsoft.com/office/drawing/2014/main" id="{0B5EC455-D625-41CD-A8C9-4219F801D40B}"/>
              </a:ext>
            </a:extLst>
          </p:cNvPr>
          <p:cNvSpPr>
            <a:spLocks xmlns:a="http://schemas.openxmlformats.org/drawingml/2006/main" noGrp="1"/>
          </p:cNvSpPr>
          <p:nvPr/>
        </p:nvSpPr>
        <p:spPr>
          <a:xfrm xmlns:a="http://schemas.openxmlformats.org/drawingml/2006/main">
            <a:off x="6553200" y="32575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F40"/>
                </a:solidFill>
                <a:latin typeface="Arial"/>
                <a:ea typeface="Arial"/>
                <a:cs typeface="Arial"/>
              </a:defRPr>
            </a:defPPr>
            <a:lvl1pPr algn="l">
              <a:buNone/>
              <a:defRPr sz="2250" b="1">
                <a:solidFill>
                  <a:srgbClr val="87D5CA"/>
                </a:solidFill>
                <a:latin typeface="Arial"/>
                <a:ea typeface="Arial"/>
                <a:cs typeface="Arial"/>
              </a:defRPr>
            </a:lvl1pPr>
            <a:lvl2pPr algn="l">
              <a:buNone/>
              <a:defRPr sz="2250" b="1">
                <a:solidFill>
                  <a:srgbClr val="87D5CA"/>
                </a:solidFill>
                <a:latin typeface="Arial"/>
                <a:ea typeface="Arial"/>
                <a:cs typeface="Arial"/>
              </a:defRPr>
            </a:lvl2pPr>
            <a:lvl3pPr algn="l">
              <a:buNone/>
              <a:defRPr sz="2250" b="1">
                <a:solidFill>
                  <a:srgbClr val="87D5CA"/>
                </a:solidFill>
                <a:latin typeface="Arial"/>
                <a:ea typeface="Arial"/>
                <a:cs typeface="Arial"/>
              </a:defRPr>
            </a:lvl3pPr>
            <a:lvl4pPr algn="l">
              <a:buNone/>
              <a:defRPr sz="2250" b="1">
                <a:solidFill>
                  <a:srgbClr val="87D5CA"/>
                </a:solidFill>
                <a:latin typeface="Arial"/>
                <a:ea typeface="Arial"/>
                <a:cs typeface="Arial"/>
              </a:defRPr>
            </a:lvl4pPr>
            <a:lvl5pPr algn="l">
              <a:buNone/>
              <a:defRPr sz="2250" b="1">
                <a:solidFill>
                  <a:srgbClr val="87D5CA"/>
                </a:solidFill>
                <a:latin typeface="Arial"/>
                <a:ea typeface="Arial"/>
                <a:cs typeface="Arial"/>
              </a:defRPr>
            </a:lvl5pPr>
            <a:lvl6pPr algn="l">
              <a:buNone/>
              <a:defRPr sz="2250" b="1">
                <a:solidFill>
                  <a:srgbClr val="87D5CA"/>
                </a:solidFill>
                <a:latin typeface="Arial"/>
                <a:ea typeface="Arial"/>
                <a:cs typeface="Arial"/>
              </a:defRPr>
            </a:lvl6pPr>
            <a:lvl7pPr algn="l">
              <a:buNone/>
              <a:defRPr sz="2250" b="1">
                <a:solidFill>
                  <a:srgbClr val="87D5CA"/>
                </a:solidFill>
                <a:latin typeface="Arial"/>
                <a:ea typeface="Arial"/>
                <a:cs typeface="Arial"/>
              </a:defRPr>
            </a:lvl7pPr>
            <a:lvl8pPr algn="l">
              <a:buNone/>
              <a:defRPr sz="2250" b="1">
                <a:solidFill>
                  <a:srgbClr val="87D5CA"/>
                </a:solidFill>
                <a:latin typeface="Arial"/>
                <a:ea typeface="Arial"/>
                <a:cs typeface="Arial"/>
              </a:defRPr>
            </a:lvl8pPr>
            <a:lvl9pPr algn="l">
              <a:buNone/>
              <a:defRPr sz="2250" b="1">
                <a:solidFill>
                  <a:srgbClr val="87D5CA"/>
                </a:solidFill>
                <a:latin typeface="Arial"/>
                <a:ea typeface="Arial"/>
                <a:cs typeface="Arial"/>
              </a:defRPr>
            </a:lvl9pPr>
          </a:lstStyle>
          <a:p xmlns:a="http://schemas.openxmlformats.org/drawingml/2006/main">
            <a:pPr algn="l">
              <a:buNone/>
              <a:defRPr sz="2250" b="1">
                <a:solidFill>
                  <a:srgbClr val="142F40"/>
                </a:solidFill>
                <a:latin typeface="Arial"/>
                <a:ea typeface="Arial"/>
                <a:cs typeface="Arial"/>
              </a:defRPr>
            </a:pPr>
            <a:r>
              <a:rPr sz="2250" b="1">
                <a:solidFill>
                  <a:srgbClr val="142F40"/>
                </a:solidFill>
                <a:latin typeface="Arial"/>
                <a:ea typeface="Arial"/>
                <a:cs typeface="Arial"/>
              </a:rPr>
              <a:t>Current scope → next steps</a:t>
            </a:r>
          </a:p>
        </p:txBody>
      </p:sp>
      <p:sp>
        <p:nvSpPr>
          <p:cNvPr id="7" name="text-6">
            <a:extLst xmlns:a="http://schemas.openxmlformats.org/drawingml/2006/main">
              <a:ext uri="{FF2B5EF4-FFF2-40B4-BE49-F238E27FC236}">
                <a16:creationId xmlns:a16="http://schemas.microsoft.com/office/drawing/2014/main" id="{E5C672BB-73AC-4DD6-8739-A5AB2365A7BF}"/>
              </a:ext>
            </a:extLst>
          </p:cNvPr>
          <p:cNvSpPr>
            <a:spLocks xmlns:a="http://schemas.openxmlformats.org/drawingml/2006/main" noGrp="1"/>
          </p:cNvSpPr>
          <p:nvPr/>
        </p:nvSpPr>
        <p:spPr>
          <a:xfrm xmlns:a="http://schemas.openxmlformats.org/drawingml/2006/main">
            <a:off x="6553200" y="3829050"/>
            <a:ext cx="5029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F40"/>
                </a:solidFill>
                <a:latin typeface="Arial"/>
                <a:ea typeface="Arial"/>
                <a:cs typeface="Arial"/>
              </a:defRPr>
            </a:defPPr>
            <a:lvl1pPr algn="l">
              <a:buNone/>
              <a:defRPr sz="2025" b="0">
                <a:solidFill>
                  <a:srgbClr val="FFFFFF"/>
                </a:solidFill>
                <a:latin typeface="Arial"/>
                <a:ea typeface="Arial"/>
                <a:cs typeface="Arial"/>
              </a:defRPr>
            </a:lvl1pPr>
            <a:lvl2pPr algn="l">
              <a:buNone/>
              <a:defRPr sz="2025" b="0">
                <a:solidFill>
                  <a:srgbClr val="FFFFFF"/>
                </a:solidFill>
                <a:latin typeface="Arial"/>
                <a:ea typeface="Arial"/>
                <a:cs typeface="Arial"/>
              </a:defRPr>
            </a:lvl2pPr>
            <a:lvl3pPr algn="l">
              <a:buNone/>
              <a:defRPr sz="2025" b="0">
                <a:solidFill>
                  <a:srgbClr val="FFFFFF"/>
                </a:solidFill>
                <a:latin typeface="Arial"/>
                <a:ea typeface="Arial"/>
                <a:cs typeface="Arial"/>
              </a:defRPr>
            </a:lvl3pPr>
            <a:lvl4pPr algn="l">
              <a:buNone/>
              <a:defRPr sz="2025" b="0">
                <a:solidFill>
                  <a:srgbClr val="FFFFFF"/>
                </a:solidFill>
                <a:latin typeface="Arial"/>
                <a:ea typeface="Arial"/>
                <a:cs typeface="Arial"/>
              </a:defRPr>
            </a:lvl4pPr>
            <a:lvl5pPr algn="l">
              <a:buNone/>
              <a:defRPr sz="2025" b="0">
                <a:solidFill>
                  <a:srgbClr val="FFFFFF"/>
                </a:solidFill>
                <a:latin typeface="Arial"/>
                <a:ea typeface="Arial"/>
                <a:cs typeface="Arial"/>
              </a:defRPr>
            </a:lvl5pPr>
            <a:lvl6pPr algn="l">
              <a:buNone/>
              <a:defRPr sz="2025" b="0">
                <a:solidFill>
                  <a:srgbClr val="FFFFFF"/>
                </a:solidFill>
                <a:latin typeface="Arial"/>
                <a:ea typeface="Arial"/>
                <a:cs typeface="Arial"/>
              </a:defRPr>
            </a:lvl6pPr>
            <a:lvl7pPr algn="l">
              <a:buNone/>
              <a:defRPr sz="2025" b="0">
                <a:solidFill>
                  <a:srgbClr val="FFFFFF"/>
                </a:solidFill>
                <a:latin typeface="Arial"/>
                <a:ea typeface="Arial"/>
                <a:cs typeface="Arial"/>
              </a:defRPr>
            </a:lvl7pPr>
            <a:lvl8pPr algn="l">
              <a:buNone/>
              <a:defRPr sz="2025" b="0">
                <a:solidFill>
                  <a:srgbClr val="FFFFFF"/>
                </a:solidFill>
                <a:latin typeface="Arial"/>
                <a:ea typeface="Arial"/>
                <a:cs typeface="Arial"/>
              </a:defRPr>
            </a:lvl8pPr>
            <a:lvl9pPr algn="l">
              <a:buNone/>
              <a:defRPr sz="2025" b="0">
                <a:solidFill>
                  <a:srgbClr val="FFFFFF"/>
                </a:solidFill>
                <a:latin typeface="Arial"/>
                <a:ea typeface="Arial"/>
                <a:cs typeface="Arial"/>
              </a:defRPr>
            </a:lvl9pPr>
          </a:lstStyle>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HTTP/1.1 subset → broader support</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One request/connection → keep-alive</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Plain HTTP → TLS termination</a:t>
            </a:r>
          </a:p>
          <a:p xmlns:a="http://schemas.openxmlformats.org/drawingml/2006/main">
            <a:pPr algn="l">
              <a:buNone/>
              <a:defRPr sz="2025" b="0">
                <a:solidFill>
                  <a:srgbClr val="142F40"/>
                </a:solidFill>
                <a:latin typeface="Arial"/>
                <a:ea typeface="Arial"/>
                <a:cs typeface="Arial"/>
              </a:defRPr>
            </a:pPr>
            <a:r>
              <a:rPr sz="2025" b="0">
                <a:solidFill>
                  <a:srgbClr val="142F40"/>
                </a:solidFill>
                <a:latin typeface="Arial"/>
                <a:ea typeface="Arial"/>
                <a:cs typeface="Arial"/>
              </a:rPr>
              <a:t>Local checks → load benchmarking</a:t>
            </a:r>
          </a:p>
        </p:txBody>
      </p:sp>
      <p:sp>
        <p:nvSpPr>
          <p:cNvPr id="8" name="text-7">
            <a:extLst xmlns:a="http://schemas.openxmlformats.org/drawingml/2006/main">
              <a:ext uri="{FF2B5EF4-FFF2-40B4-BE49-F238E27FC236}">
                <a16:creationId xmlns:a16="http://schemas.microsoft.com/office/drawing/2014/main" id="{C4BA681B-4F71-4712-96FC-BEFA11D6CD5F}"/>
              </a:ext>
            </a:extLst>
          </p:cNvPr>
          <p:cNvSpPr>
            <a:spLocks xmlns:a="http://schemas.openxmlformats.org/drawingml/2006/main" noGrp="1"/>
          </p:cNvSpPr>
          <p:nvPr/>
        </p:nvSpPr>
        <p:spPr>
          <a:xfrm xmlns:a="http://schemas.openxmlformats.org/drawingml/2006/main">
            <a:off x="647700" y="598170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F40"/>
                </a:solidFill>
                <a:latin typeface="Arial"/>
                <a:ea typeface="Arial"/>
                <a:cs typeface="Arial"/>
              </a:defRPr>
            </a:defPPr>
            <a:lvl1pPr algn="l">
              <a:buNone/>
              <a:defRPr sz="2250" b="1">
                <a:solidFill>
                  <a:srgbClr val="87D5CA"/>
                </a:solidFill>
                <a:latin typeface="Arial"/>
                <a:ea typeface="Arial"/>
                <a:cs typeface="Arial"/>
              </a:defRPr>
            </a:lvl1pPr>
            <a:lvl2pPr algn="l">
              <a:buNone/>
              <a:defRPr sz="2250" b="1">
                <a:solidFill>
                  <a:srgbClr val="87D5CA"/>
                </a:solidFill>
                <a:latin typeface="Arial"/>
                <a:ea typeface="Arial"/>
                <a:cs typeface="Arial"/>
              </a:defRPr>
            </a:lvl2pPr>
            <a:lvl3pPr algn="l">
              <a:buNone/>
              <a:defRPr sz="2250" b="1">
                <a:solidFill>
                  <a:srgbClr val="87D5CA"/>
                </a:solidFill>
                <a:latin typeface="Arial"/>
                <a:ea typeface="Arial"/>
                <a:cs typeface="Arial"/>
              </a:defRPr>
            </a:lvl3pPr>
            <a:lvl4pPr algn="l">
              <a:buNone/>
              <a:defRPr sz="2250" b="1">
                <a:solidFill>
                  <a:srgbClr val="87D5CA"/>
                </a:solidFill>
                <a:latin typeface="Arial"/>
                <a:ea typeface="Arial"/>
                <a:cs typeface="Arial"/>
              </a:defRPr>
            </a:lvl4pPr>
            <a:lvl5pPr algn="l">
              <a:buNone/>
              <a:defRPr sz="2250" b="1">
                <a:solidFill>
                  <a:srgbClr val="87D5CA"/>
                </a:solidFill>
                <a:latin typeface="Arial"/>
                <a:ea typeface="Arial"/>
                <a:cs typeface="Arial"/>
              </a:defRPr>
            </a:lvl5pPr>
            <a:lvl6pPr algn="l">
              <a:buNone/>
              <a:defRPr sz="2250" b="1">
                <a:solidFill>
                  <a:srgbClr val="87D5CA"/>
                </a:solidFill>
                <a:latin typeface="Arial"/>
                <a:ea typeface="Arial"/>
                <a:cs typeface="Arial"/>
              </a:defRPr>
            </a:lvl6pPr>
            <a:lvl7pPr algn="l">
              <a:buNone/>
              <a:defRPr sz="2250" b="1">
                <a:solidFill>
                  <a:srgbClr val="87D5CA"/>
                </a:solidFill>
                <a:latin typeface="Arial"/>
                <a:ea typeface="Arial"/>
                <a:cs typeface="Arial"/>
              </a:defRPr>
            </a:lvl7pPr>
            <a:lvl8pPr algn="l">
              <a:buNone/>
              <a:defRPr sz="2250" b="1">
                <a:solidFill>
                  <a:srgbClr val="87D5CA"/>
                </a:solidFill>
                <a:latin typeface="Arial"/>
                <a:ea typeface="Arial"/>
                <a:cs typeface="Arial"/>
              </a:defRPr>
            </a:lvl8pPr>
            <a:lvl9pPr algn="l">
              <a:buNone/>
              <a:defRPr sz="2250" b="1">
                <a:solidFill>
                  <a:srgbClr val="87D5CA"/>
                </a:solidFill>
                <a:latin typeface="Arial"/>
                <a:ea typeface="Arial"/>
                <a:cs typeface="Arial"/>
              </a:defRPr>
            </a:lvl9pPr>
          </a:lstStyle>
          <a:p xmlns:a="http://schemas.openxmlformats.org/drawingml/2006/main">
            <a:pPr algn="l">
              <a:buNone/>
              <a:defRPr sz="2250" b="1">
                <a:solidFill>
                  <a:srgbClr val="142F40"/>
                </a:solidFill>
                <a:latin typeface="Arial"/>
                <a:ea typeface="Arial"/>
                <a:cs typeface="Arial"/>
              </a:defRPr>
            </a:pPr>
            <a:r>
              <a:rPr sz="2250" b="1">
                <a:solidFill>
                  <a:srgbClr val="142F40"/>
                </a:solidFill>
                <a:latin typeface="Arial"/>
                <a:ea typeface="Arial"/>
                <a:cs typeface="Arial"/>
              </a:rPr>
              <a:t>Questions and discussion</a:t>
            </a:r>
          </a:p>
        </p:txBody>
      </p:sp>
    </p:spTree>
    <p:extLst>
      <p:ext uri="{BB962C8B-B14F-4D97-AF65-F5344CB8AC3E}">
        <p14:creationId xmlns:p14="http://schemas.microsoft.com/office/powerpoint/2010/main" val="1135443921"/>
      </p:ext>
    </p:extLst>
  </p:cSld>
</p:sld>
</file>

<file path=ppt/slides/slide1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933EBC5-01B7-4276-9722-88AD9303721B}"/>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Code walkthrough: reserve before waiting</a:t>
            </a:r>
          </a:p>
        </p:txBody>
      </p:sp>
      <p:sp>
        <p:nvSpPr>
          <p:cNvPr id="2" name="text-1">
            <a:extLst xmlns:a="http://schemas.openxmlformats.org/drawingml/2006/main">
              <a:ext uri="{FF2B5EF4-FFF2-40B4-BE49-F238E27FC236}">
                <a16:creationId xmlns:a16="http://schemas.microsoft.com/office/drawing/2014/main" id="{9923C46B-96D3-42F8-B111-22E8640448AB}"/>
              </a:ext>
            </a:extLst>
          </p:cNvPr>
          <p:cNvSpPr>
            <a:spLocks xmlns:a="http://schemas.openxmlformats.org/drawingml/2006/main" noGrp="1"/>
          </p:cNvSpPr>
          <p:nvPr/>
        </p:nvSpPr>
        <p:spPr>
          <a:xfrm xmlns:a="http://schemas.openxmlformats.org/drawingml/2006/main">
            <a:off x="628650" y="114300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Backup slide · selected lines from the actual request handler</a:t>
            </a:r>
          </a:p>
        </p:txBody>
      </p:sp>
      <p:sp>
        <p:nvSpPr>
          <p:cNvPr id="3" name="text-2">
            <a:extLst xmlns:a="http://schemas.openxmlformats.org/drawingml/2006/main">
              <a:ext uri="{FF2B5EF4-FFF2-40B4-BE49-F238E27FC236}">
                <a16:creationId xmlns:a16="http://schemas.microsoft.com/office/drawing/2014/main" id="{4AAAC1A2-E011-4A9B-A138-98137C42BED8}"/>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14</a:t>
            </a:r>
          </a:p>
        </p:txBody>
      </p:sp>
      <p:sp>
        <p:nvSpPr>
          <p:cNvPr id="4" name="text-3">
            <a:extLst xmlns:a="http://schemas.openxmlformats.org/drawingml/2006/main">
              <a:ext uri="{FF2B5EF4-FFF2-40B4-BE49-F238E27FC236}">
                <a16:creationId xmlns:a16="http://schemas.microsoft.com/office/drawing/2014/main" id="{17122928-000E-4D53-98F7-75902E6AC970}"/>
              </a:ext>
            </a:extLst>
          </p:cNvPr>
          <p:cNvSpPr>
            <a:spLocks xmlns:a="http://schemas.openxmlformats.org/drawingml/2006/main" noGrp="1"/>
          </p:cNvSpPr>
          <p:nvPr/>
        </p:nvSpPr>
        <p:spPr>
          <a:xfrm xmlns:a="http://schemas.openxmlformats.org/drawingml/2006/main">
            <a:off x="647700" y="2057400"/>
            <a:ext cx="10906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40"/>
                </a:solidFill>
                <a:latin typeface="Consolas"/>
                <a:ea typeface="Consolas"/>
                <a:cs typeface="Consolas"/>
              </a:defRPr>
            </a:defPPr>
            <a:lvl1pPr algn="l">
              <a:buNone/>
              <a:defRPr sz="1875" b="0">
                <a:solidFill>
                  <a:srgbClr val="142F40"/>
                </a:solidFill>
                <a:latin typeface="Consolas"/>
                <a:ea typeface="Consolas"/>
                <a:cs typeface="Consolas"/>
              </a:defRPr>
            </a:lvl1pPr>
            <a:lvl2pPr algn="l">
              <a:buNone/>
              <a:defRPr sz="1875" b="0">
                <a:solidFill>
                  <a:srgbClr val="142F40"/>
                </a:solidFill>
                <a:latin typeface="Consolas"/>
                <a:ea typeface="Consolas"/>
                <a:cs typeface="Consolas"/>
              </a:defRPr>
            </a:lvl2pPr>
            <a:lvl3pPr algn="l">
              <a:buNone/>
              <a:defRPr sz="1875" b="0">
                <a:solidFill>
                  <a:srgbClr val="142F40"/>
                </a:solidFill>
                <a:latin typeface="Consolas"/>
                <a:ea typeface="Consolas"/>
                <a:cs typeface="Consolas"/>
              </a:defRPr>
            </a:lvl3pPr>
            <a:lvl4pPr algn="l">
              <a:buNone/>
              <a:defRPr sz="1875" b="0">
                <a:solidFill>
                  <a:srgbClr val="142F40"/>
                </a:solidFill>
                <a:latin typeface="Consolas"/>
                <a:ea typeface="Consolas"/>
                <a:cs typeface="Consolas"/>
              </a:defRPr>
            </a:lvl4pPr>
            <a:lvl5pPr algn="l">
              <a:buNone/>
              <a:defRPr sz="1875" b="0">
                <a:solidFill>
                  <a:srgbClr val="142F40"/>
                </a:solidFill>
                <a:latin typeface="Consolas"/>
                <a:ea typeface="Consolas"/>
                <a:cs typeface="Consolas"/>
              </a:defRPr>
            </a:lvl5pPr>
            <a:lvl6pPr algn="l">
              <a:buNone/>
              <a:defRPr sz="1875" b="0">
                <a:solidFill>
                  <a:srgbClr val="142F40"/>
                </a:solidFill>
                <a:latin typeface="Consolas"/>
                <a:ea typeface="Consolas"/>
                <a:cs typeface="Consolas"/>
              </a:defRPr>
            </a:lvl6pPr>
            <a:lvl7pPr algn="l">
              <a:buNone/>
              <a:defRPr sz="1875" b="0">
                <a:solidFill>
                  <a:srgbClr val="142F40"/>
                </a:solidFill>
                <a:latin typeface="Consolas"/>
                <a:ea typeface="Consolas"/>
                <a:cs typeface="Consolas"/>
              </a:defRPr>
            </a:lvl7pPr>
            <a:lvl8pPr algn="l">
              <a:buNone/>
              <a:defRPr sz="1875" b="0">
                <a:solidFill>
                  <a:srgbClr val="142F40"/>
                </a:solidFill>
                <a:latin typeface="Consolas"/>
                <a:ea typeface="Consolas"/>
                <a:cs typeface="Consolas"/>
              </a:defRPr>
            </a:lvl8pPr>
            <a:lvl9pPr algn="l">
              <a:buNone/>
              <a:defRPr sz="1875" b="0">
                <a:solidFill>
                  <a:srgbClr val="142F40"/>
                </a:solidFill>
                <a:latin typeface="Consolas"/>
                <a:ea typeface="Consolas"/>
                <a:cs typeface="Consolas"/>
              </a:defRPr>
            </a:lvl9pPr>
          </a:lstStyle>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pool, backend = self.router.select(request.path)</a:t>
            </a:r>
          </a:p>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phase = "backend"</a:t>
            </a:r>
          </a:p>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async with asyncio.timeout(self.config.timeouts["connect"]):</a:t>
            </a:r>
          </a:p>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    backend_reader, backend_writer = await asyncio.open_connection(</a:t>
            </a:r>
          </a:p>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        backend.host, backend.port, limit=self.config.header_bytes</a:t>
            </a:r>
          </a:p>
          <a:p xmlns:a="http://schemas.openxmlformats.org/drawingml/2006/main">
            <a:pPr algn="l">
              <a:buNone/>
              <a:defRPr sz="1875" b="0">
                <a:solidFill>
                  <a:srgbClr val="142F40"/>
                </a:solidFill>
                <a:latin typeface="Consolas"/>
                <a:ea typeface="Consolas"/>
                <a:cs typeface="Consolas"/>
              </a:defRPr>
            </a:pPr>
            <a:r>
              <a:rPr sz="1875" b="0">
                <a:solidFill>
                  <a:srgbClr val="142F40"/>
                </a:solidFill>
                <a:latin typeface="Consolas"/>
                <a:ea typeface="Consolas"/>
                <a:cs typeface="Consolas"/>
              </a:rPr>
              <a:t>    )</a:t>
            </a:r>
          </a:p>
        </p:txBody>
      </p:sp>
      <p:sp>
        <p:nvSpPr>
          <p:cNvPr id="5" name="text-4">
            <a:extLst xmlns:a="http://schemas.openxmlformats.org/drawingml/2006/main">
              <a:ext uri="{FF2B5EF4-FFF2-40B4-BE49-F238E27FC236}">
                <a16:creationId xmlns:a16="http://schemas.microsoft.com/office/drawing/2014/main" id="{7A3490B3-B277-4C94-857C-3C8432768974}"/>
              </a:ext>
            </a:extLst>
          </p:cNvPr>
          <p:cNvSpPr>
            <a:spLocks xmlns:a="http://schemas.openxmlformats.org/drawingml/2006/main" noGrp="1"/>
          </p:cNvSpPr>
          <p:nvPr/>
        </p:nvSpPr>
        <p:spPr>
          <a:xfrm xmlns:a="http://schemas.openxmlformats.org/drawingml/2006/main">
            <a:off x="647700" y="46767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7B75"/>
                </a:solidFill>
                <a:latin typeface="Consolas"/>
                <a:ea typeface="Consolas"/>
                <a:cs typeface="Consolas"/>
              </a:defRPr>
            </a:defPPr>
            <a:lvl1pPr algn="l">
              <a:buNone/>
              <a:defRPr sz="2175" b="1">
                <a:solidFill>
                  <a:srgbClr val="137B75"/>
                </a:solidFill>
                <a:latin typeface="Consolas"/>
                <a:ea typeface="Consolas"/>
                <a:cs typeface="Consolas"/>
              </a:defRPr>
            </a:lvl1pPr>
            <a:lvl2pPr algn="l">
              <a:buNone/>
              <a:defRPr sz="2175" b="1">
                <a:solidFill>
                  <a:srgbClr val="137B75"/>
                </a:solidFill>
                <a:latin typeface="Consolas"/>
                <a:ea typeface="Consolas"/>
                <a:cs typeface="Consolas"/>
              </a:defRPr>
            </a:lvl2pPr>
            <a:lvl3pPr algn="l">
              <a:buNone/>
              <a:defRPr sz="2175" b="1">
                <a:solidFill>
                  <a:srgbClr val="137B75"/>
                </a:solidFill>
                <a:latin typeface="Consolas"/>
                <a:ea typeface="Consolas"/>
                <a:cs typeface="Consolas"/>
              </a:defRPr>
            </a:lvl3pPr>
            <a:lvl4pPr algn="l">
              <a:buNone/>
              <a:defRPr sz="2175" b="1">
                <a:solidFill>
                  <a:srgbClr val="137B75"/>
                </a:solidFill>
                <a:latin typeface="Consolas"/>
                <a:ea typeface="Consolas"/>
                <a:cs typeface="Consolas"/>
              </a:defRPr>
            </a:lvl4pPr>
            <a:lvl5pPr algn="l">
              <a:buNone/>
              <a:defRPr sz="2175" b="1">
                <a:solidFill>
                  <a:srgbClr val="137B75"/>
                </a:solidFill>
                <a:latin typeface="Consolas"/>
                <a:ea typeface="Consolas"/>
                <a:cs typeface="Consolas"/>
              </a:defRPr>
            </a:lvl5pPr>
            <a:lvl6pPr algn="l">
              <a:buNone/>
              <a:defRPr sz="2175" b="1">
                <a:solidFill>
                  <a:srgbClr val="137B75"/>
                </a:solidFill>
                <a:latin typeface="Consolas"/>
                <a:ea typeface="Consolas"/>
                <a:cs typeface="Consolas"/>
              </a:defRPr>
            </a:lvl6pPr>
            <a:lvl7pPr algn="l">
              <a:buNone/>
              <a:defRPr sz="2175" b="1">
                <a:solidFill>
                  <a:srgbClr val="137B75"/>
                </a:solidFill>
                <a:latin typeface="Consolas"/>
                <a:ea typeface="Consolas"/>
                <a:cs typeface="Consolas"/>
              </a:defRPr>
            </a:lvl7pPr>
            <a:lvl8pPr algn="l">
              <a:buNone/>
              <a:defRPr sz="2175" b="1">
                <a:solidFill>
                  <a:srgbClr val="137B75"/>
                </a:solidFill>
                <a:latin typeface="Consolas"/>
                <a:ea typeface="Consolas"/>
                <a:cs typeface="Consolas"/>
              </a:defRPr>
            </a:lvl8pPr>
            <a:lvl9pPr algn="l">
              <a:buNone/>
              <a:defRPr sz="2175" b="1">
                <a:solidFill>
                  <a:srgbClr val="137B75"/>
                </a:solidFill>
                <a:latin typeface="Consolas"/>
                <a:ea typeface="Consolas"/>
                <a:cs typeface="Consolas"/>
              </a:defRPr>
            </a:lvl9pPr>
          </a:lstStyle>
          <a:p xmlns:a="http://schemas.openxmlformats.org/drawingml/2006/main">
            <a:pPr algn="l">
              <a:buNone/>
              <a:defRPr sz="2175" b="1">
                <a:solidFill>
                  <a:srgbClr val="137B75"/>
                </a:solidFill>
                <a:latin typeface="Consolas"/>
                <a:ea typeface="Consolas"/>
                <a:cs typeface="Consolas"/>
              </a:defRPr>
            </a:pPr>
            <a:r>
              <a:rPr sz="2175" b="1">
                <a:solidFill>
                  <a:srgbClr val="137B75"/>
                </a:solidFill>
                <a:latin typeface="Consolas"/>
                <a:ea typeface="Consolas"/>
                <a:cs typeface="Consolas"/>
              </a:rPr>
              <a:t>select()</a:t>
            </a:r>
          </a:p>
        </p:txBody>
      </p:sp>
      <p:sp>
        <p:nvSpPr>
          <p:cNvPr id="6" name="text-5">
            <a:extLst xmlns:a="http://schemas.openxmlformats.org/drawingml/2006/main">
              <a:ext uri="{FF2B5EF4-FFF2-40B4-BE49-F238E27FC236}">
                <a16:creationId xmlns:a16="http://schemas.microsoft.com/office/drawing/2014/main" id="{7C50DBDD-7025-4770-8E8F-52164216D254}"/>
              </a:ext>
            </a:extLst>
          </p:cNvPr>
          <p:cNvSpPr>
            <a:spLocks xmlns:a="http://schemas.openxmlformats.org/drawingml/2006/main" noGrp="1"/>
          </p:cNvSpPr>
          <p:nvPr/>
        </p:nvSpPr>
        <p:spPr>
          <a:xfrm xmlns:a="http://schemas.openxmlformats.org/drawingml/2006/main">
            <a:off x="647700" y="5219700"/>
            <a:ext cx="4953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Chooses the pool/backend</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and reserves its active slot.</a:t>
            </a:r>
          </a:p>
        </p:txBody>
      </p:sp>
      <p:sp>
        <p:nvSpPr>
          <p:cNvPr id="7" name="text-6">
            <a:extLst xmlns:a="http://schemas.openxmlformats.org/drawingml/2006/main">
              <a:ext uri="{FF2B5EF4-FFF2-40B4-BE49-F238E27FC236}">
                <a16:creationId xmlns:a16="http://schemas.microsoft.com/office/drawing/2014/main" id="{391F4780-662B-484F-8ACE-192FD37136FE}"/>
              </a:ext>
            </a:extLst>
          </p:cNvPr>
          <p:cNvSpPr>
            <a:spLocks xmlns:a="http://schemas.openxmlformats.org/drawingml/2006/main" noGrp="1"/>
          </p:cNvSpPr>
          <p:nvPr/>
        </p:nvSpPr>
        <p:spPr>
          <a:xfrm xmlns:a="http://schemas.openxmlformats.org/drawingml/2006/main">
            <a:off x="6572250" y="46767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7B75"/>
                </a:solidFill>
                <a:latin typeface="Consolas"/>
                <a:ea typeface="Consolas"/>
                <a:cs typeface="Consolas"/>
              </a:defRPr>
            </a:defPPr>
            <a:lvl1pPr algn="l">
              <a:buNone/>
              <a:defRPr sz="2175" b="1">
                <a:solidFill>
                  <a:srgbClr val="137B75"/>
                </a:solidFill>
                <a:latin typeface="Consolas"/>
                <a:ea typeface="Consolas"/>
                <a:cs typeface="Consolas"/>
              </a:defRPr>
            </a:lvl1pPr>
            <a:lvl2pPr algn="l">
              <a:buNone/>
              <a:defRPr sz="2175" b="1">
                <a:solidFill>
                  <a:srgbClr val="137B75"/>
                </a:solidFill>
                <a:latin typeface="Consolas"/>
                <a:ea typeface="Consolas"/>
                <a:cs typeface="Consolas"/>
              </a:defRPr>
            </a:lvl2pPr>
            <a:lvl3pPr algn="l">
              <a:buNone/>
              <a:defRPr sz="2175" b="1">
                <a:solidFill>
                  <a:srgbClr val="137B75"/>
                </a:solidFill>
                <a:latin typeface="Consolas"/>
                <a:ea typeface="Consolas"/>
                <a:cs typeface="Consolas"/>
              </a:defRPr>
            </a:lvl3pPr>
            <a:lvl4pPr algn="l">
              <a:buNone/>
              <a:defRPr sz="2175" b="1">
                <a:solidFill>
                  <a:srgbClr val="137B75"/>
                </a:solidFill>
                <a:latin typeface="Consolas"/>
                <a:ea typeface="Consolas"/>
                <a:cs typeface="Consolas"/>
              </a:defRPr>
            </a:lvl4pPr>
            <a:lvl5pPr algn="l">
              <a:buNone/>
              <a:defRPr sz="2175" b="1">
                <a:solidFill>
                  <a:srgbClr val="137B75"/>
                </a:solidFill>
                <a:latin typeface="Consolas"/>
                <a:ea typeface="Consolas"/>
                <a:cs typeface="Consolas"/>
              </a:defRPr>
            </a:lvl5pPr>
            <a:lvl6pPr algn="l">
              <a:buNone/>
              <a:defRPr sz="2175" b="1">
                <a:solidFill>
                  <a:srgbClr val="137B75"/>
                </a:solidFill>
                <a:latin typeface="Consolas"/>
                <a:ea typeface="Consolas"/>
                <a:cs typeface="Consolas"/>
              </a:defRPr>
            </a:lvl6pPr>
            <a:lvl7pPr algn="l">
              <a:buNone/>
              <a:defRPr sz="2175" b="1">
                <a:solidFill>
                  <a:srgbClr val="137B75"/>
                </a:solidFill>
                <a:latin typeface="Consolas"/>
                <a:ea typeface="Consolas"/>
                <a:cs typeface="Consolas"/>
              </a:defRPr>
            </a:lvl7pPr>
            <a:lvl8pPr algn="l">
              <a:buNone/>
              <a:defRPr sz="2175" b="1">
                <a:solidFill>
                  <a:srgbClr val="137B75"/>
                </a:solidFill>
                <a:latin typeface="Consolas"/>
                <a:ea typeface="Consolas"/>
                <a:cs typeface="Consolas"/>
              </a:defRPr>
            </a:lvl8pPr>
            <a:lvl9pPr algn="l">
              <a:buNone/>
              <a:defRPr sz="2175" b="1">
                <a:solidFill>
                  <a:srgbClr val="137B75"/>
                </a:solidFill>
                <a:latin typeface="Consolas"/>
                <a:ea typeface="Consolas"/>
                <a:cs typeface="Consolas"/>
              </a:defRPr>
            </a:lvl9pPr>
          </a:lstStyle>
          <a:p xmlns:a="http://schemas.openxmlformats.org/drawingml/2006/main">
            <a:pPr algn="l">
              <a:buNone/>
              <a:defRPr sz="2175" b="1">
                <a:solidFill>
                  <a:srgbClr val="137B75"/>
                </a:solidFill>
                <a:latin typeface="Consolas"/>
                <a:ea typeface="Consolas"/>
                <a:cs typeface="Consolas"/>
              </a:defRPr>
            </a:pPr>
            <a:r>
              <a:rPr sz="2175" b="1">
                <a:solidFill>
                  <a:srgbClr val="137B75"/>
                </a:solidFill>
                <a:latin typeface="Consolas"/>
                <a:ea typeface="Consolas"/>
                <a:cs typeface="Consolas"/>
              </a:rPr>
              <a:t>await + timeout</a:t>
            </a:r>
          </a:p>
        </p:txBody>
      </p:sp>
      <p:sp>
        <p:nvSpPr>
          <p:cNvPr id="8" name="text-7">
            <a:extLst xmlns:a="http://schemas.openxmlformats.org/drawingml/2006/main">
              <a:ext uri="{FF2B5EF4-FFF2-40B4-BE49-F238E27FC236}">
                <a16:creationId xmlns:a16="http://schemas.microsoft.com/office/drawing/2014/main" id="{85DB0AB9-B5DB-4C84-B1D2-84A6CF81D1FD}"/>
              </a:ext>
            </a:extLst>
          </p:cNvPr>
          <p:cNvSpPr>
            <a:spLocks xmlns:a="http://schemas.openxmlformats.org/drawingml/2006/main" noGrp="1"/>
          </p:cNvSpPr>
          <p:nvPr/>
        </p:nvSpPr>
        <p:spPr>
          <a:xfrm xmlns:a="http://schemas.openxmlformats.org/drawingml/2006/main">
            <a:off x="6572250" y="521970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40"/>
                </a:solidFill>
                <a:latin typeface="Arial"/>
                <a:ea typeface="Arial"/>
                <a:cs typeface="Arial"/>
              </a:defRPr>
            </a:defPPr>
            <a:lvl1pPr algn="l">
              <a:buNone/>
              <a:defRPr sz="1950" b="0">
                <a:solidFill>
                  <a:srgbClr val="142F40"/>
                </a:solidFill>
                <a:latin typeface="Arial"/>
                <a:ea typeface="Arial"/>
                <a:cs typeface="Arial"/>
              </a:defRPr>
            </a:lvl1pPr>
            <a:lvl2pPr algn="l">
              <a:buNone/>
              <a:defRPr sz="1950" b="0">
                <a:solidFill>
                  <a:srgbClr val="142F40"/>
                </a:solidFill>
                <a:latin typeface="Arial"/>
                <a:ea typeface="Arial"/>
                <a:cs typeface="Arial"/>
              </a:defRPr>
            </a:lvl2pPr>
            <a:lvl3pPr algn="l">
              <a:buNone/>
              <a:defRPr sz="1950" b="0">
                <a:solidFill>
                  <a:srgbClr val="142F40"/>
                </a:solidFill>
                <a:latin typeface="Arial"/>
                <a:ea typeface="Arial"/>
                <a:cs typeface="Arial"/>
              </a:defRPr>
            </a:lvl3pPr>
            <a:lvl4pPr algn="l">
              <a:buNone/>
              <a:defRPr sz="1950" b="0">
                <a:solidFill>
                  <a:srgbClr val="142F40"/>
                </a:solidFill>
                <a:latin typeface="Arial"/>
                <a:ea typeface="Arial"/>
                <a:cs typeface="Arial"/>
              </a:defRPr>
            </a:lvl4pPr>
            <a:lvl5pPr algn="l">
              <a:buNone/>
              <a:defRPr sz="1950" b="0">
                <a:solidFill>
                  <a:srgbClr val="142F40"/>
                </a:solidFill>
                <a:latin typeface="Arial"/>
                <a:ea typeface="Arial"/>
                <a:cs typeface="Arial"/>
              </a:defRPr>
            </a:lvl5pPr>
            <a:lvl6pPr algn="l">
              <a:buNone/>
              <a:defRPr sz="1950" b="0">
                <a:solidFill>
                  <a:srgbClr val="142F40"/>
                </a:solidFill>
                <a:latin typeface="Arial"/>
                <a:ea typeface="Arial"/>
                <a:cs typeface="Arial"/>
              </a:defRPr>
            </a:lvl6pPr>
            <a:lvl7pPr algn="l">
              <a:buNone/>
              <a:defRPr sz="1950" b="0">
                <a:solidFill>
                  <a:srgbClr val="142F40"/>
                </a:solidFill>
                <a:latin typeface="Arial"/>
                <a:ea typeface="Arial"/>
                <a:cs typeface="Arial"/>
              </a:defRPr>
            </a:lvl7pPr>
            <a:lvl8pPr algn="l">
              <a:buNone/>
              <a:defRPr sz="1950" b="0">
                <a:solidFill>
                  <a:srgbClr val="142F40"/>
                </a:solidFill>
                <a:latin typeface="Arial"/>
                <a:ea typeface="Arial"/>
                <a:cs typeface="Arial"/>
              </a:defRPr>
            </a:lvl8pPr>
            <a:lvl9pPr algn="l">
              <a:buNone/>
              <a:defRPr sz="1950" b="0">
                <a:solidFill>
                  <a:srgbClr val="142F40"/>
                </a:solidFill>
                <a:latin typeface="Arial"/>
                <a:ea typeface="Arial"/>
                <a:cs typeface="Arial"/>
              </a:defRPr>
            </a:lvl9pPr>
          </a:lstStyle>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Allows other tasks to progress;</a:t>
            </a:r>
          </a:p>
          <a:p xmlns:a="http://schemas.openxmlformats.org/drawingml/2006/main">
            <a:pPr algn="l">
              <a:buNone/>
              <a:defRPr sz="1950" b="0">
                <a:solidFill>
                  <a:srgbClr val="142F40"/>
                </a:solidFill>
                <a:latin typeface="Arial"/>
                <a:ea typeface="Arial"/>
                <a:cs typeface="Arial"/>
              </a:defRPr>
            </a:pPr>
            <a:r>
              <a:rPr sz="1950" b="0">
                <a:solidFill>
                  <a:srgbClr val="142F40"/>
                </a:solidFill>
                <a:latin typeface="Arial"/>
                <a:ea typeface="Arial"/>
                <a:cs typeface="Arial"/>
              </a:rPr>
              <a:t>bounds the connection wait.</a:t>
            </a:r>
          </a:p>
        </p:txBody>
      </p:sp>
    </p:spTree>
    <p:extLst>
      <p:ext uri="{BB962C8B-B14F-4D97-AF65-F5344CB8AC3E}">
        <p14:creationId xmlns:p14="http://schemas.microsoft.com/office/powerpoint/2010/main" val="958344232"/>
      </p:ext>
    </p:extLst>
  </p:cSld>
</p:sld>
</file>

<file path=ppt/slides/slide1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878AB99-2367-4C9F-9DAE-18A0E07C8B86}"/>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F40"/>
                </a:solidFill>
                <a:latin typeface="Arial"/>
                <a:ea typeface="Arial"/>
                <a:cs typeface="Arial"/>
              </a:defRPr>
            </a:defPPr>
            <a:lvl1pPr algn="l">
              <a:buNone/>
              <a:defRPr sz="3300" b="1">
                <a:solidFill>
                  <a:srgbClr val="142F40"/>
                </a:solidFill>
                <a:latin typeface="Arial"/>
                <a:ea typeface="Arial"/>
                <a:cs typeface="Arial"/>
              </a:defRPr>
            </a:lvl1pPr>
            <a:lvl2pPr algn="l">
              <a:buNone/>
              <a:defRPr sz="3300" b="1">
                <a:solidFill>
                  <a:srgbClr val="142F40"/>
                </a:solidFill>
                <a:latin typeface="Arial"/>
                <a:ea typeface="Arial"/>
                <a:cs typeface="Arial"/>
              </a:defRPr>
            </a:lvl2pPr>
            <a:lvl3pPr algn="l">
              <a:buNone/>
              <a:defRPr sz="3300" b="1">
                <a:solidFill>
                  <a:srgbClr val="142F40"/>
                </a:solidFill>
                <a:latin typeface="Arial"/>
                <a:ea typeface="Arial"/>
                <a:cs typeface="Arial"/>
              </a:defRPr>
            </a:lvl3pPr>
            <a:lvl4pPr algn="l">
              <a:buNone/>
              <a:defRPr sz="3300" b="1">
                <a:solidFill>
                  <a:srgbClr val="142F40"/>
                </a:solidFill>
                <a:latin typeface="Arial"/>
                <a:ea typeface="Arial"/>
                <a:cs typeface="Arial"/>
              </a:defRPr>
            </a:lvl4pPr>
            <a:lvl5pPr algn="l">
              <a:buNone/>
              <a:defRPr sz="3300" b="1">
                <a:solidFill>
                  <a:srgbClr val="142F40"/>
                </a:solidFill>
                <a:latin typeface="Arial"/>
                <a:ea typeface="Arial"/>
                <a:cs typeface="Arial"/>
              </a:defRPr>
            </a:lvl5pPr>
            <a:lvl6pPr algn="l">
              <a:buNone/>
              <a:defRPr sz="3300" b="1">
                <a:solidFill>
                  <a:srgbClr val="142F40"/>
                </a:solidFill>
                <a:latin typeface="Arial"/>
                <a:ea typeface="Arial"/>
                <a:cs typeface="Arial"/>
              </a:defRPr>
            </a:lvl6pPr>
            <a:lvl7pPr algn="l">
              <a:buNone/>
              <a:defRPr sz="3300" b="1">
                <a:solidFill>
                  <a:srgbClr val="142F40"/>
                </a:solidFill>
                <a:latin typeface="Arial"/>
                <a:ea typeface="Arial"/>
                <a:cs typeface="Arial"/>
              </a:defRPr>
            </a:lvl7pPr>
            <a:lvl8pPr algn="l">
              <a:buNone/>
              <a:defRPr sz="3300" b="1">
                <a:solidFill>
                  <a:srgbClr val="142F40"/>
                </a:solidFill>
                <a:latin typeface="Arial"/>
                <a:ea typeface="Arial"/>
                <a:cs typeface="Arial"/>
              </a:defRPr>
            </a:lvl8pPr>
            <a:lvl9pPr algn="l">
              <a:buNone/>
              <a:defRPr sz="3300" b="1">
                <a:solidFill>
                  <a:srgbClr val="142F40"/>
                </a:solidFill>
                <a:latin typeface="Arial"/>
                <a:ea typeface="Arial"/>
                <a:cs typeface="Arial"/>
              </a:defRPr>
            </a:lvl9pPr>
          </a:lstStyle>
          <a:p xmlns:a="http://schemas.openxmlformats.org/drawingml/2006/main">
            <a:pPr algn="l">
              <a:buNone/>
              <a:defRPr sz="3300" b="1">
                <a:solidFill>
                  <a:srgbClr val="142F40"/>
                </a:solidFill>
                <a:latin typeface="Arial"/>
                <a:ea typeface="Arial"/>
                <a:cs typeface="Arial"/>
              </a:defRPr>
            </a:pPr>
            <a:r>
              <a:rPr sz="3300" b="1">
                <a:solidFill>
                  <a:srgbClr val="142F40"/>
                </a:solidFill>
                <a:latin typeface="Arial"/>
                <a:ea typeface="Arial"/>
                <a:cs typeface="Arial"/>
              </a:rPr>
              <a:t>Review questions</a:t>
            </a:r>
          </a:p>
        </p:txBody>
      </p:sp>
      <p:sp>
        <p:nvSpPr>
          <p:cNvPr id="2" name="text-1">
            <a:extLst xmlns:a="http://schemas.openxmlformats.org/drawingml/2006/main">
              <a:ext uri="{FF2B5EF4-FFF2-40B4-BE49-F238E27FC236}">
                <a16:creationId xmlns:a16="http://schemas.microsoft.com/office/drawing/2014/main" id="{8ED9100B-7CBA-4656-8E7E-DF1B95774899}"/>
              </a:ext>
            </a:extLst>
          </p:cNvPr>
          <p:cNvSpPr>
            <a:spLocks xmlns:a="http://schemas.openxmlformats.org/drawingml/2006/main" noGrp="1"/>
          </p:cNvSpPr>
          <p:nvPr/>
        </p:nvSpPr>
        <p:spPr>
          <a:xfrm xmlns:a="http://schemas.openxmlformats.org/drawingml/2006/main">
            <a:off x="628650" y="114300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673"/>
                </a:solidFill>
                <a:latin typeface="Arial"/>
                <a:ea typeface="Arial"/>
                <a:cs typeface="Arial"/>
              </a:defRPr>
            </a:defPPr>
            <a:lvl1pPr algn="l">
              <a:buNone/>
              <a:defRPr sz="1800" b="0">
                <a:solidFill>
                  <a:srgbClr val="546673"/>
                </a:solidFill>
                <a:latin typeface="Arial"/>
                <a:ea typeface="Arial"/>
                <a:cs typeface="Arial"/>
              </a:defRPr>
            </a:lvl1pPr>
            <a:lvl2pPr algn="l">
              <a:buNone/>
              <a:defRPr sz="1800" b="0">
                <a:solidFill>
                  <a:srgbClr val="546673"/>
                </a:solidFill>
                <a:latin typeface="Arial"/>
                <a:ea typeface="Arial"/>
                <a:cs typeface="Arial"/>
              </a:defRPr>
            </a:lvl2pPr>
            <a:lvl3pPr algn="l">
              <a:buNone/>
              <a:defRPr sz="1800" b="0">
                <a:solidFill>
                  <a:srgbClr val="546673"/>
                </a:solidFill>
                <a:latin typeface="Arial"/>
                <a:ea typeface="Arial"/>
                <a:cs typeface="Arial"/>
              </a:defRPr>
            </a:lvl3pPr>
            <a:lvl4pPr algn="l">
              <a:buNone/>
              <a:defRPr sz="1800" b="0">
                <a:solidFill>
                  <a:srgbClr val="546673"/>
                </a:solidFill>
                <a:latin typeface="Arial"/>
                <a:ea typeface="Arial"/>
                <a:cs typeface="Arial"/>
              </a:defRPr>
            </a:lvl4pPr>
            <a:lvl5pPr algn="l">
              <a:buNone/>
              <a:defRPr sz="1800" b="0">
                <a:solidFill>
                  <a:srgbClr val="546673"/>
                </a:solidFill>
                <a:latin typeface="Arial"/>
                <a:ea typeface="Arial"/>
                <a:cs typeface="Arial"/>
              </a:defRPr>
            </a:lvl5pPr>
            <a:lvl6pPr algn="l">
              <a:buNone/>
              <a:defRPr sz="1800" b="0">
                <a:solidFill>
                  <a:srgbClr val="546673"/>
                </a:solidFill>
                <a:latin typeface="Arial"/>
                <a:ea typeface="Arial"/>
                <a:cs typeface="Arial"/>
              </a:defRPr>
            </a:lvl6pPr>
            <a:lvl7pPr algn="l">
              <a:buNone/>
              <a:defRPr sz="1800" b="0">
                <a:solidFill>
                  <a:srgbClr val="546673"/>
                </a:solidFill>
                <a:latin typeface="Arial"/>
                <a:ea typeface="Arial"/>
                <a:cs typeface="Arial"/>
              </a:defRPr>
            </a:lvl7pPr>
            <a:lvl8pPr algn="l">
              <a:buNone/>
              <a:defRPr sz="1800" b="0">
                <a:solidFill>
                  <a:srgbClr val="546673"/>
                </a:solidFill>
                <a:latin typeface="Arial"/>
                <a:ea typeface="Arial"/>
                <a:cs typeface="Arial"/>
              </a:defRPr>
            </a:lvl8pPr>
            <a:lvl9pPr algn="l">
              <a:buNone/>
              <a:defRPr sz="1800" b="0">
                <a:solidFill>
                  <a:srgbClr val="546673"/>
                </a:solidFill>
                <a:latin typeface="Arial"/>
                <a:ea typeface="Arial"/>
                <a:cs typeface="Arial"/>
              </a:defRPr>
            </a:lvl9pPr>
          </a:lstStyle>
          <a:p xmlns:a="http://schemas.openxmlformats.org/drawingml/2006/main">
            <a:pPr algn="l">
              <a:buNone/>
              <a:defRPr sz="1800" b="0">
                <a:solidFill>
                  <a:srgbClr val="546673"/>
                </a:solidFill>
                <a:latin typeface="Arial"/>
                <a:ea typeface="Arial"/>
                <a:cs typeface="Arial"/>
              </a:defRPr>
            </a:pPr>
            <a:r>
              <a:rPr sz="1800" b="0">
                <a:solidFill>
                  <a:srgbClr val="546673"/>
                </a:solidFill>
                <a:latin typeface="Arial"/>
                <a:ea typeface="Arial"/>
                <a:cs typeface="Arial"/>
              </a:rPr>
              <a:t>Backup slide · short answers to expand verbally</a:t>
            </a:r>
          </a:p>
        </p:txBody>
      </p:sp>
      <p:sp>
        <p:nvSpPr>
          <p:cNvPr id="3" name="text-2">
            <a:extLst xmlns:a="http://schemas.openxmlformats.org/drawingml/2006/main">
              <a:ext uri="{FF2B5EF4-FFF2-40B4-BE49-F238E27FC236}">
                <a16:creationId xmlns:a16="http://schemas.microsoft.com/office/drawing/2014/main" id="{84200296-5E65-4B94-9550-372994AB0EDD}"/>
              </a:ext>
            </a:extLst>
          </p:cNvPr>
          <p:cNvSpPr>
            <a:spLocks xmlns:a="http://schemas.openxmlformats.org/drawingml/2006/main" noGrp="1"/>
          </p:cNvSpPr>
          <p:nvPr/>
        </p:nvSpPr>
        <p:spPr>
          <a:xfrm xmlns:a="http://schemas.openxmlformats.org/drawingml/2006/main">
            <a:off x="11049000" y="63817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46673"/>
                </a:solidFill>
                <a:latin typeface="Arial"/>
                <a:ea typeface="Arial"/>
                <a:cs typeface="Arial"/>
              </a:defRPr>
            </a:defPPr>
            <a:lvl1pPr algn="r">
              <a:buNone/>
              <a:defRPr sz="1200" b="0">
                <a:solidFill>
                  <a:srgbClr val="546673"/>
                </a:solidFill>
                <a:latin typeface="Arial"/>
                <a:ea typeface="Arial"/>
                <a:cs typeface="Arial"/>
              </a:defRPr>
            </a:lvl1pPr>
            <a:lvl2pPr algn="r">
              <a:buNone/>
              <a:defRPr sz="1200" b="0">
                <a:solidFill>
                  <a:srgbClr val="546673"/>
                </a:solidFill>
                <a:latin typeface="Arial"/>
                <a:ea typeface="Arial"/>
                <a:cs typeface="Arial"/>
              </a:defRPr>
            </a:lvl2pPr>
            <a:lvl3pPr algn="r">
              <a:buNone/>
              <a:defRPr sz="1200" b="0">
                <a:solidFill>
                  <a:srgbClr val="546673"/>
                </a:solidFill>
                <a:latin typeface="Arial"/>
                <a:ea typeface="Arial"/>
                <a:cs typeface="Arial"/>
              </a:defRPr>
            </a:lvl3pPr>
            <a:lvl4pPr algn="r">
              <a:buNone/>
              <a:defRPr sz="1200" b="0">
                <a:solidFill>
                  <a:srgbClr val="546673"/>
                </a:solidFill>
                <a:latin typeface="Arial"/>
                <a:ea typeface="Arial"/>
                <a:cs typeface="Arial"/>
              </a:defRPr>
            </a:lvl4pPr>
            <a:lvl5pPr algn="r">
              <a:buNone/>
              <a:defRPr sz="1200" b="0">
                <a:solidFill>
                  <a:srgbClr val="546673"/>
                </a:solidFill>
                <a:latin typeface="Arial"/>
                <a:ea typeface="Arial"/>
                <a:cs typeface="Arial"/>
              </a:defRPr>
            </a:lvl5pPr>
            <a:lvl6pPr algn="r">
              <a:buNone/>
              <a:defRPr sz="1200" b="0">
                <a:solidFill>
                  <a:srgbClr val="546673"/>
                </a:solidFill>
                <a:latin typeface="Arial"/>
                <a:ea typeface="Arial"/>
                <a:cs typeface="Arial"/>
              </a:defRPr>
            </a:lvl6pPr>
            <a:lvl7pPr algn="r">
              <a:buNone/>
              <a:defRPr sz="1200" b="0">
                <a:solidFill>
                  <a:srgbClr val="546673"/>
                </a:solidFill>
                <a:latin typeface="Arial"/>
                <a:ea typeface="Arial"/>
                <a:cs typeface="Arial"/>
              </a:defRPr>
            </a:lvl7pPr>
            <a:lvl8pPr algn="r">
              <a:buNone/>
              <a:defRPr sz="1200" b="0">
                <a:solidFill>
                  <a:srgbClr val="546673"/>
                </a:solidFill>
                <a:latin typeface="Arial"/>
                <a:ea typeface="Arial"/>
                <a:cs typeface="Arial"/>
              </a:defRPr>
            </a:lvl8pPr>
            <a:lvl9pPr algn="r">
              <a:buNone/>
              <a:defRPr sz="1200" b="0">
                <a:solidFill>
                  <a:srgbClr val="546673"/>
                </a:solidFill>
                <a:latin typeface="Arial"/>
                <a:ea typeface="Arial"/>
                <a:cs typeface="Arial"/>
              </a:defRPr>
            </a:lvl9pPr>
          </a:lstStyle>
          <a:p xmlns:a="http://schemas.openxmlformats.org/drawingml/2006/main">
            <a:pPr algn="r">
              <a:buNone/>
              <a:defRPr sz="1200" b="0">
                <a:solidFill>
                  <a:srgbClr val="546673"/>
                </a:solidFill>
                <a:latin typeface="Arial"/>
                <a:ea typeface="Arial"/>
                <a:cs typeface="Arial"/>
              </a:defRPr>
            </a:pPr>
            <a:r>
              <a:rPr sz="1200" b="0">
                <a:solidFill>
                  <a:srgbClr val="546673"/>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B89E9F1B-E41F-41A0-BBB3-8144C4D6AB3B}"/>
              </a:ext>
            </a:extLst>
          </p:cNvPr>
          <p:cNvGraphicFramePr/>
          <p:nvPr/>
        </p:nvGraphicFramePr>
        <p:xfrm>
          <a:off xmlns:a="http://schemas.openxmlformats.org/drawingml/2006/main" x="647700" y="1809750"/>
          <a:ext xmlns:a="http://schemas.openxmlformats.org/drawingml/2006/main" cx="10896600" cy="4000500"/>
        </p:xfrm>
        <a:graphic xmlns:a="http://schemas.openxmlformats.org/drawingml/2006/main">
          <a:graphicData uri="http://schemas.openxmlformats.org/drawingml/2006/table">
            <a:tbl>
              <a:tblPr firstRow="0" bandRow="0"/>
              <a:tblGrid>
                <a:gridCol w="4572000"/>
                <a:gridCol w="6324600"/>
              </a:tblGrid>
              <a:tr h="533400">
                <a:tc>
                  <a:txBody>
                    <a:bodyPr/>
                    <a:lstStyle/>
                    <a:p>
                      <a:r>
                        <a:rPr sz="1800" b="1">
                          <a:solidFill>
                            <a:srgbClr val="142F40"/>
                          </a:solidFill>
                          <a:latin typeface="Arial"/>
                          <a:ea typeface="Arial"/>
                          <a:cs typeface="Arial"/>
                        </a:rPr>
                        <a:t>Question</a:t>
                      </a:r>
                    </a:p>
                  </a:txBody>
                  <a:tcPr marL="152400" marR="133350" marT="133350" marB="114300" anchor="ctr">
                    <a:lnL w="6668">
                      <a:solidFill>
                        <a:srgbClr val="D7E2E6"/>
                      </a:solidFill>
                      <a:prstDash val="solid"/>
                    </a:lnL>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c>
                  <a:txBody>
                    <a:bodyPr/>
                    <a:lstStyle/>
                    <a:p>
                      <a:r>
                        <a:rPr sz="1800" b="1">
                          <a:solidFill>
                            <a:srgbClr val="142F40"/>
                          </a:solidFill>
                          <a:latin typeface="Arial"/>
                          <a:ea typeface="Arial"/>
                          <a:cs typeface="Arial"/>
                        </a:rPr>
                        <a:t>Answer</a:t>
                      </a:r>
                    </a:p>
                  </a:txBody>
                  <a:tcPr marL="152400" marR="133350" marT="133350" marB="114300" anchor="ctr">
                    <a:lnR w="6668">
                      <a:solidFill>
                        <a:srgbClr val="D7E2E6"/>
                      </a:solidFill>
                      <a:prstDash val="solid"/>
                    </a:lnR>
                    <a:lnT w="6668">
                      <a:solidFill>
                        <a:srgbClr val="D7E2E6"/>
                      </a:solidFill>
                      <a:prstDash val="solid"/>
                    </a:lnT>
                    <a:lnB w="6668">
                      <a:solidFill>
                        <a:srgbClr val="D7E2E6"/>
                      </a:solidFill>
                      <a:prstDash val="solid"/>
                    </a:lnB>
                    <a:solidFill>
                      <a:srgbClr val="FFFFFF"/>
                    </a:solidFill>
                  </a:tcPr>
                </a:tc>
              </a:tr>
              <a:tr h="866775">
                <a:tc>
                  <a:txBody>
                    <a:bodyPr/>
                    <a:lstStyle/>
                    <a:p>
                      <a:r>
                        <a:rPr sz="1875" b="0">
                          <a:solidFill>
                            <a:srgbClr val="142F40"/>
                          </a:solidFill>
                          <a:latin typeface="Arial"/>
                          <a:ea typeface="Arial"/>
                          <a:cs typeface="Arial"/>
                        </a:rPr>
                        <a:t>Why is this Layer 7?</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Selection uses the parsed HTTP path,</a:t>
                      </a:r>
                    </a:p>
                    <a:p>
                      <a:r>
                        <a:rPr sz="1875" b="0">
                          <a:solidFill>
                            <a:srgbClr val="142F40"/>
                          </a:solidFill>
                          <a:latin typeface="Arial"/>
                          <a:ea typeface="Arial"/>
                          <a:cs typeface="Arial"/>
                        </a:rPr>
                        <a:t>which belongs to the application layer.</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866775">
                <a:tc>
                  <a:txBody>
                    <a:bodyPr/>
                    <a:lstStyle/>
                    <a:p>
                      <a:r>
                        <a:rPr sz="1875" b="0">
                          <a:solidFill>
                            <a:srgbClr val="142F40"/>
                          </a:solidFill>
                          <a:latin typeface="Arial"/>
                          <a:ea typeface="Arial"/>
                          <a:cs typeface="Arial"/>
                        </a:rPr>
                        <a:t>Why can a busy server remain healthy?</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Active requests measure workload;</a:t>
                      </a:r>
                    </a:p>
                    <a:p>
                      <a:r>
                        <a:rPr sz="1875" b="0">
                          <a:solidFill>
                            <a:srgbClr val="142F40"/>
                          </a:solidFill>
                          <a:latin typeface="Arial"/>
                          <a:ea typeface="Arial"/>
                          <a:cs typeface="Arial"/>
                        </a:rPr>
                        <a:t>/health checks whether the probe succeeds.</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866775">
                <a:tc>
                  <a:txBody>
                    <a:bodyPr/>
                    <a:lstStyle/>
                    <a:p>
                      <a:r>
                        <a:rPr sz="1875" b="0">
                          <a:solidFill>
                            <a:srgbClr val="142F40"/>
                          </a:solidFill>
                          <a:latin typeface="Arial"/>
                          <a:ea typeface="Arial"/>
                          <a:cs typeface="Arial"/>
                        </a:rPr>
                        <a:t>Why not retry every failed request?</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The backend may already have acted.</a:t>
                      </a:r>
                    </a:p>
                    <a:p>
                      <a:r>
                        <a:rPr sz="1875" b="0">
                          <a:solidFill>
                            <a:srgbClr val="142F40"/>
                          </a:solidFill>
                          <a:latin typeface="Arial"/>
                          <a:ea typeface="Arial"/>
                          <a:cs typeface="Arial"/>
                        </a:rPr>
                        <a:t>Replaying a POST can duplicate the action.</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r h="866775">
                <a:tc>
                  <a:txBody>
                    <a:bodyPr/>
                    <a:lstStyle/>
                    <a:p>
                      <a:r>
                        <a:rPr sz="1875" b="0">
                          <a:solidFill>
                            <a:srgbClr val="142F40"/>
                          </a:solidFill>
                          <a:latin typeface="Arial"/>
                          <a:ea typeface="Arial"/>
                          <a:cs typeface="Arial"/>
                        </a:rPr>
                        <a:t>What if all backends are down?</a:t>
                      </a:r>
                    </a:p>
                  </a:txBody>
                  <a:tcPr marL="152400" marR="133350" marT="133350" marB="114300" anchor="ctr">
                    <a:lnL w="6668">
                      <a:solidFill>
                        <a:srgbClr val="D7E2E6"/>
                      </a:solidFill>
                      <a:prstDash val="solid"/>
                    </a:lnL>
                    <a:lnR w="6668">
                      <a:solidFill>
                        <a:srgbClr val="D7E2E6"/>
                      </a:solidFill>
                      <a:prstDash val="solid"/>
                    </a:lnR>
                    <a:lnB w="6668">
                      <a:solidFill>
                        <a:srgbClr val="D7E2E6"/>
                      </a:solidFill>
                      <a:prstDash val="solid"/>
                    </a:lnB>
                    <a:solidFill>
                      <a:srgbClr val="FFFFFF"/>
                    </a:solidFill>
                  </a:tcPr>
                </a:tc>
                <a:tc>
                  <a:txBody>
                    <a:bodyPr/>
                    <a:lstStyle/>
                    <a:p>
                      <a:r>
                        <a:rPr sz="1875" b="0">
                          <a:solidFill>
                            <a:srgbClr val="142F40"/>
                          </a:solidFill>
                          <a:latin typeface="Arial"/>
                          <a:ea typeface="Arial"/>
                          <a:cs typeface="Arial"/>
                        </a:rPr>
                        <a:t>Application traffic gets 503.</a:t>
                      </a:r>
                    </a:p>
                    <a:p>
                      <a:r>
                        <a:rPr sz="1875" b="0">
                          <a:solidFill>
                            <a:srgbClr val="142F40"/>
                          </a:solidFill>
                          <a:latin typeface="Arial"/>
                          <a:ea typeface="Arial"/>
                          <a:cs typeface="Arial"/>
                        </a:rPr>
                        <a:t>The balancer still serves /stats.</a:t>
                      </a:r>
                    </a:p>
                  </a:txBody>
                  <a:tcPr marL="152400" marR="133350" marT="133350" marB="114300" anchor="ctr">
                    <a:lnR w="6668">
                      <a:solidFill>
                        <a:srgbClr val="D7E2E6"/>
                      </a:solidFill>
                      <a:prstDash val="solid"/>
                    </a:lnR>
                    <a:lnB w="6668">
                      <a:solidFill>
                        <a:srgbClr val="D7E2E6"/>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E99AE345-8937-4BAE-A936-41EE8CCEC5B5}"/>
              </a:ext>
            </a:extLst>
          </p:cNvPr>
          <p:cNvSpPr>
            <a:spLocks xmlns:a="http://schemas.openxmlformats.org/drawingml/2006/main" noGrp="1"/>
          </p:cNvSpPr>
          <p:nvPr/>
        </p:nvSpPr>
        <p:spPr>
          <a:xfrm xmlns:a="http://schemas.openxmlformats.org/drawingml/2006/main">
            <a:off x="647700" y="60769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37B75"/>
                </a:solidFill>
                <a:latin typeface="Arial"/>
                <a:ea typeface="Arial"/>
                <a:cs typeface="Arial"/>
              </a:defRPr>
            </a:defPPr>
            <a:lvl1pPr algn="l">
              <a:buNone/>
              <a:defRPr sz="1725" b="1">
                <a:solidFill>
                  <a:srgbClr val="137B75"/>
                </a:solidFill>
                <a:latin typeface="Arial"/>
                <a:ea typeface="Arial"/>
                <a:cs typeface="Arial"/>
              </a:defRPr>
            </a:lvl1pPr>
            <a:lvl2pPr algn="l">
              <a:buNone/>
              <a:defRPr sz="1725" b="1">
                <a:solidFill>
                  <a:srgbClr val="137B75"/>
                </a:solidFill>
                <a:latin typeface="Arial"/>
                <a:ea typeface="Arial"/>
                <a:cs typeface="Arial"/>
              </a:defRPr>
            </a:lvl2pPr>
            <a:lvl3pPr algn="l">
              <a:buNone/>
              <a:defRPr sz="1725" b="1">
                <a:solidFill>
                  <a:srgbClr val="137B75"/>
                </a:solidFill>
                <a:latin typeface="Arial"/>
                <a:ea typeface="Arial"/>
                <a:cs typeface="Arial"/>
              </a:defRPr>
            </a:lvl3pPr>
            <a:lvl4pPr algn="l">
              <a:buNone/>
              <a:defRPr sz="1725" b="1">
                <a:solidFill>
                  <a:srgbClr val="137B75"/>
                </a:solidFill>
                <a:latin typeface="Arial"/>
                <a:ea typeface="Arial"/>
                <a:cs typeface="Arial"/>
              </a:defRPr>
            </a:lvl4pPr>
            <a:lvl5pPr algn="l">
              <a:buNone/>
              <a:defRPr sz="1725" b="1">
                <a:solidFill>
                  <a:srgbClr val="137B75"/>
                </a:solidFill>
                <a:latin typeface="Arial"/>
                <a:ea typeface="Arial"/>
                <a:cs typeface="Arial"/>
              </a:defRPr>
            </a:lvl5pPr>
            <a:lvl6pPr algn="l">
              <a:buNone/>
              <a:defRPr sz="1725" b="1">
                <a:solidFill>
                  <a:srgbClr val="137B75"/>
                </a:solidFill>
                <a:latin typeface="Arial"/>
                <a:ea typeface="Arial"/>
                <a:cs typeface="Arial"/>
              </a:defRPr>
            </a:lvl6pPr>
            <a:lvl7pPr algn="l">
              <a:buNone/>
              <a:defRPr sz="1725" b="1">
                <a:solidFill>
                  <a:srgbClr val="137B75"/>
                </a:solidFill>
                <a:latin typeface="Arial"/>
                <a:ea typeface="Arial"/>
                <a:cs typeface="Arial"/>
              </a:defRPr>
            </a:lvl7pPr>
            <a:lvl8pPr algn="l">
              <a:buNone/>
              <a:defRPr sz="1725" b="1">
                <a:solidFill>
                  <a:srgbClr val="137B75"/>
                </a:solidFill>
                <a:latin typeface="Arial"/>
                <a:ea typeface="Arial"/>
                <a:cs typeface="Arial"/>
              </a:defRPr>
            </a:lvl8pPr>
            <a:lvl9pPr algn="l">
              <a:buNone/>
              <a:defRPr sz="1725" b="1">
                <a:solidFill>
                  <a:srgbClr val="137B75"/>
                </a:solidFill>
                <a:latin typeface="Arial"/>
                <a:ea typeface="Arial"/>
                <a:cs typeface="Arial"/>
              </a:defRPr>
            </a:lvl9pPr>
          </a:lstStyle>
          <a:p xmlns:a="http://schemas.openxmlformats.org/drawingml/2006/main">
            <a:pPr algn="l">
              <a:buNone/>
              <a:defRPr sz="1725" b="1">
                <a:solidFill>
                  <a:srgbClr val="137B75"/>
                </a:solidFill>
                <a:latin typeface="Arial"/>
                <a:ea typeface="Arial"/>
                <a:cs typeface="Arial"/>
              </a:defRPr>
            </a:pPr>
            <a:r>
              <a:rPr sz="1725" b="1">
                <a:solidFill>
                  <a:srgbClr val="137B75"/>
                </a:solidFill>
                <a:latin typeface="Arial"/>
                <a:ea typeface="Arial"/>
                <a:cs typeface="Arial"/>
              </a:rPr>
              <a:t>If asked about “smart”: selection uses rules and live state; no machine learning.</a:t>
            </a:r>
          </a:p>
        </p:txBody>
      </p:sp>
    </p:spTree>
    <p:extLst>
      <p:ext uri="{BB962C8B-B14F-4D97-AF65-F5344CB8AC3E}">
        <p14:creationId xmlns:p14="http://schemas.microsoft.com/office/powerpoint/2010/main" val="1371738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2026-10-20T17:11:33.3940000Z</dcterms:created>
  <dcterms:modified xsi:type="dcterms:W3CDTF">2026-10-20T17:11:33.3940000Z</dcterms:modified>
</coreProperties>
</file>